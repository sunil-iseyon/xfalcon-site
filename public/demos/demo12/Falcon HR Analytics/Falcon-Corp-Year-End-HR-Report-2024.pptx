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E8F0FE"/>
                </a:solidFill>
                <a:latin typeface="Arial"/>
              </a:defRPr>
            </a:pPr>
            <a:r>
              <a:rPr sz="1000" b="0" i="0" u="none" strike="noStrike">
                <a:solidFill>
                  <a:srgbClr val="E8F0FE"/>
                </a:solidFill>
                <a:latin typeface="Arial"/>
              </a:rPr>
              <a:t>Annual Hiring Trend</a:t>
            </a:r>
          </a:p>
        </c:rich>
      </c:tx>
      <c:layout/>
      <c:overlay val="0"/>
    </c:title>
    <c:autoTitleDeleted val="0"/>
    <c:plotArea>
      <c:layout/>
      <c:barChart>
        <c:barDir val="col"/>
        <c:grouping val="clustered"/>
        <c:varyColors val="0"/>
        <c:ser>
          <c:idx val="0"/>
          <c:order val="0"/>
          <c:tx>
            <c:strRef>
              <c:f>Sheet1!$B$1</c:f>
              <c:strCache>
                <c:ptCount val="1"/>
                <c:pt idx="0">
                  <c:v>Hires</c:v>
                </c:pt>
              </c:strCache>
            </c:strRef>
          </c:tx>
          <c:spPr>
            <a:solidFill>
              <a:srgbClr val="006AFF"/>
            </a:solidFill>
            <a:effectLst/>
          </c:spPr>
          <c:invertIfNegative val="0"/>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2018</c:v>
                  </c:pt>
                  <c:pt idx="1">
                    <c:v>2019</c:v>
                  </c:pt>
                  <c:pt idx="2">
                    <c:v>2020</c:v>
                  </c:pt>
                  <c:pt idx="3">
                    <c:v>2021</c:v>
                  </c:pt>
                  <c:pt idx="4">
                    <c:v>2022</c:v>
                  </c:pt>
                  <c:pt idx="5">
                    <c:v>2023</c:v>
                  </c:pt>
                </c:lvl>
              </c:multiLvlStrCache>
            </c:multiLvlStrRef>
          </c:cat>
          <c:val>
            <c:numRef>
              <c:f>Sheet1!$B$2:$B$7</c:f>
              <c:numCache>
                <c:formatCode>General</c:formatCode>
                <c:ptCount val="6"/>
                <c:pt idx="0">
                  <c:v>76</c:v>
                </c:pt>
                <c:pt idx="1">
                  <c:v>90</c:v>
                </c:pt>
                <c:pt idx="2">
                  <c:v>113</c:v>
                </c:pt>
                <c:pt idx="3">
                  <c:v>108</c:v>
                </c:pt>
                <c:pt idx="4">
                  <c:v>111</c:v>
                </c:pt>
                <c:pt idx="5">
                  <c:v>86</c:v>
                </c:pt>
              </c:numCache>
            </c:numRef>
          </c:val>
        </c:ser>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E8F0FE"/>
                </a:solidFill>
                <a:latin typeface="Arial"/>
              </a:defRPr>
            </a:pPr>
            <a:r>
              <a:rPr sz="1000" b="0" i="0" u="none" strike="noStrike">
                <a:solidFill>
                  <a:srgbClr val="E8F0FE"/>
                </a:solidFill>
                <a:latin typeface="Arial"/>
              </a:rPr>
              <a:t>Annual Exits by Type</a:t>
            </a:r>
          </a:p>
        </c:rich>
      </c:tx>
      <c:layout/>
      <c:overlay val="0"/>
    </c:title>
    <c:autoTitleDeleted val="0"/>
    <c:plotArea>
      <c:layout/>
      <c:barChart>
        <c:barDir val="col"/>
        <c:grouping val="stacked"/>
        <c:varyColors val="0"/>
        <c:ser>
          <c:idx val="0"/>
          <c:order val="0"/>
          <c:tx>
            <c:strRef>
              <c:f>Sheet1!$B$1</c:f>
              <c:strCache>
                <c:ptCount val="1"/>
                <c:pt idx="0">
                  <c:v>Voluntary</c:v>
                </c:pt>
              </c:strCache>
            </c:strRef>
          </c:tx>
          <c:spPr>
            <a:solidFill>
              <a:srgbClr val="006A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Sheet1!$B$2:$B$5</c:f>
              <c:numCache>
                <c:formatCode>General</c:formatCode>
                <c:ptCount val="4"/>
                <c:pt idx="0">
                  <c:v>21</c:v>
                </c:pt>
                <c:pt idx="1">
                  <c:v>25</c:v>
                </c:pt>
                <c:pt idx="2">
                  <c:v>24</c:v>
                </c:pt>
                <c:pt idx="3">
                  <c:v>15</c:v>
                </c:pt>
              </c:numCache>
            </c:numRef>
          </c:val>
        </c:ser>
        <c:ser>
          <c:idx val="1"/>
          <c:order val="1"/>
          <c:tx>
            <c:strRef>
              <c:f>Sheet1!$C$1</c:f>
              <c:strCache>
                <c:ptCount val="1"/>
                <c:pt idx="0">
                  <c:v>Involuntary</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Sheet1!$C$2:$C$5</c:f>
              <c:numCache>
                <c:formatCode>General</c:formatCode>
                <c:ptCount val="4"/>
                <c:pt idx="0">
                  <c:v>7</c:v>
                </c:pt>
                <c:pt idx="1">
                  <c:v>7</c:v>
                </c:pt>
                <c:pt idx="2">
                  <c:v>3</c:v>
                </c:pt>
                <c:pt idx="3">
                  <c:v>0</c:v>
                </c:pt>
              </c:numCache>
            </c:numRef>
          </c:val>
        </c:ser>
        <c:ser>
          <c:idx val="2"/>
          <c:order val="2"/>
          <c:tx>
            <c:strRef>
              <c:f>Sheet1!$D$1</c:f>
              <c:strCache>
                <c:ptCount val="1"/>
                <c:pt idx="0">
                  <c:v>Redundancy</c:v>
                </c:pt>
              </c:strCache>
            </c:strRef>
          </c:tx>
          <c:spPr>
            <a:solidFill>
              <a:srgbClr val="1A7F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Sheet1!$D$2:$D$5</c:f>
              <c:numCache>
                <c:formatCode>General</c:formatCode>
                <c:ptCount val="4"/>
                <c:pt idx="0">
                  <c:v>2</c:v>
                </c:pt>
                <c:pt idx="1">
                  <c:v>2</c:v>
                </c:pt>
                <c:pt idx="2">
                  <c:v>3</c:v>
                </c:pt>
                <c:pt idx="3">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legend>
      <c:legendPos val="b"/>
      <c:overlay val="0"/>
      <c:txPr>
        <a:bodyPr/>
        <a:lstStyle/>
        <a:p>
          <a:pPr>
            <a:defRPr sz="700">
              <a:solidFill>
                <a:srgbClr val="8B95A5"/>
              </a:solidFill>
            </a:defRPr>
          </a:pPr>
          <a:endParaRPr lang="en-US"/>
        </a:p>
      </c:txPr>
    </c:legend>
    <c:plotVisOnly val="1"/>
    <c:dispBlanksAs val="span"/>
  </c:chart>
  <c:spPr>
    <a:solidFill>
      <a:srgbClr val="1A254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E8F0FE"/>
                </a:solidFill>
                <a:latin typeface="Arial"/>
              </a:defRPr>
            </a:pPr>
            <a:r>
              <a:rPr sz="1000" b="0" i="0" u="none" strike="noStrike">
                <a:solidFill>
                  <a:srgbClr val="E8F0FE"/>
                </a:solidFill>
                <a:latin typeface="Arial"/>
              </a:rPr>
              <a:t>Headcount by Department</a:t>
            </a:r>
          </a:p>
        </c:rich>
      </c:tx>
      <c:layout/>
      <c:overlay val="0"/>
    </c:title>
    <c:autoTitleDeleted val="0"/>
    <c:plotArea>
      <c:layout/>
      <c:barChart>
        <c:barDir val="bar"/>
        <c:grouping val="clustered"/>
        <c:varyColors val="0"/>
        <c:ser>
          <c:idx val="0"/>
          <c:order val="0"/>
          <c:tx>
            <c:strRef>
              <c:f>Sheet1!$B$1</c:f>
              <c:strCache>
                <c:ptCount val="1"/>
                <c:pt idx="0">
                  <c:v>Headcount</c:v>
                </c:pt>
              </c:strCache>
            </c:strRef>
          </c:tx>
          <c:spPr>
            <a:solidFill>
              <a:srgbClr val="006AFF"/>
            </a:solidFill>
            <a:effectLst/>
          </c:spPr>
          <c:invertIfNegative val="0"/>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cat>
            <c:multiLvlStrRef>
              <c:f>Sheet1!$A$2:$A$10</c:f>
              <c:multiLvlStrCache>
                <c:ptCount val="9"/>
                <c:lvl>
                  <c:pt idx="0">
                    <c:v>Frontend Eng</c:v>
                  </c:pt>
                  <c:pt idx="1">
                    <c:v>Backend Eng</c:v>
                  </c:pt>
                  <c:pt idx="2">
                    <c:v>SMB Sales</c:v>
                  </c:pt>
                  <c:pt idx="3">
                    <c:v>Data &amp; AI</c:v>
                  </c:pt>
                  <c:pt idx="4">
                    <c:v>Customer Suc.</c:v>
                  </c:pt>
                  <c:pt idx="5">
                    <c:v>HR</c:v>
                  </c:pt>
                  <c:pt idx="6">
                    <c:v>Enterprise Sales</c:v>
                  </c:pt>
                  <c:pt idx="7">
                    <c:v>Product</c:v>
                  </c:pt>
                  <c:pt idx="8">
                    <c:v>DevOps</c:v>
                  </c:pt>
                </c:lvl>
              </c:multiLvlStrCache>
            </c:multiLvlStrRef>
          </c:cat>
          <c:val>
            <c:numRef>
              <c:f>Sheet1!$B$2:$B$10</c:f>
              <c:numCache>
                <c:formatCode>General</c:formatCode>
                <c:ptCount val="9"/>
                <c:pt idx="0">
                  <c:v>138</c:v>
                </c:pt>
                <c:pt idx="1">
                  <c:v>138</c:v>
                </c:pt>
                <c:pt idx="2">
                  <c:v>58</c:v>
                </c:pt>
                <c:pt idx="3">
                  <c:v>56</c:v>
                </c:pt>
                <c:pt idx="4">
                  <c:v>55</c:v>
                </c:pt>
                <c:pt idx="5">
                  <c:v>55</c:v>
                </c:pt>
                <c:pt idx="6">
                  <c:v>6</c:v>
                </c:pt>
                <c:pt idx="7">
                  <c:v>3</c:v>
                </c:pt>
                <c:pt idx="8">
                  <c:v>2</c:v>
                </c:pt>
              </c:numCache>
            </c:numRef>
          </c:val>
        </c:ser>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Average Base Salary by Department ($K)</a:t>
            </a:r>
          </a:p>
        </c:rich>
      </c:tx>
      <c:layout/>
      <c:overlay val="0"/>
    </c:title>
    <c:autoTitleDeleted val="0"/>
    <c:plotArea>
      <c:layout/>
      <c:barChart>
        <c:barDir val="bar"/>
        <c:grouping val="clustered"/>
        <c:varyColors val="0"/>
        <c:ser>
          <c:idx val="0"/>
          <c:order val="0"/>
          <c:tx>
            <c:strRef>
              <c:f>Sheet1!$B$1</c:f>
              <c:strCache>
                <c:ptCount val="1"/>
                <c:pt idx="0">
                  <c:v>Avg Base ($K)</c:v>
                </c:pt>
              </c:strCache>
            </c:strRef>
          </c:tx>
          <c:spPr>
            <a:solidFill>
              <a:srgbClr val="006AFF"/>
            </a:solidFill>
            <a:effectLst/>
          </c:spPr>
          <c:invertIfNegative val="0"/>
          <c:dLbls>
            <c:numFmt formatCode="#,##0" sourceLinked="0"/>
            <c:txPr>
              <a:bodyPr/>
              <a:lstStyle/>
              <a:p>
                <a:pPr>
                  <a:defRPr b="0" i="0" strike="noStrike" sz="600" u="none">
                    <a:solidFill>
                      <a:srgbClr val="E8F0FE"/>
                    </a:solidFill>
                    <a:latin typeface="Arial"/>
                  </a:defRPr>
                </a:pPr>
              </a:p>
            </c:txPr>
            <c:showLegendKey val="0"/>
            <c:showVal val="1"/>
            <c:showCatName val="0"/>
            <c:showSerName val="0"/>
            <c:showPercent val="0"/>
            <c:showBubbleSize val="0"/>
            <c:showLeaderLines val="0"/>
          </c:dLbls>
          <c:cat>
            <c:multiLvlStrRef>
              <c:f>Sheet1!$A$2:$A$14</c:f>
              <c:multiLvlStrCache>
                <c:ptCount val="13"/>
                <c:lvl>
                  <c:pt idx="0">
                    <c:v>Engineering</c:v>
                  </c:pt>
                  <c:pt idx="1">
                    <c:v>Product</c:v>
                  </c:pt>
                  <c:pt idx="2">
                    <c:v>Finance</c:v>
                  </c:pt>
                  <c:pt idx="3">
                    <c:v>Sales Ops</c:v>
                  </c:pt>
                  <c:pt idx="4">
                    <c:v>Operations</c:v>
                  </c:pt>
                  <c:pt idx="5">
                    <c:v>Ent. Sales</c:v>
                  </c:pt>
                  <c:pt idx="6">
                    <c:v>DevOps</c:v>
                  </c:pt>
                  <c:pt idx="7">
                    <c:v>Backend</c:v>
                  </c:pt>
                  <c:pt idx="8">
                    <c:v>Frontend</c:v>
                  </c:pt>
                  <c:pt idx="9">
                    <c:v>HR</c:v>
                  </c:pt>
                  <c:pt idx="10">
                    <c:v>Cust. Succ.</c:v>
                  </c:pt>
                  <c:pt idx="11">
                    <c:v>SMB Sales</c:v>
                  </c:pt>
                  <c:pt idx="12">
                    <c:v>Data &amp; AI</c:v>
                  </c:pt>
                </c:lvl>
              </c:multiLvlStrCache>
            </c:multiLvlStrRef>
          </c:cat>
          <c:val>
            <c:numRef>
              <c:f>Sheet1!$B$2:$B$14</c:f>
              <c:numCache>
                <c:formatCode>General</c:formatCode>
                <c:ptCount val="13"/>
                <c:pt idx="0">
                  <c:v>309</c:v>
                </c:pt>
                <c:pt idx="1">
                  <c:v>238</c:v>
                </c:pt>
                <c:pt idx="2">
                  <c:v>190</c:v>
                </c:pt>
                <c:pt idx="3">
                  <c:v>188</c:v>
                </c:pt>
                <c:pt idx="4">
                  <c:v>166</c:v>
                </c:pt>
                <c:pt idx="5">
                  <c:v>142</c:v>
                </c:pt>
                <c:pt idx="6">
                  <c:v>129</c:v>
                </c:pt>
                <c:pt idx="7">
                  <c:v>119</c:v>
                </c:pt>
                <c:pt idx="8">
                  <c:v>117</c:v>
                </c:pt>
                <c:pt idx="9">
                  <c:v>116</c:v>
                </c:pt>
                <c:pt idx="10">
                  <c:v>113</c:v>
                </c:pt>
                <c:pt idx="11">
                  <c:v>110</c:v>
                </c:pt>
                <c:pt idx="12">
                  <c:v>108</c:v>
                </c:pt>
              </c:numCache>
            </c:numRef>
          </c:val>
        </c:ser>
        <c:dLbls>
          <c:numFmt formatCode="#,##0" sourceLinked="0"/>
          <c:txPr>
            <a:bodyPr/>
            <a:lstStyle/>
            <a:p>
              <a:pPr>
                <a:defRPr b="0" i="0" strike="noStrike" sz="6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Pay Equity by Grade ($K) — F vs M</a:t>
            </a:r>
          </a:p>
        </c:rich>
      </c:tx>
      <c:layout/>
      <c:overlay val="0"/>
    </c:title>
    <c:autoTitleDeleted val="0"/>
    <c:plotArea>
      <c:layout/>
      <c:barChart>
        <c:barDir val="col"/>
        <c:grouping val="clustered"/>
        <c:varyColors val="0"/>
        <c:ser>
          <c:idx val="0"/>
          <c:order val="0"/>
          <c:tx>
            <c:strRef>
              <c:f>Sheet1!$B$1</c:f>
              <c:strCache>
                <c:ptCount val="1"/>
                <c:pt idx="0">
                  <c:v>Female</c:v>
                </c:pt>
              </c:strCache>
            </c:strRef>
          </c:tx>
          <c:spPr>
            <a:solidFill>
              <a:srgbClr val="1A7F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IC1</c:v>
                  </c:pt>
                  <c:pt idx="1">
                    <c:v>IC2</c:v>
                  </c:pt>
                  <c:pt idx="2">
                    <c:v>IC3</c:v>
                  </c:pt>
                  <c:pt idx="3">
                    <c:v>IC4</c:v>
                  </c:pt>
                  <c:pt idx="4">
                    <c:v>IC5</c:v>
                  </c:pt>
                  <c:pt idx="5">
                    <c:v>M1</c:v>
                  </c:pt>
                </c:lvl>
              </c:multiLvlStrCache>
            </c:multiLvlStrRef>
          </c:cat>
          <c:val>
            <c:numRef>
              <c:f>Sheet1!$B$2:$B$7</c:f>
              <c:numCache>
                <c:formatCode>General</c:formatCode>
                <c:ptCount val="6"/>
                <c:pt idx="0">
                  <c:v>97</c:v>
                </c:pt>
                <c:pt idx="1">
                  <c:v>117</c:v>
                </c:pt>
                <c:pt idx="2">
                  <c:v>134</c:v>
                </c:pt>
                <c:pt idx="3">
                  <c:v>159</c:v>
                </c:pt>
                <c:pt idx="4">
                  <c:v>157</c:v>
                </c:pt>
                <c:pt idx="5">
                  <c:v>164</c:v>
                </c:pt>
              </c:numCache>
            </c:numRef>
          </c:val>
        </c:ser>
        <c:ser>
          <c:idx val="1"/>
          <c:order val="1"/>
          <c:tx>
            <c:strRef>
              <c:f>Sheet1!$C$1</c:f>
              <c:strCache>
                <c:ptCount val="1"/>
                <c:pt idx="0">
                  <c:v>Male</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IC1</c:v>
                  </c:pt>
                  <c:pt idx="1">
                    <c:v>IC2</c:v>
                  </c:pt>
                  <c:pt idx="2">
                    <c:v>IC3</c:v>
                  </c:pt>
                  <c:pt idx="3">
                    <c:v>IC4</c:v>
                  </c:pt>
                  <c:pt idx="4">
                    <c:v>IC5</c:v>
                  </c:pt>
                  <c:pt idx="5">
                    <c:v>M1</c:v>
                  </c:pt>
                </c:lvl>
              </c:multiLvlStrCache>
            </c:multiLvlStrRef>
          </c:cat>
          <c:val>
            <c:numRef>
              <c:f>Sheet1!$C$2:$C$7</c:f>
              <c:numCache>
                <c:formatCode>General</c:formatCode>
                <c:ptCount val="6"/>
                <c:pt idx="0">
                  <c:v>94</c:v>
                </c:pt>
                <c:pt idx="1">
                  <c:v>114</c:v>
                </c:pt>
                <c:pt idx="2">
                  <c:v>132</c:v>
                </c:pt>
                <c:pt idx="3">
                  <c:v>158</c:v>
                </c:pt>
                <c:pt idx="4">
                  <c:v>169</c:v>
                </c:pt>
                <c:pt idx="5">
                  <c:v>165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legend>
      <c:legendPos val="b"/>
      <c:overlay val="0"/>
      <c:txPr>
        <a:bodyPr/>
        <a:lstStyle/>
        <a:p>
          <a:pPr>
            <a:defRPr sz="700">
              <a:solidFill>
                <a:srgbClr val="8B95A5"/>
              </a:solidFill>
            </a:defRPr>
          </a:pPr>
          <a:endParaRPr lang="en-US"/>
        </a:p>
      </c:txPr>
    </c:legend>
    <c:plotVisOnly val="1"/>
    <c:dispBlanksAs val="span"/>
  </c:chart>
  <c:spPr>
    <a:solidFill>
      <a:srgbClr val="1A2540"/>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2023 Annual Review — Rating Distribution</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006AFF"/>
            </a:solidFill>
            <a:effectLst/>
          </c:spPr>
          <c:invertIfNegative val="0"/>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dPt>
            <c:idx val="0"/>
            <c:invertIfNegative val="0"/>
            <c:bubble3D val="0"/>
            <c:spPr>
              <a:solidFill>
                <a:srgbClr val="006AFF"/>
              </a:solidFill>
              <a:effectLst/>
            </c:spPr>
          </c:dPt>
          <c:dPt>
            <c:idx val="1"/>
            <c:invertIfNegative val="0"/>
            <c:bubble3D val="0"/>
            <c:spPr>
              <a:solidFill>
                <a:srgbClr val="1A7F64"/>
              </a:solidFill>
              <a:effectLst/>
            </c:spPr>
          </c:dPt>
          <c:dPt>
            <c:idx val="2"/>
            <c:invertIfNegative val="0"/>
            <c:bubble3D val="0"/>
            <c:spPr>
              <a:solidFill>
                <a:srgbClr val="94A3B8"/>
              </a:solidFill>
              <a:effectLst/>
            </c:spPr>
          </c:dPt>
          <c:cat>
            <c:multiLvlStrRef>
              <c:f>Sheet1!$A$2:$A$4</c:f>
              <c:multiLvlStrCache>
                <c:ptCount val="3"/>
                <c:lvl>
                  <c:pt idx="0">
                    <c:v>Exceeds Expectations</c:v>
                  </c:pt>
                  <c:pt idx="1">
                    <c:v>Meets Expectations</c:v>
                  </c:pt>
                  <c:pt idx="2">
                    <c:v>Below Expectations</c:v>
                  </c:pt>
                </c:lvl>
              </c:multiLvlStrCache>
            </c:multiLvlStrRef>
          </c:cat>
          <c:val>
            <c:numRef>
              <c:f>Sheet1!$B$2:$B$4</c:f>
              <c:numCache>
                <c:formatCode>General</c:formatCode>
                <c:ptCount val="3"/>
                <c:pt idx="0">
                  <c:v>339</c:v>
                </c:pt>
                <c:pt idx="1">
                  <c:v>361</c:v>
                </c:pt>
                <c:pt idx="2">
                  <c:v>85</c:v>
                </c:pt>
              </c:numCache>
            </c:numRef>
          </c:val>
        </c:ser>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Avg Goal Attainment by Type</a:t>
            </a:r>
          </a:p>
        </c:rich>
      </c:tx>
      <c:layout/>
      <c:overlay val="0"/>
    </c:title>
    <c:autoTitleDeleted val="0"/>
    <c:plotArea>
      <c:layout/>
      <c:barChart>
        <c:barDir val="bar"/>
        <c:grouping val="clustered"/>
        <c:varyColors val="0"/>
        <c:ser>
          <c:idx val="0"/>
          <c:order val="0"/>
          <c:tx>
            <c:strRef>
              <c:f>Sheet1!$B$1</c:f>
              <c:strCache>
                <c:ptCount val="1"/>
                <c:pt idx="0">
                  <c:v>Attainment %</c:v>
                </c:pt>
              </c:strCache>
            </c:strRef>
          </c:tx>
          <c:spPr>
            <a:solidFill>
              <a:srgbClr val="1A7F64"/>
            </a:solidFill>
            <a:effectLst/>
          </c:spPr>
          <c:invertIfNegative val="0"/>
          <c:dLbls>
            <c:numFmt formatCode="#,##0" sourceLinked="0"/>
            <c:txPr>
              <a:bodyPr/>
              <a:lstStyle/>
              <a:p>
                <a:pPr>
                  <a:defRPr b="0" i="0" strike="noStrike" sz="900" u="none">
                    <a:solidFill>
                      <a:srgbClr val="E8F0FE"/>
                    </a:solidFill>
                    <a:latin typeface="Arial"/>
                  </a:defRPr>
                </a:pPr>
              </a:p>
            </c:txPr>
            <c:showLegendKey val="0"/>
            <c:showVal val="1"/>
            <c:showCatName val="0"/>
            <c:showSerName val="0"/>
            <c:showPercent val="0"/>
            <c:showBubbleSize val="0"/>
            <c:showLeaderLines val="0"/>
          </c:dLbls>
          <c:cat>
            <c:multiLvlStrRef>
              <c:f>Sheet1!$A$2:$A$4</c:f>
              <c:multiLvlStrCache>
                <c:ptCount val="3"/>
                <c:lvl>
                  <c:pt idx="0">
                    <c:v>Team Goals</c:v>
                  </c:pt>
                  <c:pt idx="1">
                    <c:v>Company Goals</c:v>
                  </c:pt>
                  <c:pt idx="2">
                    <c:v>Individual Goals</c:v>
                  </c:pt>
                </c:lvl>
              </c:multiLvlStrCache>
            </c:multiLvlStrRef>
          </c:cat>
          <c:val>
            <c:numRef>
              <c:f>Sheet1!$B$2:$B$4</c:f>
              <c:numCache>
                <c:formatCode>General</c:formatCode>
                <c:ptCount val="3"/>
                <c:pt idx="0">
                  <c:v>86.3</c:v>
                </c:pt>
                <c:pt idx="1">
                  <c:v>84.7</c:v>
                </c:pt>
                <c:pt idx="2">
                  <c:v>84.5</c:v>
                </c:pt>
              </c:numCache>
            </c:numRef>
          </c:val>
        </c:ser>
        <c:dLbls>
          <c:numFmt formatCode="#,##0" sourceLinked="0"/>
          <c:txPr>
            <a:bodyPr/>
            <a:lstStyle/>
            <a:p>
              <a:pPr>
                <a:defRPr b="0" i="0" strike="noStrike" sz="9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max val="90"/>
          <c:min val="80"/>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Exit Reasons (All Years)</a:t>
            </a:r>
          </a:p>
        </c:rich>
      </c:tx>
      <c:layout/>
      <c:overlay val="0"/>
    </c:title>
    <c:autoTitleDeleted val="0"/>
    <c:plotArea>
      <c:layout/>
      <c:barChart>
        <c:barDir val="bar"/>
        <c:grouping val="clustered"/>
        <c:varyColors val="0"/>
        <c:ser>
          <c:idx val="0"/>
          <c:order val="0"/>
          <c:tx>
            <c:strRef>
              <c:f>Sheet1!$B$1</c:f>
              <c:strCache>
                <c:ptCount val="1"/>
                <c:pt idx="0">
                  <c:v>Exits</c:v>
                </c:pt>
              </c:strCache>
            </c:strRef>
          </c:tx>
          <c:spPr>
            <a:solidFill>
              <a:srgbClr val="006AFF"/>
            </a:solidFill>
            <a:effectLst/>
          </c:spPr>
          <c:invertIfNegative val="0"/>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cat>
            <c:multiLvlStrRef>
              <c:f>Sheet1!$A$2:$A$8</c:f>
              <c:multiLvlStrCache>
                <c:ptCount val="7"/>
                <c:lvl>
                  <c:pt idx="0">
                    <c:v>Management</c:v>
                  </c:pt>
                  <c:pt idx="1">
                    <c:v>Compensation</c:v>
                  </c:pt>
                  <c:pt idx="2">
                    <c:v>Career Growth</c:v>
                  </c:pt>
                  <c:pt idx="3">
                    <c:v>Personal</c:v>
                  </c:pt>
                  <c:pt idx="4">
                    <c:v>Relocation</c:v>
                  </c:pt>
                  <c:pt idx="5">
                    <c:v>Restructuring</c:v>
                  </c:pt>
                  <c:pt idx="6">
                    <c:v>Performance</c:v>
                  </c:pt>
                </c:lvl>
              </c:multiLvlStrCache>
            </c:multiLvlStrRef>
          </c:cat>
          <c:val>
            <c:numRef>
              <c:f>Sheet1!$B$2:$B$8</c:f>
              <c:numCache>
                <c:formatCode>General</c:formatCode>
                <c:ptCount val="7"/>
                <c:pt idx="0">
                  <c:v>23</c:v>
                </c:pt>
                <c:pt idx="1">
                  <c:v>22</c:v>
                </c:pt>
                <c:pt idx="2">
                  <c:v>13</c:v>
                </c:pt>
                <c:pt idx="3">
                  <c:v>12</c:v>
                </c:pt>
                <c:pt idx="4">
                  <c:v>12</c:v>
                </c:pt>
                <c:pt idx="5">
                  <c:v>11</c:v>
                </c:pt>
                <c:pt idx="6">
                  <c:v>7</c:v>
                </c:pt>
              </c:numCache>
            </c:numRef>
          </c:val>
        </c:ser>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Pipeline by Stage</a:t>
            </a:r>
          </a:p>
        </c:rich>
      </c:tx>
      <c:layout/>
      <c:overlay val="0"/>
    </c:title>
    <c:autoTitleDeleted val="0"/>
    <c:plotArea>
      <c:layout/>
      <c:barChart>
        <c:barDir val="bar"/>
        <c:grouping val="clustered"/>
        <c:varyColors val="0"/>
        <c:ser>
          <c:idx val="0"/>
          <c:order val="0"/>
          <c:tx>
            <c:strRef>
              <c:f>Sheet1!$B$1</c:f>
              <c:strCache>
                <c:ptCount val="1"/>
                <c:pt idx="0">
                  <c:v>Candidates</c:v>
                </c:pt>
              </c:strCache>
            </c:strRef>
          </c:tx>
          <c:spPr>
            <a:solidFill>
              <a:srgbClr val="006AFF"/>
            </a:solidFill>
            <a:effectLst/>
          </c:spPr>
          <c:invertIfNegative val="0"/>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cat>
            <c:multiLvlStrRef>
              <c:f>Sheet1!$A$2:$A$7</c:f>
              <c:multiLvlStrCache>
                <c:ptCount val="6"/>
                <c:lvl>
                  <c:pt idx="0">
                    <c:v>Applied</c:v>
                  </c:pt>
                  <c:pt idx="1">
                    <c:v>Screening</c:v>
                  </c:pt>
                  <c:pt idx="2">
                    <c:v>Hired</c:v>
                  </c:pt>
                  <c:pt idx="3">
                    <c:v>Rejected</c:v>
                  </c:pt>
                  <c:pt idx="4">
                    <c:v>Interview</c:v>
                  </c:pt>
                  <c:pt idx="5">
                    <c:v>Offer</c:v>
                  </c:pt>
                </c:lvl>
              </c:multiLvlStrCache>
            </c:multiLvlStrRef>
          </c:cat>
          <c:val>
            <c:numRef>
              <c:f>Sheet1!$B$2:$B$7</c:f>
              <c:numCache>
                <c:formatCode>General</c:formatCode>
                <c:ptCount val="6"/>
                <c:pt idx="0">
                  <c:v>138</c:v>
                </c:pt>
                <c:pt idx="1">
                  <c:v>69</c:v>
                </c:pt>
                <c:pt idx="2">
                  <c:v>89</c:v>
                </c:pt>
                <c:pt idx="3">
                  <c:v>70</c:v>
                </c:pt>
                <c:pt idx="4">
                  <c:v>35</c:v>
                </c:pt>
                <c:pt idx="5">
                  <c:v>20</c:v>
                </c:pt>
              </c:numCache>
            </c:numRef>
          </c:val>
        </c:ser>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Source Channel: Applications vs Hires</a:t>
            </a:r>
          </a:p>
        </c:rich>
      </c:tx>
      <c:layout/>
      <c:overlay val="0"/>
    </c:title>
    <c:autoTitleDeleted val="0"/>
    <c:plotArea>
      <c:layout/>
      <c:barChart>
        <c:barDir val="col"/>
        <c:grouping val="clustered"/>
        <c:varyColors val="0"/>
        <c:ser>
          <c:idx val="0"/>
          <c:order val="0"/>
          <c:tx>
            <c:strRef>
              <c:f>Sheet1!$B$1</c:f>
              <c:strCache>
                <c:ptCount val="1"/>
                <c:pt idx="0">
                  <c:v>Applications</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Campus</c:v>
                  </c:pt>
                  <c:pt idx="1">
                    <c:v>Job Board</c:v>
                  </c:pt>
                  <c:pt idx="2">
                    <c:v>Referral</c:v>
                  </c:pt>
                  <c:pt idx="3">
                    <c:v>Agency</c:v>
                  </c:pt>
                  <c:pt idx="4">
                    <c:v>LinkedIn</c:v>
                  </c:pt>
                  <c:pt idx="5">
                    <c:v>Career Site</c:v>
                  </c:pt>
                </c:lvl>
              </c:multiLvlStrCache>
            </c:multiLvlStrRef>
          </c:cat>
          <c:val>
            <c:numRef>
              <c:f>Sheet1!$B$2:$B$7</c:f>
              <c:numCache>
                <c:formatCode>General</c:formatCode>
                <c:ptCount val="6"/>
                <c:pt idx="0">
                  <c:v>67</c:v>
                </c:pt>
                <c:pt idx="1">
                  <c:v>67</c:v>
                </c:pt>
                <c:pt idx="2">
                  <c:v>71</c:v>
                </c:pt>
                <c:pt idx="3">
                  <c:v>75</c:v>
                </c:pt>
                <c:pt idx="4">
                  <c:v>74</c:v>
                </c:pt>
                <c:pt idx="5">
                  <c:v>67</c:v>
                </c:pt>
              </c:numCache>
            </c:numRef>
          </c:val>
        </c:ser>
        <c:ser>
          <c:idx val="1"/>
          <c:order val="1"/>
          <c:tx>
            <c:strRef>
              <c:f>Sheet1!$C$1</c:f>
              <c:strCache>
                <c:ptCount val="1"/>
                <c:pt idx="0">
                  <c:v>Hires</c:v>
                </c:pt>
              </c:strCache>
            </c:strRef>
          </c:tx>
          <c:spPr>
            <a:solidFill>
              <a:srgbClr val="1A7F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Campus</c:v>
                  </c:pt>
                  <c:pt idx="1">
                    <c:v>Job Board</c:v>
                  </c:pt>
                  <c:pt idx="2">
                    <c:v>Referral</c:v>
                  </c:pt>
                  <c:pt idx="3">
                    <c:v>Agency</c:v>
                  </c:pt>
                  <c:pt idx="4">
                    <c:v>LinkedIn</c:v>
                  </c:pt>
                  <c:pt idx="5">
                    <c:v>Career Site</c:v>
                  </c:pt>
                </c:lvl>
              </c:multiLvlStrCache>
            </c:multiLvlStrRef>
          </c:cat>
          <c:val>
            <c:numRef>
              <c:f>Sheet1!$C$2:$C$7</c:f>
              <c:numCache>
                <c:formatCode>General</c:formatCode>
                <c:ptCount val="6"/>
                <c:pt idx="0">
                  <c:v>24</c:v>
                </c:pt>
                <c:pt idx="1">
                  <c:v>24</c:v>
                </c:pt>
                <c:pt idx="2">
                  <c:v>20</c:v>
                </c:pt>
                <c:pt idx="3">
                  <c:v>11</c:v>
                </c:pt>
                <c:pt idx="4">
                  <c:v>10</c:v>
                </c:pt>
                <c:pt idx="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legend>
      <c:legendPos val="b"/>
      <c:overlay val="0"/>
      <c:txPr>
        <a:bodyPr/>
        <a:lstStyle/>
        <a:p>
          <a:pPr>
            <a:defRPr sz="700">
              <a:solidFill>
                <a:srgbClr val="8B95A5"/>
              </a:solidFill>
            </a:defRPr>
          </a:pPr>
          <a:endParaRPr lang="en-US"/>
        </a:p>
      </c:txPr>
    </c:legend>
    <c:plotVisOnly val="1"/>
    <c:dispBlanksAs val="span"/>
  </c:chart>
  <c:spPr>
    <a:solidFill>
      <a:srgbClr val="1A2540"/>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Enrollment vs Completion by Type</a:t>
            </a:r>
          </a:p>
        </c:rich>
      </c:tx>
      <c:layout/>
      <c:overlay val="0"/>
    </c:title>
    <c:autoTitleDeleted val="0"/>
    <c:plotArea>
      <c:layout/>
      <c:barChart>
        <c:barDir val="col"/>
        <c:grouping val="clustered"/>
        <c:varyColors val="0"/>
        <c:ser>
          <c:idx val="0"/>
          <c:order val="0"/>
          <c:tx>
            <c:strRef>
              <c:f>Sheet1!$B$1</c:f>
              <c:strCache>
                <c:ptCount val="1"/>
                <c:pt idx="0">
                  <c:v>Enrolled</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Mandatory</c:v>
                  </c:pt>
                  <c:pt idx="1">
                    <c:v>Technical</c:v>
                  </c:pt>
                  <c:pt idx="2">
                    <c:v>Leadership</c:v>
                  </c:pt>
                  <c:pt idx="3">
                    <c:v>Optional</c:v>
                  </c:pt>
                  <c:pt idx="4">
                    <c:v>Compliance</c:v>
                  </c:pt>
                </c:lvl>
              </c:multiLvlStrCache>
            </c:multiLvlStrRef>
          </c:cat>
          <c:val>
            <c:numRef>
              <c:f>Sheet1!$B$2:$B$6</c:f>
              <c:numCache>
                <c:formatCode>General</c:formatCode>
                <c:ptCount val="5"/>
                <c:pt idx="0">
                  <c:v>1010</c:v>
                </c:pt>
                <c:pt idx="1">
                  <c:v>138</c:v>
                </c:pt>
                <c:pt idx="2">
                  <c:v>117</c:v>
                </c:pt>
                <c:pt idx="3">
                  <c:v>69</c:v>
                </c:pt>
                <c:pt idx="4">
                  <c:v>36</c:v>
                </c:pt>
              </c:numCache>
            </c:numRef>
          </c:val>
        </c:ser>
        <c:ser>
          <c:idx val="1"/>
          <c:order val="1"/>
          <c:tx>
            <c:strRef>
              <c:f>Sheet1!$C$1</c:f>
              <c:strCache>
                <c:ptCount val="1"/>
                <c:pt idx="0">
                  <c:v>Completed</c:v>
                </c:pt>
              </c:strCache>
            </c:strRef>
          </c:tx>
          <c:spPr>
            <a:solidFill>
              <a:srgbClr val="1A7F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Mandatory</c:v>
                  </c:pt>
                  <c:pt idx="1">
                    <c:v>Technical</c:v>
                  </c:pt>
                  <c:pt idx="2">
                    <c:v>Leadership</c:v>
                  </c:pt>
                  <c:pt idx="3">
                    <c:v>Optional</c:v>
                  </c:pt>
                  <c:pt idx="4">
                    <c:v>Compliance</c:v>
                  </c:pt>
                </c:lvl>
              </c:multiLvlStrCache>
            </c:multiLvlStrRef>
          </c:cat>
          <c:val>
            <c:numRef>
              <c:f>Sheet1!$C$2:$C$6</c:f>
              <c:numCache>
                <c:formatCode>General</c:formatCode>
                <c:ptCount val="5"/>
                <c:pt idx="0">
                  <c:v>762</c:v>
                </c:pt>
                <c:pt idx="1">
                  <c:v>82</c:v>
                </c:pt>
                <c:pt idx="2">
                  <c:v>70</c:v>
                </c:pt>
                <c:pt idx="3">
                  <c:v>42</c:v>
                </c:pt>
                <c:pt idx="4">
                  <c:v>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legend>
      <c:legendPos val="b"/>
      <c:overlay val="0"/>
      <c:txPr>
        <a:bodyPr/>
        <a:lstStyle/>
        <a:p>
          <a:pPr>
            <a:defRPr sz="700">
              <a:solidFill>
                <a:srgbClr val="8B95A5"/>
              </a:solidFill>
            </a:defRPr>
          </a:pPr>
          <a:endParaRPr lang="en-US"/>
        </a:p>
      </c:txPr>
    </c:legend>
    <c:plotVisOnly val="1"/>
    <c:dispBlanksAs val="span"/>
  </c:chart>
  <c:spPr>
    <a:solidFill>
      <a:srgbClr val="1A2540"/>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Avg Assessment Score by Program Type</a:t>
            </a:r>
          </a:p>
        </c:rich>
      </c:tx>
      <c:layout/>
      <c:overlay val="0"/>
    </c:title>
    <c:autoTitleDeleted val="0"/>
    <c:plotArea>
      <c:layout/>
      <c:barChart>
        <c:barDir val="bar"/>
        <c:grouping val="clustered"/>
        <c:varyColors val="0"/>
        <c:ser>
          <c:idx val="0"/>
          <c:order val="0"/>
          <c:tx>
            <c:strRef>
              <c:f>Sheet1!$B$1</c:f>
              <c:strCache>
                <c:ptCount val="1"/>
                <c:pt idx="0">
                  <c:v>Avg Score</c:v>
                </c:pt>
              </c:strCache>
            </c:strRef>
          </c:tx>
          <c:spPr>
            <a:solidFill>
              <a:srgbClr val="006AFF"/>
            </a:solidFill>
            <a:effectLst/>
          </c:spPr>
          <c:invertIfNegative val="0"/>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cat>
            <c:multiLvlStrRef>
              <c:f>Sheet1!$A$2:$A$6</c:f>
              <c:multiLvlStrCache>
                <c:ptCount val="5"/>
                <c:lvl>
                  <c:pt idx="0">
                    <c:v>Mandatory</c:v>
                  </c:pt>
                  <c:pt idx="1">
                    <c:v>Leadership</c:v>
                  </c:pt>
                  <c:pt idx="2">
                    <c:v>Optional</c:v>
                  </c:pt>
                  <c:pt idx="3">
                    <c:v>Compliance</c:v>
                  </c:pt>
                  <c:pt idx="4">
                    <c:v>Technical</c:v>
                  </c:pt>
                </c:lvl>
              </c:multiLvlStrCache>
            </c:multiLvlStrRef>
          </c:cat>
          <c:val>
            <c:numRef>
              <c:f>Sheet1!$B$2:$B$6</c:f>
              <c:numCache>
                <c:formatCode>General</c:formatCode>
                <c:ptCount val="5"/>
                <c:pt idx="0">
                  <c:v>86.3</c:v>
                </c:pt>
                <c:pt idx="1">
                  <c:v>80.6</c:v>
                </c:pt>
                <c:pt idx="2">
                  <c:v>80.6</c:v>
                </c:pt>
                <c:pt idx="3">
                  <c:v>80.6</c:v>
                </c:pt>
                <c:pt idx="4">
                  <c:v>79.5</c:v>
                </c:pt>
              </c:numCache>
            </c:numRef>
          </c:val>
        </c:ser>
        <c:dLbls>
          <c:numFmt formatCode="#,##0" sourceLinked="0"/>
          <c:txPr>
            <a:bodyPr/>
            <a:lstStyle/>
            <a:p>
              <a:pPr>
                <a:defRPr b="0" i="0" strike="noStrike" sz="8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max val="90"/>
          <c:min val="75"/>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2024 Annual Survey — Dimension Scores</a:t>
            </a:r>
          </a:p>
        </c:rich>
      </c:tx>
      <c:layout/>
      <c:overlay val="0"/>
    </c:title>
    <c:autoTitleDeleted val="0"/>
    <c:plotArea>
      <c:layout/>
      <c:barChart>
        <c:barDir val="bar"/>
        <c:grouping val="clustered"/>
        <c:varyColors val="0"/>
        <c:ser>
          <c:idx val="0"/>
          <c:order val="0"/>
          <c:tx>
            <c:strRef>
              <c:f>Sheet1!$B$1</c:f>
              <c:strCache>
                <c:ptCount val="1"/>
                <c:pt idx="0">
                  <c:v>2024 Score</c:v>
                </c:pt>
              </c:strCache>
            </c:strRef>
          </c:tx>
          <c:spPr>
            <a:solidFill>
              <a:srgbClr val="006AFF"/>
            </a:solidFill>
            <a:effectLst/>
          </c:spPr>
          <c:invertIfNegative val="0"/>
          <c:dLbls>
            <c:numFmt formatCode="#,##0" sourceLinked="0"/>
            <c:txPr>
              <a:bodyPr/>
              <a:lstStyle/>
              <a:p>
                <a:pPr>
                  <a:defRPr b="0" i="0" strike="noStrike" sz="900" u="none">
                    <a:solidFill>
                      <a:srgbClr val="E8F0FE"/>
                    </a:solidFill>
                    <a:latin typeface="Arial"/>
                  </a:defRPr>
                </a:pPr>
              </a:p>
            </c:txPr>
            <c:showLegendKey val="0"/>
            <c:showVal val="1"/>
            <c:showCatName val="0"/>
            <c:showSerName val="0"/>
            <c:showPercent val="0"/>
            <c:showBubbleSize val="0"/>
            <c:showLeaderLines val="0"/>
          </c:dLbls>
          <c:cat>
            <c:multiLvlStrRef>
              <c:f>Sheet1!$A$2:$A$6</c:f>
              <c:multiLvlStrCache>
                <c:ptCount val="5"/>
                <c:lvl>
                  <c:pt idx="0">
                    <c:v>Engagement</c:v>
                  </c:pt>
                  <c:pt idx="1">
                    <c:v>NPS</c:v>
                  </c:pt>
                  <c:pt idx="2">
                    <c:v>Wellbeing</c:v>
                  </c:pt>
                  <c:pt idx="3">
                    <c:v>Growth</c:v>
                  </c:pt>
                  <c:pt idx="4">
                    <c:v>Manager</c:v>
                  </c:pt>
                </c:lvl>
              </c:multiLvlStrCache>
            </c:multiLvlStrRef>
          </c:cat>
          <c:val>
            <c:numRef>
              <c:f>Sheet1!$B$2:$B$6</c:f>
              <c:numCache>
                <c:formatCode>General</c:formatCode>
                <c:ptCount val="5"/>
                <c:pt idx="0">
                  <c:v>7.97</c:v>
                </c:pt>
                <c:pt idx="1">
                  <c:v>7.55</c:v>
                </c:pt>
                <c:pt idx="2">
                  <c:v>7.36</c:v>
                </c:pt>
                <c:pt idx="3">
                  <c:v>7.17</c:v>
                </c:pt>
                <c:pt idx="4">
                  <c:v>6.98</c:v>
                </c:pt>
              </c:numCache>
            </c:numRef>
          </c:val>
        </c:ser>
        <c:dLbls>
          <c:numFmt formatCode="#,##0" sourceLinked="0"/>
          <c:txPr>
            <a:bodyPr/>
            <a:lstStyle/>
            <a:p>
              <a:pPr>
                <a:defRPr b="0" i="0" strike="noStrike" sz="9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max val="9"/>
          <c:min val="6"/>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Year-over-Year Comparison (2023 vs 2024)</a:t>
            </a:r>
          </a:p>
        </c:rich>
      </c:tx>
      <c:layout/>
      <c:overlay val="0"/>
    </c:title>
    <c:autoTitleDeleted val="0"/>
    <c:plotArea>
      <c:layout/>
      <c:barChart>
        <c:barDir val="col"/>
        <c:grouping val="clustered"/>
        <c:varyColors val="0"/>
        <c:ser>
          <c:idx val="0"/>
          <c:order val="0"/>
          <c:tx>
            <c:strRef>
              <c:f>Sheet1!$B$1</c:f>
              <c:strCache>
                <c:ptCount val="1"/>
                <c:pt idx="0">
                  <c:v>2023</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Engagement</c:v>
                  </c:pt>
                  <c:pt idx="1">
                    <c:v>NPS</c:v>
                  </c:pt>
                  <c:pt idx="2">
                    <c:v>Wellbeing</c:v>
                  </c:pt>
                  <c:pt idx="3">
                    <c:v>Growth</c:v>
                  </c:pt>
                  <c:pt idx="4">
                    <c:v>Manager</c:v>
                  </c:pt>
                </c:lvl>
              </c:multiLvlStrCache>
            </c:multiLvlStrRef>
          </c:cat>
          <c:val>
            <c:numRef>
              <c:f>Sheet1!$B$2:$B$6</c:f>
              <c:numCache>
                <c:formatCode>General</c:formatCode>
                <c:ptCount val="5"/>
                <c:pt idx="0">
                  <c:v>7.41</c:v>
                </c:pt>
                <c:pt idx="1">
                  <c:v>7.39</c:v>
                </c:pt>
                <c:pt idx="2">
                  <c:v>7.43</c:v>
                </c:pt>
                <c:pt idx="3">
                  <c:v>7.39</c:v>
                </c:pt>
                <c:pt idx="4">
                  <c:v>7.41</c:v>
                </c:pt>
              </c:numCache>
            </c:numRef>
          </c:val>
        </c:ser>
        <c:ser>
          <c:idx val="1"/>
          <c:order val="1"/>
          <c:tx>
            <c:strRef>
              <c:f>Sheet1!$C$1</c:f>
              <c:strCache>
                <c:ptCount val="1"/>
                <c:pt idx="0">
                  <c:v>2024</c:v>
                </c:pt>
              </c:strCache>
            </c:strRef>
          </c:tx>
          <c:spPr>
            <a:solidFill>
              <a:srgbClr val="006A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Engagement</c:v>
                  </c:pt>
                  <c:pt idx="1">
                    <c:v>NPS</c:v>
                  </c:pt>
                  <c:pt idx="2">
                    <c:v>Wellbeing</c:v>
                  </c:pt>
                  <c:pt idx="3">
                    <c:v>Growth</c:v>
                  </c:pt>
                  <c:pt idx="4">
                    <c:v>Manager</c:v>
                  </c:pt>
                </c:lvl>
              </c:multiLvlStrCache>
            </c:multiLvlStrRef>
          </c:cat>
          <c:val>
            <c:numRef>
              <c:f>Sheet1!$C$2:$C$6</c:f>
              <c:numCache>
                <c:formatCode>General</c:formatCode>
                <c:ptCount val="5"/>
                <c:pt idx="0">
                  <c:v>7.97</c:v>
                </c:pt>
                <c:pt idx="1">
                  <c:v>7.55</c:v>
                </c:pt>
                <c:pt idx="2">
                  <c:v>7.36</c:v>
                </c:pt>
                <c:pt idx="3">
                  <c:v>7.17</c:v>
                </c:pt>
                <c:pt idx="4">
                  <c:v>6.98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max val="9"/>
          <c:min val="6"/>
        </c:scaling>
        <c:delete val="0"/>
        <c:axPos val="l"/>
        <c:majorGridlines>
          <c:spPr>
            <a:ln w="3810" cap="flat">
              <a:solidFill>
                <a:srgbClr val="5A63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legend>
      <c:legendPos val="b"/>
      <c:overlay val="0"/>
      <c:txPr>
        <a:bodyPr/>
        <a:lstStyle/>
        <a:p>
          <a:pPr>
            <a:defRPr sz="700">
              <a:solidFill>
                <a:srgbClr val="8B95A5"/>
              </a:solidFill>
            </a:defRPr>
          </a:pPr>
          <a:endParaRPr lang="en-US"/>
        </a:p>
      </c:txPr>
    </c:legend>
    <c:plotVisOnly val="1"/>
    <c:dispBlanksAs val="span"/>
  </c:chart>
  <c:spPr>
    <a:solidFill>
      <a:srgbClr val="1A2540"/>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E8F0FE"/>
                </a:solidFill>
                <a:latin typeface="Arial"/>
              </a:defRPr>
            </a:pPr>
            <a:r>
              <a:rPr sz="900" b="0" i="0" u="none" strike="noStrike">
                <a:solidFill>
                  <a:srgbClr val="E8F0FE"/>
                </a:solidFill>
                <a:latin typeface="Arial"/>
              </a:rPr>
              <a:t>Ethnicity Distribution</a:t>
            </a:r>
          </a:p>
        </c:rich>
      </c:tx>
      <c:layout/>
      <c:overlay val="0"/>
    </c:title>
    <c:autoTitleDeleted val="0"/>
    <c:plotArea>
      <c:layout/>
      <c:barChart>
        <c:barDir val="bar"/>
        <c:grouping val="clustered"/>
        <c:varyColors val="0"/>
        <c:ser>
          <c:idx val="0"/>
          <c:order val="0"/>
          <c:tx>
            <c:strRef>
              <c:f>Sheet1!$B$1</c:f>
              <c:strCache>
                <c:ptCount val="1"/>
                <c:pt idx="0">
                  <c:v>Headcount</c:v>
                </c:pt>
              </c:strCache>
            </c:strRef>
          </c:tx>
          <c:spPr>
            <a:solidFill>
              <a:srgbClr val="006AFF"/>
            </a:solidFill>
            <a:effectLst/>
          </c:spPr>
          <c:invertIfNegative val="0"/>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cat>
            <c:multiLvlStrRef>
              <c:f>Sheet1!$A$2:$A$9</c:f>
              <c:multiLvlStrCache>
                <c:ptCount val="8"/>
                <c:lvl>
                  <c:pt idx="0">
                    <c:v>White</c:v>
                  </c:pt>
                  <c:pt idx="1">
                    <c:v>East Asian</c:v>
                  </c:pt>
                  <c:pt idx="2">
                    <c:v>South Asian</c:v>
                  </c:pt>
                  <c:pt idx="3">
                    <c:v>Black</c:v>
                  </c:pt>
                  <c:pt idx="4">
                    <c:v>Hispanic</c:v>
                  </c:pt>
                  <c:pt idx="5">
                    <c:v>Middle Eastern</c:v>
                  </c:pt>
                  <c:pt idx="6">
                    <c:v>Mixed</c:v>
                  </c:pt>
                  <c:pt idx="7">
                    <c:v>Asian</c:v>
                  </c:pt>
                </c:lvl>
              </c:multiLvlStrCache>
            </c:multiLvlStrRef>
          </c:cat>
          <c:val>
            <c:numRef>
              <c:f>Sheet1!$B$2:$B$9</c:f>
              <c:numCache>
                <c:formatCode>General</c:formatCode>
                <c:ptCount val="8"/>
                <c:pt idx="0">
                  <c:v>123</c:v>
                </c:pt>
                <c:pt idx="1">
                  <c:v>84</c:v>
                </c:pt>
                <c:pt idx="2">
                  <c:v>81</c:v>
                </c:pt>
                <c:pt idx="3">
                  <c:v>70</c:v>
                </c:pt>
                <c:pt idx="4">
                  <c:v>52</c:v>
                </c:pt>
                <c:pt idx="5">
                  <c:v>43</c:v>
                </c:pt>
                <c:pt idx="6">
                  <c:v>38</c:v>
                </c:pt>
                <c:pt idx="7">
                  <c:v>25</c:v>
                </c:pt>
              </c:numCache>
            </c:numRef>
          </c:val>
        </c:ser>
        <c:dLbls>
          <c:numFmt formatCode="#,##0" sourceLinked="0"/>
          <c:txPr>
            <a:bodyPr/>
            <a:lstStyle/>
            <a:p>
              <a:pPr>
                <a:defRPr b="0" i="0" strike="noStrike" sz="700" u="none">
                  <a:solidFill>
                    <a:srgbClr val="E8F0F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5A63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B95A5"/>
                </a:solidFill>
                <a:latin typeface="Arial"/>
              </a:defRPr>
            </a:pPr>
            <a:endParaRPr lang="en-US"/>
          </a:p>
        </c:txPr>
        <c:crossAx val="2094734554"/>
        <c:crosses val="autoZero"/>
        <c:crossBetween val="between"/>
      </c:valAx>
      <c:spPr>
        <a:solidFill>
          <a:srgbClr val="1A2540"/>
        </a:solidFill>
        <a:ln>
          <a:noFill/>
        </a:ln>
        <a:effectLst/>
      </c:spPr>
    </c:plotArea>
    <c:plotVisOnly val="1"/>
    <c:dispBlanksAs val="span"/>
  </c:chart>
  <c:spPr>
    <a:solidFill>
      <a:srgbClr val="1A254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p:spPr>
      </p:sp>
      <p:sp>
        <p:nvSpPr>
          <p:cNvPr id="3" name="Text 1"/>
          <p:cNvSpPr/>
          <p:nvPr/>
        </p:nvSpPr>
        <p:spPr>
          <a:xfrm>
            <a:off x="548640" y="548640"/>
            <a:ext cx="1828800" cy="731520"/>
          </a:xfrm>
          <a:prstGeom prst="rect">
            <a:avLst/>
          </a:prstGeom>
          <a:noFill/>
          <a:ln/>
        </p:spPr>
        <p:txBody>
          <a:bodyPr wrap="square" rtlCol="0" anchor="ctr"/>
          <a:lstStyle/>
          <a:p>
            <a:pPr indent="0" marL="0">
              <a:buNone/>
            </a:pPr>
            <a:r>
              <a:rPr lang="en-US" sz="4800" b="1" dirty="0">
                <a:solidFill>
                  <a:srgbClr val="00D4FF"/>
                </a:solidFill>
                <a:latin typeface="Arial" pitchFamily="34" charset="0"/>
                <a:ea typeface="Arial" pitchFamily="34" charset="-122"/>
                <a:cs typeface="Arial" pitchFamily="34" charset="-120"/>
              </a:rPr>
              <a:t>x</a:t>
            </a:r>
            <a:pPr indent="0" marL="0">
              <a:buNone/>
            </a:pPr>
            <a:r>
              <a:rPr lang="en-US" sz="4800" b="1" dirty="0">
                <a:solidFill>
                  <a:srgbClr val="FF6B35"/>
                </a:solidFill>
                <a:latin typeface="Arial" pitchFamily="34" charset="0"/>
                <a:ea typeface="Arial" pitchFamily="34" charset="-122"/>
                <a:cs typeface="Arial" pitchFamily="34" charset="-120"/>
              </a:rPr>
              <a:t>F</a:t>
            </a:r>
            <a:endParaRPr lang="en-US" sz="4800" dirty="0"/>
          </a:p>
        </p:txBody>
      </p:sp>
      <p:sp>
        <p:nvSpPr>
          <p:cNvPr id="4" name="Text 2"/>
          <p:cNvSpPr/>
          <p:nvPr/>
        </p:nvSpPr>
        <p:spPr>
          <a:xfrm>
            <a:off x="548640" y="1371600"/>
            <a:ext cx="7772400" cy="548640"/>
          </a:xfrm>
          <a:prstGeom prst="rect">
            <a:avLst/>
          </a:prstGeom>
          <a:noFill/>
          <a:ln/>
        </p:spPr>
        <p:txBody>
          <a:bodyPr wrap="square" rtlCol="0" anchor="ctr"/>
          <a:lstStyle/>
          <a:p>
            <a:pPr indent="0" marL="0">
              <a:buNone/>
            </a:pPr>
            <a:r>
              <a:rPr lang="en-US" sz="1400" b="1" spc="600" kern="0" dirty="0">
                <a:solidFill>
                  <a:srgbClr val="8B95A5"/>
                </a:solidFill>
                <a:latin typeface="Arial" pitchFamily="34" charset="0"/>
                <a:ea typeface="Arial" pitchFamily="34" charset="-122"/>
                <a:cs typeface="Arial" pitchFamily="34" charset="-120"/>
              </a:rPr>
              <a:t>FALCON CORP</a:t>
            </a:r>
            <a:endParaRPr lang="en-US" sz="1400" dirty="0"/>
          </a:p>
        </p:txBody>
      </p:sp>
      <p:sp>
        <p:nvSpPr>
          <p:cNvPr id="5" name="Text 3"/>
          <p:cNvSpPr/>
          <p:nvPr/>
        </p:nvSpPr>
        <p:spPr>
          <a:xfrm>
            <a:off x="548640" y="1828800"/>
            <a:ext cx="7772400" cy="822960"/>
          </a:xfrm>
          <a:prstGeom prst="rect">
            <a:avLst/>
          </a:prstGeom>
          <a:noFill/>
          <a:ln/>
        </p:spPr>
        <p:txBody>
          <a:bodyPr wrap="square" rtlCol="0" anchor="ctr"/>
          <a:lstStyle/>
          <a:p>
            <a:pPr indent="0" marL="0">
              <a:buNone/>
            </a:pPr>
            <a:r>
              <a:rPr lang="en-US" sz="3600" b="1" dirty="0">
                <a:solidFill>
                  <a:srgbClr val="F5F7FA"/>
                </a:solidFill>
                <a:latin typeface="Arial" pitchFamily="34" charset="0"/>
                <a:ea typeface="Arial" pitchFamily="34" charset="-122"/>
                <a:cs typeface="Arial" pitchFamily="34" charset="-120"/>
              </a:rPr>
              <a:t>Year-End HR Report 2024</a:t>
            </a:r>
            <a:endParaRPr lang="en-US" sz="3600" dirty="0"/>
          </a:p>
        </p:txBody>
      </p:sp>
      <p:sp>
        <p:nvSpPr>
          <p:cNvPr id="6" name="Text 4"/>
          <p:cNvSpPr/>
          <p:nvPr/>
        </p:nvSpPr>
        <p:spPr>
          <a:xfrm>
            <a:off x="548640" y="2743200"/>
            <a:ext cx="6400800" cy="640080"/>
          </a:xfrm>
          <a:prstGeom prst="rect">
            <a:avLst/>
          </a:prstGeom>
          <a:noFill/>
          <a:ln/>
        </p:spPr>
        <p:txBody>
          <a:bodyPr wrap="square" rtlCol="0" anchor="ctr"/>
          <a:lstStyle/>
          <a:p>
            <a:pPr indent="0" marL="0">
              <a:buNone/>
            </a:pPr>
            <a:r>
              <a:rPr lang="en-US" sz="1200" dirty="0">
                <a:solidFill>
                  <a:srgbClr val="8B95A5"/>
                </a:solidFill>
                <a:latin typeface="Arial" pitchFamily="34" charset="0"/>
                <a:ea typeface="Arial" pitchFamily="34" charset="-122"/>
                <a:cs typeface="Arial" pitchFamily="34" charset="-120"/>
              </a:rPr>
              <a:t>A comprehensive analysis of workforce, compensation, performance,</a:t>
            </a:r>
            <a:endParaRPr lang="en-US" sz="1200" dirty="0"/>
          </a:p>
          <a:p>
            <a:pPr indent="0" marL="0">
              <a:buNone/>
            </a:pPr>
            <a:r>
              <a:rPr lang="en-US" sz="1200" dirty="0">
                <a:solidFill>
                  <a:srgbClr val="8B95A5"/>
                </a:solidFill>
                <a:latin typeface="Arial" pitchFamily="34" charset="0"/>
                <a:ea typeface="Arial" pitchFamily="34" charset="-122"/>
                <a:cs typeface="Arial" pitchFamily="34" charset="-120"/>
              </a:rPr>
              <a:t>attrition, recruiting, learning, engagement, and diversity metrics.</a:t>
            </a:r>
            <a:endParaRPr lang="en-US" sz="1200" dirty="0"/>
          </a:p>
        </p:txBody>
      </p:sp>
      <p:sp>
        <p:nvSpPr>
          <p:cNvPr id="7" name="Shape 5"/>
          <p:cNvSpPr/>
          <p:nvPr/>
        </p:nvSpPr>
        <p:spPr>
          <a:xfrm>
            <a:off x="548640" y="3566160"/>
            <a:ext cx="1371600" cy="36576"/>
          </a:xfrm>
          <a:prstGeom prst="rect">
            <a:avLst/>
          </a:prstGeom>
          <a:solidFill>
            <a:srgbClr val="00D4FF"/>
          </a:solidFill>
          <a:ln/>
        </p:spPr>
      </p:sp>
      <p:sp>
        <p:nvSpPr>
          <p:cNvPr id="8" name="Text 6"/>
          <p:cNvSpPr/>
          <p:nvPr/>
        </p:nvSpPr>
        <p:spPr>
          <a:xfrm>
            <a:off x="548640" y="3749040"/>
            <a:ext cx="4572000" cy="320040"/>
          </a:xfrm>
          <a:prstGeom prst="rect">
            <a:avLst/>
          </a:prstGeom>
          <a:noFill/>
          <a:ln/>
        </p:spPr>
        <p:txBody>
          <a:bodyPr wrap="square" rtlCol="0" anchor="ctr"/>
          <a:lstStyle/>
          <a:p>
            <a:pPr indent="0" marL="0">
              <a:buNone/>
            </a:pPr>
            <a:r>
              <a:rPr lang="en-US" sz="1000" dirty="0">
                <a:solidFill>
                  <a:srgbClr val="5A6370"/>
                </a:solidFill>
                <a:latin typeface="Arial" pitchFamily="34" charset="0"/>
                <a:ea typeface="Arial" pitchFamily="34" charset="-122"/>
                <a:cs typeface="Arial" pitchFamily="34" charset="-120"/>
              </a:rPr>
              <a:t>Prepared by HR Analytics  |  March 2026</a:t>
            </a:r>
            <a:endParaRPr lang="en-US" sz="1000" dirty="0"/>
          </a:p>
        </p:txBody>
      </p:sp>
      <p:sp>
        <p:nvSpPr>
          <p:cNvPr id="9" name="Shape 7"/>
          <p:cNvSpPr/>
          <p:nvPr/>
        </p:nvSpPr>
        <p:spPr>
          <a:xfrm>
            <a:off x="0" y="4709160"/>
            <a:ext cx="9144000" cy="434340"/>
          </a:xfrm>
          <a:prstGeom prst="rect">
            <a:avLst/>
          </a:prstGeom>
          <a:solidFill>
            <a:srgbClr val="141E30"/>
          </a:solidFill>
          <a:ln/>
        </p:spPr>
      </p:sp>
      <p:sp>
        <p:nvSpPr>
          <p:cNvPr id="10" name="Text 8"/>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11" name="Text 9"/>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 /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Executive Summary</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Executive Summary</a:t>
            </a:r>
            <a:endParaRPr lang="en-US" sz="2600" dirty="0"/>
          </a:p>
        </p:txBody>
      </p:sp>
      <p:sp>
        <p:nvSpPr>
          <p:cNvPr id="5" name="Text 3"/>
          <p:cNvSpPr/>
          <p:nvPr/>
        </p:nvSpPr>
        <p:spPr>
          <a:xfrm>
            <a:off x="457200" y="1051560"/>
            <a:ext cx="7315200" cy="274320"/>
          </a:xfrm>
          <a:prstGeom prst="rect">
            <a:avLst/>
          </a:prstGeom>
          <a:noFill/>
          <a:ln/>
        </p:spPr>
        <p:txBody>
          <a:bodyPr wrap="square" rtlCol="0" anchor="ctr"/>
          <a:lstStyle/>
          <a:p>
            <a:pPr indent="0" marL="0">
              <a:buNone/>
            </a:pPr>
            <a:r>
              <a:rPr lang="en-US" sz="1100" dirty="0">
                <a:solidFill>
                  <a:srgbClr val="8B95A5"/>
                </a:solidFill>
                <a:latin typeface="Arial" pitchFamily="34" charset="0"/>
                <a:ea typeface="Arial" pitchFamily="34" charset="-122"/>
                <a:cs typeface="Arial" pitchFamily="34" charset="-120"/>
              </a:rPr>
              <a:t>Key workforce indicators at a glance — Calendar Year 2024</a:t>
            </a:r>
            <a:endParaRPr lang="en-US" sz="1100" dirty="0"/>
          </a:p>
        </p:txBody>
      </p:sp>
      <p:sp>
        <p:nvSpPr>
          <p:cNvPr id="6" name="Shape 4"/>
          <p:cNvSpPr/>
          <p:nvPr/>
        </p:nvSpPr>
        <p:spPr>
          <a:xfrm>
            <a:off x="457200" y="150876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508760"/>
            <a:ext cx="54864" cy="822960"/>
          </a:xfrm>
          <a:prstGeom prst="rect">
            <a:avLst/>
          </a:prstGeom>
          <a:solidFill>
            <a:srgbClr val="00D4FF"/>
          </a:solidFill>
          <a:ln/>
        </p:spPr>
      </p:sp>
      <p:sp>
        <p:nvSpPr>
          <p:cNvPr id="8" name="Text 6"/>
          <p:cNvSpPr/>
          <p:nvPr/>
        </p:nvSpPr>
        <p:spPr>
          <a:xfrm>
            <a:off x="640080" y="158191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TOTAL HEADCOUNT</a:t>
            </a:r>
            <a:endParaRPr lang="en-US" sz="700" dirty="0"/>
          </a:p>
        </p:txBody>
      </p:sp>
      <p:sp>
        <p:nvSpPr>
          <p:cNvPr id="9" name="Text 7"/>
          <p:cNvSpPr/>
          <p:nvPr/>
        </p:nvSpPr>
        <p:spPr>
          <a:xfrm>
            <a:off x="640080" y="178308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516</a:t>
            </a:r>
            <a:endParaRPr lang="en-US" sz="2000" dirty="0"/>
          </a:p>
        </p:txBody>
      </p:sp>
      <p:sp>
        <p:nvSpPr>
          <p:cNvPr id="10" name="Text 8"/>
          <p:cNvSpPr/>
          <p:nvPr/>
        </p:nvSpPr>
        <p:spPr>
          <a:xfrm>
            <a:off x="640080" y="210312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Active + On Leave</a:t>
            </a:r>
            <a:endParaRPr lang="en-US" sz="800" dirty="0"/>
          </a:p>
        </p:txBody>
      </p:sp>
      <p:sp>
        <p:nvSpPr>
          <p:cNvPr id="11" name="Shape 9"/>
          <p:cNvSpPr/>
          <p:nvPr/>
        </p:nvSpPr>
        <p:spPr>
          <a:xfrm>
            <a:off x="2468880" y="150876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2" name="Shape 10"/>
          <p:cNvSpPr/>
          <p:nvPr/>
        </p:nvSpPr>
        <p:spPr>
          <a:xfrm>
            <a:off x="2468880" y="1508760"/>
            <a:ext cx="54864" cy="822960"/>
          </a:xfrm>
          <a:prstGeom prst="rect">
            <a:avLst/>
          </a:prstGeom>
          <a:solidFill>
            <a:srgbClr val="00D4FF"/>
          </a:solidFill>
          <a:ln/>
        </p:spPr>
      </p:sp>
      <p:sp>
        <p:nvSpPr>
          <p:cNvPr id="13" name="Text 11"/>
          <p:cNvSpPr/>
          <p:nvPr/>
        </p:nvSpPr>
        <p:spPr>
          <a:xfrm>
            <a:off x="2651760" y="158191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NEW HIRES 2023</a:t>
            </a:r>
            <a:endParaRPr lang="en-US" sz="700" dirty="0"/>
          </a:p>
        </p:txBody>
      </p:sp>
      <p:sp>
        <p:nvSpPr>
          <p:cNvPr id="14" name="Text 12"/>
          <p:cNvSpPr/>
          <p:nvPr/>
        </p:nvSpPr>
        <p:spPr>
          <a:xfrm>
            <a:off x="2651760" y="178308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86</a:t>
            </a:r>
            <a:endParaRPr lang="en-US" sz="2000" dirty="0"/>
          </a:p>
        </p:txBody>
      </p:sp>
      <p:sp>
        <p:nvSpPr>
          <p:cNvPr id="15" name="Text 13"/>
          <p:cNvSpPr/>
          <p:nvPr/>
        </p:nvSpPr>
        <p:spPr>
          <a:xfrm>
            <a:off x="2651760" y="210312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-22% vs 2022</a:t>
            </a:r>
            <a:endParaRPr lang="en-US" sz="800" dirty="0"/>
          </a:p>
        </p:txBody>
      </p:sp>
      <p:sp>
        <p:nvSpPr>
          <p:cNvPr id="16" name="Shape 14"/>
          <p:cNvSpPr/>
          <p:nvPr/>
        </p:nvSpPr>
        <p:spPr>
          <a:xfrm>
            <a:off x="4480560" y="150876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7" name="Shape 15"/>
          <p:cNvSpPr/>
          <p:nvPr/>
        </p:nvSpPr>
        <p:spPr>
          <a:xfrm>
            <a:off x="4480560" y="1508760"/>
            <a:ext cx="54864" cy="822960"/>
          </a:xfrm>
          <a:prstGeom prst="rect">
            <a:avLst/>
          </a:prstGeom>
          <a:solidFill>
            <a:srgbClr val="00D4FF"/>
          </a:solidFill>
          <a:ln/>
        </p:spPr>
      </p:sp>
      <p:sp>
        <p:nvSpPr>
          <p:cNvPr id="18" name="Text 16"/>
          <p:cNvSpPr/>
          <p:nvPr/>
        </p:nvSpPr>
        <p:spPr>
          <a:xfrm>
            <a:off x="4663440" y="158191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TURNOVER RATE</a:t>
            </a:r>
            <a:endParaRPr lang="en-US" sz="700" dirty="0"/>
          </a:p>
        </p:txBody>
      </p:sp>
      <p:sp>
        <p:nvSpPr>
          <p:cNvPr id="19" name="Text 17"/>
          <p:cNvSpPr/>
          <p:nvPr/>
        </p:nvSpPr>
        <p:spPr>
          <a:xfrm>
            <a:off x="4663440" y="178308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19.3%</a:t>
            </a:r>
            <a:endParaRPr lang="en-US" sz="2000" dirty="0"/>
          </a:p>
        </p:txBody>
      </p:sp>
      <p:sp>
        <p:nvSpPr>
          <p:cNvPr id="20" name="Text 18"/>
          <p:cNvSpPr/>
          <p:nvPr/>
        </p:nvSpPr>
        <p:spPr>
          <a:xfrm>
            <a:off x="4663440" y="2103120"/>
            <a:ext cx="1600200" cy="182880"/>
          </a:xfrm>
          <a:prstGeom prst="rect">
            <a:avLst/>
          </a:prstGeom>
          <a:noFill/>
          <a:ln/>
        </p:spPr>
        <p:txBody>
          <a:bodyPr wrap="square" rtlCol="0" anchor="ctr"/>
          <a:lstStyle/>
          <a:p>
            <a:pPr indent="0" marL="0">
              <a:buNone/>
            </a:pPr>
            <a:r>
              <a:rPr lang="en-US" sz="800" dirty="0">
                <a:solidFill>
                  <a:srgbClr val="FF3366"/>
                </a:solidFill>
                <a:latin typeface="Arial" pitchFamily="34" charset="0"/>
                <a:ea typeface="Arial" pitchFamily="34" charset="-122"/>
                <a:cs typeface="Arial" pitchFamily="34" charset="-120"/>
              </a:rPr>
              <a:t>113 total exits</a:t>
            </a:r>
            <a:endParaRPr lang="en-US" sz="800" dirty="0"/>
          </a:p>
        </p:txBody>
      </p:sp>
      <p:sp>
        <p:nvSpPr>
          <p:cNvPr id="21" name="Shape 19"/>
          <p:cNvSpPr/>
          <p:nvPr/>
        </p:nvSpPr>
        <p:spPr>
          <a:xfrm>
            <a:off x="6492240" y="150876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2" name="Shape 20"/>
          <p:cNvSpPr/>
          <p:nvPr/>
        </p:nvSpPr>
        <p:spPr>
          <a:xfrm>
            <a:off x="6492240" y="1508760"/>
            <a:ext cx="54864" cy="822960"/>
          </a:xfrm>
          <a:prstGeom prst="rect">
            <a:avLst/>
          </a:prstGeom>
          <a:solidFill>
            <a:srgbClr val="00D4FF"/>
          </a:solidFill>
          <a:ln/>
        </p:spPr>
      </p:sp>
      <p:sp>
        <p:nvSpPr>
          <p:cNvPr id="23" name="Text 21"/>
          <p:cNvSpPr/>
          <p:nvPr/>
        </p:nvSpPr>
        <p:spPr>
          <a:xfrm>
            <a:off x="6675120" y="158191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AVG BASE SALARY</a:t>
            </a:r>
            <a:endParaRPr lang="en-US" sz="700" dirty="0"/>
          </a:p>
        </p:txBody>
      </p:sp>
      <p:sp>
        <p:nvSpPr>
          <p:cNvPr id="24" name="Text 22"/>
          <p:cNvSpPr/>
          <p:nvPr/>
        </p:nvSpPr>
        <p:spPr>
          <a:xfrm>
            <a:off x="6675120" y="178308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$117K</a:t>
            </a:r>
            <a:endParaRPr lang="en-US" sz="2000" dirty="0"/>
          </a:p>
        </p:txBody>
      </p:sp>
      <p:sp>
        <p:nvSpPr>
          <p:cNvPr id="25" name="Text 23"/>
          <p:cNvSpPr/>
          <p:nvPr/>
        </p:nvSpPr>
        <p:spPr>
          <a:xfrm>
            <a:off x="6675120" y="210312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$221M total cost</a:t>
            </a:r>
            <a:endParaRPr lang="en-US" sz="800" dirty="0"/>
          </a:p>
        </p:txBody>
      </p:sp>
      <p:sp>
        <p:nvSpPr>
          <p:cNvPr id="26" name="Shape 24"/>
          <p:cNvSpPr/>
          <p:nvPr/>
        </p:nvSpPr>
        <p:spPr>
          <a:xfrm>
            <a:off x="457200" y="251460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7" name="Shape 25"/>
          <p:cNvSpPr/>
          <p:nvPr/>
        </p:nvSpPr>
        <p:spPr>
          <a:xfrm>
            <a:off x="457200" y="2514600"/>
            <a:ext cx="54864" cy="822960"/>
          </a:xfrm>
          <a:prstGeom prst="rect">
            <a:avLst/>
          </a:prstGeom>
          <a:solidFill>
            <a:srgbClr val="00D4FF"/>
          </a:solidFill>
          <a:ln/>
        </p:spPr>
      </p:sp>
      <p:sp>
        <p:nvSpPr>
          <p:cNvPr id="28" name="Text 26"/>
          <p:cNvSpPr/>
          <p:nvPr/>
        </p:nvSpPr>
        <p:spPr>
          <a:xfrm>
            <a:off x="640080" y="258775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GENDER BALANCE</a:t>
            </a:r>
            <a:endParaRPr lang="en-US" sz="700" dirty="0"/>
          </a:p>
        </p:txBody>
      </p:sp>
      <p:sp>
        <p:nvSpPr>
          <p:cNvPr id="29" name="Text 27"/>
          <p:cNvSpPr/>
          <p:nvPr/>
        </p:nvSpPr>
        <p:spPr>
          <a:xfrm>
            <a:off x="640080" y="278892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49/51%</a:t>
            </a:r>
            <a:endParaRPr lang="en-US" sz="2000" dirty="0"/>
          </a:p>
        </p:txBody>
      </p:sp>
      <p:sp>
        <p:nvSpPr>
          <p:cNvPr id="30" name="Text 28"/>
          <p:cNvSpPr/>
          <p:nvPr/>
        </p:nvSpPr>
        <p:spPr>
          <a:xfrm>
            <a:off x="640080" y="310896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F / M ratio</a:t>
            </a:r>
            <a:endParaRPr lang="en-US" sz="800" dirty="0"/>
          </a:p>
        </p:txBody>
      </p:sp>
      <p:sp>
        <p:nvSpPr>
          <p:cNvPr id="31" name="Shape 29"/>
          <p:cNvSpPr/>
          <p:nvPr/>
        </p:nvSpPr>
        <p:spPr>
          <a:xfrm>
            <a:off x="2468880" y="251460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32" name="Shape 30"/>
          <p:cNvSpPr/>
          <p:nvPr/>
        </p:nvSpPr>
        <p:spPr>
          <a:xfrm>
            <a:off x="2468880" y="2514600"/>
            <a:ext cx="54864" cy="822960"/>
          </a:xfrm>
          <a:prstGeom prst="rect">
            <a:avLst/>
          </a:prstGeom>
          <a:solidFill>
            <a:srgbClr val="00D4FF"/>
          </a:solidFill>
          <a:ln/>
        </p:spPr>
      </p:sp>
      <p:sp>
        <p:nvSpPr>
          <p:cNvPr id="33" name="Text 31"/>
          <p:cNvSpPr/>
          <p:nvPr/>
        </p:nvSpPr>
        <p:spPr>
          <a:xfrm>
            <a:off x="2651760" y="258775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ENGAGEMENT (ENPS)</a:t>
            </a:r>
            <a:endParaRPr lang="en-US" sz="700" dirty="0"/>
          </a:p>
        </p:txBody>
      </p:sp>
      <p:sp>
        <p:nvSpPr>
          <p:cNvPr id="34" name="Text 32"/>
          <p:cNvSpPr/>
          <p:nvPr/>
        </p:nvSpPr>
        <p:spPr>
          <a:xfrm>
            <a:off x="2651760" y="278892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7.62</a:t>
            </a:r>
            <a:endParaRPr lang="en-US" sz="2000" dirty="0"/>
          </a:p>
        </p:txBody>
      </p:sp>
      <p:sp>
        <p:nvSpPr>
          <p:cNvPr id="35" name="Text 33"/>
          <p:cNvSpPr/>
          <p:nvPr/>
        </p:nvSpPr>
        <p:spPr>
          <a:xfrm>
            <a:off x="2651760" y="310896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-0.38 vs 2023</a:t>
            </a:r>
            <a:endParaRPr lang="en-US" sz="800" dirty="0"/>
          </a:p>
        </p:txBody>
      </p:sp>
      <p:sp>
        <p:nvSpPr>
          <p:cNvPr id="36" name="Shape 34"/>
          <p:cNvSpPr/>
          <p:nvPr/>
        </p:nvSpPr>
        <p:spPr>
          <a:xfrm>
            <a:off x="4480560" y="251460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37" name="Shape 35"/>
          <p:cNvSpPr/>
          <p:nvPr/>
        </p:nvSpPr>
        <p:spPr>
          <a:xfrm>
            <a:off x="4480560" y="2514600"/>
            <a:ext cx="54864" cy="822960"/>
          </a:xfrm>
          <a:prstGeom prst="rect">
            <a:avLst/>
          </a:prstGeom>
          <a:solidFill>
            <a:srgbClr val="00D4FF"/>
          </a:solidFill>
          <a:ln/>
        </p:spPr>
      </p:sp>
      <p:sp>
        <p:nvSpPr>
          <p:cNvPr id="38" name="Text 36"/>
          <p:cNvSpPr/>
          <p:nvPr/>
        </p:nvSpPr>
        <p:spPr>
          <a:xfrm>
            <a:off x="4663440" y="258775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TRAINING COMPL.</a:t>
            </a:r>
            <a:endParaRPr lang="en-US" sz="700" dirty="0"/>
          </a:p>
        </p:txBody>
      </p:sp>
      <p:sp>
        <p:nvSpPr>
          <p:cNvPr id="39" name="Text 37"/>
          <p:cNvSpPr/>
          <p:nvPr/>
        </p:nvSpPr>
        <p:spPr>
          <a:xfrm>
            <a:off x="4663440" y="278892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71.2%</a:t>
            </a:r>
            <a:endParaRPr lang="en-US" sz="2000" dirty="0"/>
          </a:p>
        </p:txBody>
      </p:sp>
      <p:sp>
        <p:nvSpPr>
          <p:cNvPr id="40" name="Text 38"/>
          <p:cNvSpPr/>
          <p:nvPr/>
        </p:nvSpPr>
        <p:spPr>
          <a:xfrm>
            <a:off x="4663440" y="310896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977 of 1,370</a:t>
            </a:r>
            <a:endParaRPr lang="en-US" sz="800" dirty="0"/>
          </a:p>
        </p:txBody>
      </p:sp>
      <p:sp>
        <p:nvSpPr>
          <p:cNvPr id="41" name="Shape 39"/>
          <p:cNvSpPr/>
          <p:nvPr/>
        </p:nvSpPr>
        <p:spPr>
          <a:xfrm>
            <a:off x="6492240" y="2514600"/>
            <a:ext cx="1874520" cy="8229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42" name="Shape 40"/>
          <p:cNvSpPr/>
          <p:nvPr/>
        </p:nvSpPr>
        <p:spPr>
          <a:xfrm>
            <a:off x="6492240" y="2514600"/>
            <a:ext cx="54864" cy="822960"/>
          </a:xfrm>
          <a:prstGeom prst="rect">
            <a:avLst/>
          </a:prstGeom>
          <a:solidFill>
            <a:srgbClr val="00D4FF"/>
          </a:solidFill>
          <a:ln/>
        </p:spPr>
      </p:sp>
      <p:sp>
        <p:nvSpPr>
          <p:cNvPr id="43" name="Text 41"/>
          <p:cNvSpPr/>
          <p:nvPr/>
        </p:nvSpPr>
        <p:spPr>
          <a:xfrm>
            <a:off x="6675120" y="258775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OPEN REQUISITIONS</a:t>
            </a:r>
            <a:endParaRPr lang="en-US" sz="700" dirty="0"/>
          </a:p>
        </p:txBody>
      </p:sp>
      <p:sp>
        <p:nvSpPr>
          <p:cNvPr id="44" name="Text 42"/>
          <p:cNvSpPr/>
          <p:nvPr/>
        </p:nvSpPr>
        <p:spPr>
          <a:xfrm>
            <a:off x="6675120" y="278892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10</a:t>
            </a:r>
            <a:endParaRPr lang="en-US" sz="2000" dirty="0"/>
          </a:p>
        </p:txBody>
      </p:sp>
      <p:sp>
        <p:nvSpPr>
          <p:cNvPr id="45" name="Text 43"/>
          <p:cNvSpPr/>
          <p:nvPr/>
        </p:nvSpPr>
        <p:spPr>
          <a:xfrm>
            <a:off x="6675120" y="310896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50 total reqs</a:t>
            </a:r>
            <a:endParaRPr lang="en-US" sz="800" dirty="0"/>
          </a:p>
        </p:txBody>
      </p:sp>
      <p:sp>
        <p:nvSpPr>
          <p:cNvPr id="46" name="Shape 44"/>
          <p:cNvSpPr/>
          <p:nvPr/>
        </p:nvSpPr>
        <p:spPr>
          <a:xfrm>
            <a:off x="457200" y="3566160"/>
            <a:ext cx="8229600" cy="86868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47" name="Text 45"/>
          <p:cNvSpPr/>
          <p:nvPr/>
        </p:nvSpPr>
        <p:spPr>
          <a:xfrm>
            <a:off x="640080" y="3639312"/>
            <a:ext cx="1828800" cy="182880"/>
          </a:xfrm>
          <a:prstGeom prst="rect">
            <a:avLst/>
          </a:prstGeom>
          <a:noFill/>
          <a:ln/>
        </p:spPr>
        <p:txBody>
          <a:bodyPr wrap="square" rtlCol="0" anchor="ctr"/>
          <a:lstStyle/>
          <a:p>
            <a:pPr indent="0" marL="0">
              <a:buNone/>
            </a:pPr>
            <a:r>
              <a:rPr lang="en-US" sz="800" b="1" dirty="0">
                <a:solidFill>
                  <a:srgbClr val="00D4FF"/>
                </a:solidFill>
                <a:latin typeface="Arial" pitchFamily="34" charset="0"/>
                <a:ea typeface="Arial" pitchFamily="34" charset="-122"/>
                <a:cs typeface="Arial" pitchFamily="34" charset="-120"/>
              </a:rPr>
              <a:t>KEY INSIGHT</a:t>
            </a:r>
            <a:endParaRPr lang="en-US" sz="800" dirty="0"/>
          </a:p>
        </p:txBody>
      </p:sp>
      <p:sp>
        <p:nvSpPr>
          <p:cNvPr id="48" name="Text 46"/>
          <p:cNvSpPr/>
          <p:nvPr/>
        </p:nvSpPr>
        <p:spPr>
          <a:xfrm>
            <a:off x="640080" y="3840480"/>
            <a:ext cx="7772400" cy="502920"/>
          </a:xfrm>
          <a:prstGeom prst="rect">
            <a:avLst/>
          </a:prstGeom>
          <a:noFill/>
          <a:ln/>
        </p:spPr>
        <p:txBody>
          <a:bodyPr wrap="square" rtlCol="0" anchor="ctr"/>
          <a:lstStyle/>
          <a:p>
            <a:pPr indent="0" marL="0">
              <a:buNone/>
            </a:pPr>
            <a:r>
              <a:rPr lang="en-US" sz="900" dirty="0">
                <a:solidFill>
                  <a:srgbClr val="E8F0FE"/>
                </a:solidFill>
                <a:latin typeface="Arial" pitchFamily="34" charset="0"/>
                <a:ea typeface="Arial" pitchFamily="34" charset="-122"/>
                <a:cs typeface="Arial" pitchFamily="34" charset="-120"/>
              </a:rPr>
              <a:t>Voluntary attrition driven by compensation concerns (53% of 2024 exits) signals an urgent compensation review is needed. Meanwhile, engagement scores declined slightly (7.62 vs 7.80 in 2023), with manager satisfaction showing the steepest drop. Recommend prioritizing manager development programs and compensation benchmarking in Q1 2025.</a:t>
            </a:r>
            <a:endParaRPr lang="en-US" sz="900" dirty="0"/>
          </a:p>
        </p:txBody>
      </p:sp>
      <p:sp>
        <p:nvSpPr>
          <p:cNvPr id="49" name="Shape 47"/>
          <p:cNvSpPr/>
          <p:nvPr/>
        </p:nvSpPr>
        <p:spPr>
          <a:xfrm>
            <a:off x="0" y="4709160"/>
            <a:ext cx="9144000" cy="434340"/>
          </a:xfrm>
          <a:prstGeom prst="rect">
            <a:avLst/>
          </a:prstGeom>
          <a:solidFill>
            <a:srgbClr val="141E30"/>
          </a:solidFill>
          <a:ln/>
        </p:spPr>
      </p:sp>
      <p:sp>
        <p:nvSpPr>
          <p:cNvPr id="50" name="Text 48"/>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51" name="Text 49"/>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01. Workforce Overview</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Workforce Overview</a:t>
            </a:r>
            <a:endParaRPr lang="en-US" sz="2600" dirty="0"/>
          </a:p>
        </p:txBody>
      </p:sp>
      <p:graphicFrame>
        <p:nvGraphicFramePr>
          <p:cNvPr id="5" name="Chart 0" descr=""/>
          <p:cNvGraphicFramePr/>
          <p:nvPr/>
        </p:nvGraphicFramePr>
        <p:xfrm>
          <a:off x="457200" y="1234440"/>
          <a:ext cx="393192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754880" y="1234440"/>
          <a:ext cx="3931920" cy="25603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3931920"/>
            <a:ext cx="8229600" cy="59436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8" name="Text 4"/>
          <p:cNvSpPr/>
          <p:nvPr/>
        </p:nvSpPr>
        <p:spPr>
          <a:xfrm>
            <a:off x="640080" y="4005072"/>
            <a:ext cx="7772400" cy="457200"/>
          </a:xfrm>
          <a:prstGeom prst="rect">
            <a:avLst/>
          </a:prstGeom>
          <a:noFill/>
          <a:ln/>
        </p:spPr>
        <p:txBody>
          <a:bodyPr wrap="square" rtlCol="0" anchor="ctr"/>
          <a:lstStyle/>
          <a:p>
            <a:pPr indent="0" marL="0">
              <a:buNone/>
            </a:pPr>
            <a:r>
              <a:rPr lang="en-US" sz="900" dirty="0">
                <a:solidFill>
                  <a:srgbClr val="E8F0FE"/>
                </a:solidFill>
                <a:latin typeface="Arial" pitchFamily="34" charset="0"/>
                <a:ea typeface="Arial" pitchFamily="34" charset="-122"/>
                <a:cs typeface="Arial" pitchFamily="34" charset="-120"/>
              </a:rPr>
              <a:t>Hiring peaked at 113 in 2020 (pandemic-era tech boom), then normalized to 86 in 2023. Exits peaked at 34 in 2022, declining to 15 in 2024 — all voluntary, suggesting improving retention but potential stagnation risk.</a:t>
            </a:r>
            <a:endParaRPr lang="en-US" sz="900" dirty="0"/>
          </a:p>
        </p:txBody>
      </p:sp>
      <p:sp>
        <p:nvSpPr>
          <p:cNvPr id="9" name="Shape 5"/>
          <p:cNvSpPr/>
          <p:nvPr/>
        </p:nvSpPr>
        <p:spPr>
          <a:xfrm>
            <a:off x="0" y="4709160"/>
            <a:ext cx="9144000" cy="434340"/>
          </a:xfrm>
          <a:prstGeom prst="rect">
            <a:avLst/>
          </a:prstGeom>
          <a:solidFill>
            <a:srgbClr val="141E30"/>
          </a:solidFill>
          <a:ln/>
        </p:spPr>
      </p:sp>
      <p:sp>
        <p:nvSpPr>
          <p:cNvPr id="10" name="Text 6"/>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11" name="Text 7"/>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02. Department &amp; Location</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Department &amp; Location Breakdown</a:t>
            </a:r>
            <a:endParaRPr lang="en-US" sz="2600" dirty="0"/>
          </a:p>
        </p:txBody>
      </p:sp>
      <p:graphicFrame>
        <p:nvGraphicFramePr>
          <p:cNvPr id="5" name="Chart 0" descr=""/>
          <p:cNvGraphicFramePr/>
          <p:nvPr/>
        </p:nvGraphicFramePr>
        <p:xfrm>
          <a:off x="457200" y="1234440"/>
          <a:ext cx="50292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234440"/>
          <a:ext cx="3017520" cy="2560320"/>
        </p:xfrm>
        <a:graphic>
          <a:graphicData uri="http://schemas.openxmlformats.org/drawingml/2006/table">
            <a:tbl>
              <a:tblPr/>
              <a:tblGrid>
                <a:gridCol w="1188720"/>
                <a:gridCol w="640080"/>
                <a:gridCol w="457200"/>
                <a:gridCol w="457200"/>
              </a:tblGrid>
              <a:tr h="320040">
                <a:tc>
                  <a:txBody>
                    <a:bodyPr/>
                    <a:lstStyle/>
                    <a:p>
                      <a:pPr indent="0" marL="0">
                        <a:buNone/>
                      </a:pPr>
                      <a:r>
                        <a:rPr lang="en-US" sz="800" b="1" dirty="0">
                          <a:solidFill>
                            <a:srgbClr val="E8F0FE"/>
                          </a:solidFill>
                          <a:latin typeface="Arial" pitchFamily="34" charset="0"/>
                          <a:ea typeface="Arial" pitchFamily="34" charset="-122"/>
                          <a:cs typeface="Arial" pitchFamily="34" charset="-120"/>
                        </a:rPr>
                        <a:t>Location</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141E30"/>
                    </a:solidFill>
                  </a:tcPr>
                </a:tc>
                <a:tc>
                  <a:txBody>
                    <a:bodyPr/>
                    <a:lstStyle/>
                    <a:p>
                      <a:pPr indent="0" marL="0">
                        <a:buNone/>
                      </a:pPr>
                      <a:r>
                        <a:rPr lang="en-US" sz="800" b="1" dirty="0">
                          <a:solidFill>
                            <a:srgbClr val="E8F0FE"/>
                          </a:solidFill>
                          <a:latin typeface="Arial" pitchFamily="34" charset="0"/>
                          <a:ea typeface="Arial" pitchFamily="34" charset="-122"/>
                          <a:cs typeface="Arial" pitchFamily="34" charset="-120"/>
                        </a:rPr>
                        <a:t>Country</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141E30"/>
                    </a:solidFill>
                  </a:tcPr>
                </a:tc>
                <a:tc>
                  <a:txBody>
                    <a:bodyPr/>
                    <a:lstStyle/>
                    <a:p>
                      <a:pPr algn="r" indent="0" marL="0">
                        <a:buNone/>
                      </a:pPr>
                      <a:r>
                        <a:rPr lang="en-US" sz="800" b="1" dirty="0">
                          <a:solidFill>
                            <a:srgbClr val="E8F0FE"/>
                          </a:solidFill>
                          <a:latin typeface="Arial" pitchFamily="34" charset="0"/>
                          <a:ea typeface="Arial" pitchFamily="34" charset="-122"/>
                          <a:cs typeface="Arial" pitchFamily="34" charset="-120"/>
                        </a:rPr>
                        <a:t>HC</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141E30"/>
                    </a:solidFill>
                  </a:tcPr>
                </a:tc>
                <a:tc>
                  <a:txBody>
                    <a:bodyPr/>
                    <a:lstStyle/>
                    <a:p>
                      <a:pPr algn="r" indent="0" marL="0">
                        <a:buNone/>
                      </a:pPr>
                      <a:r>
                        <a:rPr lang="en-US" sz="800" b="1" dirty="0">
                          <a:solidFill>
                            <a:srgbClr val="E8F0FE"/>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141E30"/>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HQ - San Francisco</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USA</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182</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35.3%</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New York Office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USA</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97</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Remote - US</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USA</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51</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9.9%</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Bangalore Office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India</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51</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9.9%</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London Office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UK</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46</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8.9%</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Austin Office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USA</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46</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8.9%</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r h="320040">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Singapore Office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l" indent="0" marL="0">
                        <a:buNone/>
                      </a:pPr>
                      <a:r>
                        <a:rPr lang="en-US" sz="800" dirty="0">
                          <a:solidFill>
                            <a:srgbClr val="E8F0FE"/>
                          </a:solidFill>
                          <a:latin typeface="Arial" pitchFamily="34" charset="0"/>
                          <a:ea typeface="Arial" pitchFamily="34" charset="-122"/>
                          <a:cs typeface="Arial" pitchFamily="34" charset="-120"/>
                        </a:rPr>
                        <a:t>Singapore</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c>
                  <a:txBody>
                    <a:bodyPr/>
                    <a:lstStyle/>
                    <a:p>
                      <a:pPr algn="r" indent="0" marL="0">
                        <a:buNone/>
                      </a:pPr>
                      <a:r>
                        <a:rPr lang="en-US" sz="800" dirty="0">
                          <a:solidFill>
                            <a:srgbClr val="E8F0FE"/>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91440" marR="91440" marT="45720" marB="45720">
                    <a:lnL w="6350" cap="flat" cmpd="sng" algn="ctr">
                      <a:solidFill>
                        <a:srgbClr val="5A6370"/>
                      </a:solidFill>
                      <a:prstDash val="solid"/>
                      <a:round/>
                      <a:headEnd type="none" w="med" len="med"/>
                      <a:tailEnd type="none" w="med" len="med"/>
                    </a:lnL>
                    <a:lnR w="6350" cap="flat" cmpd="sng" algn="ctr">
                      <a:solidFill>
                        <a:srgbClr val="5A6370"/>
                      </a:solidFill>
                      <a:prstDash val="solid"/>
                      <a:round/>
                      <a:headEnd type="none" w="med" len="med"/>
                      <a:tailEnd type="none" w="med" len="med"/>
                    </a:lnR>
                    <a:lnT w="6350" cap="flat" cmpd="sng" algn="ctr">
                      <a:solidFill>
                        <a:srgbClr val="5A6370"/>
                      </a:solidFill>
                      <a:prstDash val="solid"/>
                      <a:round/>
                      <a:headEnd type="none" w="med" len="med"/>
                      <a:tailEnd type="none" w="med" len="med"/>
                    </a:lnT>
                    <a:lnB w="6350" cap="flat" cmpd="sng" algn="ctr">
                      <a:solidFill>
                        <a:srgbClr val="5A6370"/>
                      </a:solidFill>
                      <a:prstDash val="solid"/>
                      <a:round/>
                      <a:headEnd type="none" w="med" len="med"/>
                      <a:tailEnd type="none" w="med" len="med"/>
                    </a:lnB>
                    <a:solidFill>
                      <a:srgbClr val="0A1628"/>
                    </a:solidFill>
                  </a:tcPr>
                </a:tc>
              </a:tr>
            </a:tbl>
          </a:graphicData>
        </a:graphic>
      </p:graphicFrame>
      <p:sp>
        <p:nvSpPr>
          <p:cNvPr id="7" name="Shape 3"/>
          <p:cNvSpPr/>
          <p:nvPr/>
        </p:nvSpPr>
        <p:spPr>
          <a:xfrm>
            <a:off x="5669280" y="3886200"/>
            <a:ext cx="3017520" cy="5486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8" name="Text 4"/>
          <p:cNvSpPr/>
          <p:nvPr/>
        </p:nvSpPr>
        <p:spPr>
          <a:xfrm>
            <a:off x="5806440" y="3950208"/>
            <a:ext cx="2743200" cy="411480"/>
          </a:xfrm>
          <a:prstGeom prst="rect">
            <a:avLst/>
          </a:prstGeom>
          <a:noFill/>
          <a:ln/>
        </p:spPr>
        <p:txBody>
          <a:bodyPr wrap="square" rtlCol="0" anchor="ctr"/>
          <a:lstStyle/>
          <a:p>
            <a:pPr indent="0" marL="0">
              <a:buNone/>
            </a:pPr>
            <a:r>
              <a:rPr lang="en-US" sz="800" dirty="0">
                <a:solidFill>
                  <a:srgbClr val="E8F0FE"/>
                </a:solidFill>
                <a:latin typeface="Arial" pitchFamily="34" charset="0"/>
                <a:ea typeface="Arial" pitchFamily="34" charset="-122"/>
                <a:cs typeface="Arial" pitchFamily="34" charset="-120"/>
              </a:rPr>
              <a:t>73% of workforce is US-based. Engineering (Frontend + Backend) represents 53% of total headcount, reflecting the company's tech-first DNA.</a:t>
            </a:r>
            <a:endParaRPr lang="en-US" sz="800" dirty="0"/>
          </a:p>
        </p:txBody>
      </p:sp>
      <p:sp>
        <p:nvSpPr>
          <p:cNvPr id="9" name="Shape 5"/>
          <p:cNvSpPr/>
          <p:nvPr/>
        </p:nvSpPr>
        <p:spPr>
          <a:xfrm>
            <a:off x="0" y="4709160"/>
            <a:ext cx="9144000" cy="434340"/>
          </a:xfrm>
          <a:prstGeom prst="rect">
            <a:avLst/>
          </a:prstGeom>
          <a:solidFill>
            <a:srgbClr val="141E30"/>
          </a:solidFill>
          <a:ln/>
        </p:spPr>
      </p:sp>
      <p:sp>
        <p:nvSpPr>
          <p:cNvPr id="10" name="Text 6"/>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11" name="Text 7"/>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03. Compensation Analysis</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Compensation &amp; Pay Equity</a:t>
            </a:r>
            <a:endParaRPr lang="en-US" sz="2600" dirty="0"/>
          </a:p>
        </p:txBody>
      </p:sp>
      <p:sp>
        <p:nvSpPr>
          <p:cNvPr id="5" name="Shape 3"/>
          <p:cNvSpPr/>
          <p:nvPr/>
        </p:nvSpPr>
        <p:spPr>
          <a:xfrm>
            <a:off x="45720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AVG BASE SALARY</a:t>
            </a:r>
            <a:endParaRPr lang="en-US" sz="700" dirty="0"/>
          </a:p>
        </p:txBody>
      </p:sp>
      <p:sp>
        <p:nvSpPr>
          <p:cNvPr id="8" name="Text 6"/>
          <p:cNvSpPr/>
          <p:nvPr/>
        </p:nvSpPr>
        <p:spPr>
          <a:xfrm>
            <a:off x="64008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$117,135</a:t>
            </a:r>
            <a:endParaRPr lang="en-US" sz="2000" dirty="0"/>
          </a:p>
        </p:txBody>
      </p:sp>
      <p:sp>
        <p:nvSpPr>
          <p:cNvPr id="9" name="Text 7"/>
          <p:cNvSpPr/>
          <p:nvPr/>
        </p:nvSpPr>
        <p:spPr>
          <a:xfrm>
            <a:off x="640080" y="1783080"/>
            <a:ext cx="237744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$221M total cost</a:t>
            </a:r>
            <a:endParaRPr lang="en-US" sz="800" dirty="0"/>
          </a:p>
        </p:txBody>
      </p:sp>
      <p:sp>
        <p:nvSpPr>
          <p:cNvPr id="10" name="Shape 8"/>
          <p:cNvSpPr/>
          <p:nvPr/>
        </p:nvSpPr>
        <p:spPr>
          <a:xfrm>
            <a:off x="329184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3291840" y="1188720"/>
            <a:ext cx="54864" cy="777240"/>
          </a:xfrm>
          <a:prstGeom prst="rect">
            <a:avLst/>
          </a:prstGeom>
          <a:solidFill>
            <a:srgbClr val="00D4FF"/>
          </a:solidFill>
          <a:ln/>
        </p:spPr>
      </p:sp>
      <p:sp>
        <p:nvSpPr>
          <p:cNvPr id="12" name="Text 10"/>
          <p:cNvSpPr/>
          <p:nvPr/>
        </p:nvSpPr>
        <p:spPr>
          <a:xfrm>
            <a:off x="347472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SALARY RANGE</a:t>
            </a:r>
            <a:endParaRPr lang="en-US" sz="700" dirty="0"/>
          </a:p>
        </p:txBody>
      </p:sp>
      <p:sp>
        <p:nvSpPr>
          <p:cNvPr id="13" name="Text 11"/>
          <p:cNvSpPr/>
          <p:nvPr/>
        </p:nvSpPr>
        <p:spPr>
          <a:xfrm>
            <a:off x="347472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$52K–$578K</a:t>
            </a:r>
            <a:endParaRPr lang="en-US" sz="2000" dirty="0"/>
          </a:p>
        </p:txBody>
      </p:sp>
      <p:sp>
        <p:nvSpPr>
          <p:cNvPr id="14" name="Text 12"/>
          <p:cNvSpPr/>
          <p:nvPr/>
        </p:nvSpPr>
        <p:spPr>
          <a:xfrm>
            <a:off x="3474720" y="1783080"/>
            <a:ext cx="237744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Across all grades</a:t>
            </a:r>
            <a:endParaRPr lang="en-US" sz="800" dirty="0"/>
          </a:p>
        </p:txBody>
      </p:sp>
      <p:sp>
        <p:nvSpPr>
          <p:cNvPr id="15" name="Shape 13"/>
          <p:cNvSpPr/>
          <p:nvPr/>
        </p:nvSpPr>
        <p:spPr>
          <a:xfrm>
            <a:off x="612648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188720"/>
            <a:ext cx="54864" cy="777240"/>
          </a:xfrm>
          <a:prstGeom prst="rect">
            <a:avLst/>
          </a:prstGeom>
          <a:solidFill>
            <a:srgbClr val="00D4FF"/>
          </a:solidFill>
          <a:ln/>
        </p:spPr>
      </p:sp>
      <p:sp>
        <p:nvSpPr>
          <p:cNvPr id="17" name="Text 15"/>
          <p:cNvSpPr/>
          <p:nvPr/>
        </p:nvSpPr>
        <p:spPr>
          <a:xfrm>
            <a:off x="630936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GENDER PAY GAP</a:t>
            </a:r>
            <a:endParaRPr lang="en-US" sz="700" dirty="0"/>
          </a:p>
        </p:txBody>
      </p:sp>
      <p:sp>
        <p:nvSpPr>
          <p:cNvPr id="18" name="Text 16"/>
          <p:cNvSpPr/>
          <p:nvPr/>
        </p:nvSpPr>
        <p:spPr>
          <a:xfrm>
            <a:off x="630936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-1.4%</a:t>
            </a:r>
            <a:endParaRPr lang="en-US" sz="2000" dirty="0"/>
          </a:p>
        </p:txBody>
      </p:sp>
      <p:sp>
        <p:nvSpPr>
          <p:cNvPr id="19" name="Text 17"/>
          <p:cNvSpPr/>
          <p:nvPr/>
        </p:nvSpPr>
        <p:spPr>
          <a:xfrm>
            <a:off x="6309360" y="1783080"/>
            <a:ext cx="237744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Female avg slightly higher</a:t>
            </a:r>
            <a:endParaRPr lang="en-US" sz="800" dirty="0"/>
          </a:p>
        </p:txBody>
      </p:sp>
      <p:graphicFrame>
        <p:nvGraphicFramePr>
          <p:cNvPr id="20" name="Chart 0" descr=""/>
          <p:cNvGraphicFramePr/>
          <p:nvPr/>
        </p:nvGraphicFramePr>
        <p:xfrm>
          <a:off x="457200" y="2148840"/>
          <a:ext cx="457200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Chart 1" descr=""/>
          <p:cNvGraphicFramePr/>
          <p:nvPr/>
        </p:nvGraphicFramePr>
        <p:xfrm>
          <a:off x="5212080" y="2148840"/>
          <a:ext cx="3474720" cy="228600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0" y="4709160"/>
            <a:ext cx="9144000" cy="434340"/>
          </a:xfrm>
          <a:prstGeom prst="rect">
            <a:avLst/>
          </a:prstGeom>
          <a:solidFill>
            <a:srgbClr val="141E30"/>
          </a:solidFill>
          <a:ln/>
        </p:spPr>
      </p:sp>
      <p:sp>
        <p:nvSpPr>
          <p:cNvPr id="23" name="Text 19"/>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24" name="Text 20"/>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04. Performance Management</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Performance &amp; Goal Attainment</a:t>
            </a:r>
            <a:endParaRPr lang="en-US" sz="2600" dirty="0"/>
          </a:p>
        </p:txBody>
      </p:sp>
      <p:sp>
        <p:nvSpPr>
          <p:cNvPr id="5" name="Shape 3"/>
          <p:cNvSpPr/>
          <p:nvPr/>
        </p:nvSpPr>
        <p:spPr>
          <a:xfrm>
            <a:off x="45720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TOTAL REVIEWS</a:t>
            </a:r>
            <a:endParaRPr lang="en-US" sz="700" dirty="0"/>
          </a:p>
        </p:txBody>
      </p:sp>
      <p:sp>
        <p:nvSpPr>
          <p:cNvPr id="8" name="Text 6"/>
          <p:cNvSpPr/>
          <p:nvPr/>
        </p:nvSpPr>
        <p:spPr>
          <a:xfrm>
            <a:off x="64008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1,249</a:t>
            </a:r>
            <a:endParaRPr lang="en-US" sz="2000" dirty="0"/>
          </a:p>
        </p:txBody>
      </p:sp>
      <p:sp>
        <p:nvSpPr>
          <p:cNvPr id="9" name="Text 7"/>
          <p:cNvSpPr/>
          <p:nvPr/>
        </p:nvSpPr>
        <p:spPr>
          <a:xfrm>
            <a:off x="64008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2022-2024 cycles</a:t>
            </a:r>
            <a:endParaRPr lang="en-US" sz="800" dirty="0"/>
          </a:p>
        </p:txBody>
      </p:sp>
      <p:sp>
        <p:nvSpPr>
          <p:cNvPr id="10" name="Shape 8"/>
          <p:cNvSpPr/>
          <p:nvPr/>
        </p:nvSpPr>
        <p:spPr>
          <a:xfrm>
            <a:off x="246888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2468880" y="1188720"/>
            <a:ext cx="54864" cy="777240"/>
          </a:xfrm>
          <a:prstGeom prst="rect">
            <a:avLst/>
          </a:prstGeom>
          <a:solidFill>
            <a:srgbClr val="00D4FF"/>
          </a:solidFill>
          <a:ln/>
        </p:spPr>
      </p:sp>
      <p:sp>
        <p:nvSpPr>
          <p:cNvPr id="12" name="Text 10"/>
          <p:cNvSpPr/>
          <p:nvPr/>
        </p:nvSpPr>
        <p:spPr>
          <a:xfrm>
            <a:off x="265176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EXCEEDS EXPECT.</a:t>
            </a:r>
            <a:endParaRPr lang="en-US" sz="700" dirty="0"/>
          </a:p>
        </p:txBody>
      </p:sp>
      <p:sp>
        <p:nvSpPr>
          <p:cNvPr id="13" name="Text 11"/>
          <p:cNvSpPr/>
          <p:nvPr/>
        </p:nvSpPr>
        <p:spPr>
          <a:xfrm>
            <a:off x="265176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43.7%</a:t>
            </a:r>
            <a:endParaRPr lang="en-US" sz="2000" dirty="0"/>
          </a:p>
        </p:txBody>
      </p:sp>
      <p:sp>
        <p:nvSpPr>
          <p:cNvPr id="14" name="Text 12"/>
          <p:cNvSpPr/>
          <p:nvPr/>
        </p:nvSpPr>
        <p:spPr>
          <a:xfrm>
            <a:off x="2651760" y="178308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339 of 775 calibrated</a:t>
            </a:r>
            <a:endParaRPr lang="en-US" sz="800" dirty="0"/>
          </a:p>
        </p:txBody>
      </p:sp>
      <p:sp>
        <p:nvSpPr>
          <p:cNvPr id="15" name="Shape 13"/>
          <p:cNvSpPr/>
          <p:nvPr/>
        </p:nvSpPr>
        <p:spPr>
          <a:xfrm>
            <a:off x="448056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4480560" y="1188720"/>
            <a:ext cx="54864" cy="777240"/>
          </a:xfrm>
          <a:prstGeom prst="rect">
            <a:avLst/>
          </a:prstGeom>
          <a:solidFill>
            <a:srgbClr val="00D4FF"/>
          </a:solidFill>
          <a:ln/>
        </p:spPr>
      </p:sp>
      <p:sp>
        <p:nvSpPr>
          <p:cNvPr id="17" name="Text 15"/>
          <p:cNvSpPr/>
          <p:nvPr/>
        </p:nvSpPr>
        <p:spPr>
          <a:xfrm>
            <a:off x="466344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MEETS EXPECT.</a:t>
            </a:r>
            <a:endParaRPr lang="en-US" sz="700" dirty="0"/>
          </a:p>
        </p:txBody>
      </p:sp>
      <p:sp>
        <p:nvSpPr>
          <p:cNvPr id="18" name="Text 16"/>
          <p:cNvSpPr/>
          <p:nvPr/>
        </p:nvSpPr>
        <p:spPr>
          <a:xfrm>
            <a:off x="466344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46.6%</a:t>
            </a:r>
            <a:endParaRPr lang="en-US" sz="2000" dirty="0"/>
          </a:p>
        </p:txBody>
      </p:sp>
      <p:sp>
        <p:nvSpPr>
          <p:cNvPr id="19" name="Text 17"/>
          <p:cNvSpPr/>
          <p:nvPr/>
        </p:nvSpPr>
        <p:spPr>
          <a:xfrm>
            <a:off x="466344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361 of 775 calibrated</a:t>
            </a:r>
            <a:endParaRPr lang="en-US" sz="800" dirty="0"/>
          </a:p>
        </p:txBody>
      </p:sp>
      <p:sp>
        <p:nvSpPr>
          <p:cNvPr id="20" name="Shape 18"/>
          <p:cNvSpPr/>
          <p:nvPr/>
        </p:nvSpPr>
        <p:spPr>
          <a:xfrm>
            <a:off x="649224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1" name="Shape 19"/>
          <p:cNvSpPr/>
          <p:nvPr/>
        </p:nvSpPr>
        <p:spPr>
          <a:xfrm>
            <a:off x="6492240" y="1188720"/>
            <a:ext cx="54864" cy="777240"/>
          </a:xfrm>
          <a:prstGeom prst="rect">
            <a:avLst/>
          </a:prstGeom>
          <a:solidFill>
            <a:srgbClr val="00D4FF"/>
          </a:solidFill>
          <a:ln/>
        </p:spPr>
      </p:sp>
      <p:sp>
        <p:nvSpPr>
          <p:cNvPr id="22" name="Text 20"/>
          <p:cNvSpPr/>
          <p:nvPr/>
        </p:nvSpPr>
        <p:spPr>
          <a:xfrm>
            <a:off x="667512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BELOW EXPECT.</a:t>
            </a:r>
            <a:endParaRPr lang="en-US" sz="700" dirty="0"/>
          </a:p>
        </p:txBody>
      </p:sp>
      <p:sp>
        <p:nvSpPr>
          <p:cNvPr id="23" name="Text 21"/>
          <p:cNvSpPr/>
          <p:nvPr/>
        </p:nvSpPr>
        <p:spPr>
          <a:xfrm>
            <a:off x="667512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11.0%</a:t>
            </a:r>
            <a:endParaRPr lang="en-US" sz="2000" dirty="0"/>
          </a:p>
        </p:txBody>
      </p:sp>
      <p:sp>
        <p:nvSpPr>
          <p:cNvPr id="24" name="Text 22"/>
          <p:cNvSpPr/>
          <p:nvPr/>
        </p:nvSpPr>
        <p:spPr>
          <a:xfrm>
            <a:off x="6675120" y="178308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85 of 775 calibrated</a:t>
            </a:r>
            <a:endParaRPr lang="en-US" sz="800" dirty="0"/>
          </a:p>
        </p:txBody>
      </p:sp>
      <p:graphicFrame>
        <p:nvGraphicFramePr>
          <p:cNvPr id="25" name="Chart 0" descr=""/>
          <p:cNvGraphicFramePr/>
          <p:nvPr/>
        </p:nvGraphicFramePr>
        <p:xfrm>
          <a:off x="457200" y="2194560"/>
          <a:ext cx="3931920"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Chart 1" descr=""/>
          <p:cNvGraphicFramePr/>
          <p:nvPr/>
        </p:nvGraphicFramePr>
        <p:xfrm>
          <a:off x="4754880" y="2194560"/>
          <a:ext cx="3931920" cy="2103120"/>
        </p:xfrm>
        <a:graphic xmlns:a="http://schemas.openxmlformats.org/drawingml/2006/main">
          <a:graphicData uri="http://schemas.openxmlformats.org/drawingml/2006/chart">
            <c:chart xmlns:c="http://schemas.openxmlformats.org/drawingml/2006/chart" r:id="rId2"/>
          </a:graphicData>
        </a:graphic>
      </p:graphicFrame>
      <p:sp>
        <p:nvSpPr>
          <p:cNvPr id="27" name="Shape 23"/>
          <p:cNvSpPr/>
          <p:nvPr/>
        </p:nvSpPr>
        <p:spPr>
          <a:xfrm>
            <a:off x="0" y="4709160"/>
            <a:ext cx="9144000" cy="434340"/>
          </a:xfrm>
          <a:prstGeom prst="rect">
            <a:avLst/>
          </a:prstGeom>
          <a:solidFill>
            <a:srgbClr val="141E30"/>
          </a:solidFill>
          <a:ln/>
        </p:spPr>
      </p:sp>
      <p:sp>
        <p:nvSpPr>
          <p:cNvPr id="28" name="Text 24"/>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29" name="Text 25"/>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05. Attrition &amp; Retention</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Attrition &amp; Retention Analysis</a:t>
            </a:r>
            <a:endParaRPr lang="en-US" sz="2600" dirty="0"/>
          </a:p>
        </p:txBody>
      </p:sp>
      <p:sp>
        <p:nvSpPr>
          <p:cNvPr id="5" name="Shape 3"/>
          <p:cNvSpPr/>
          <p:nvPr/>
        </p:nvSpPr>
        <p:spPr>
          <a:xfrm>
            <a:off x="45720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TOTAL EXITS</a:t>
            </a:r>
            <a:endParaRPr lang="en-US" sz="700" dirty="0"/>
          </a:p>
        </p:txBody>
      </p:sp>
      <p:sp>
        <p:nvSpPr>
          <p:cNvPr id="8" name="Text 6"/>
          <p:cNvSpPr/>
          <p:nvPr/>
        </p:nvSpPr>
        <p:spPr>
          <a:xfrm>
            <a:off x="64008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113</a:t>
            </a:r>
            <a:endParaRPr lang="en-US" sz="2000" dirty="0"/>
          </a:p>
        </p:txBody>
      </p:sp>
      <p:sp>
        <p:nvSpPr>
          <p:cNvPr id="9" name="Text 7"/>
          <p:cNvSpPr/>
          <p:nvPr/>
        </p:nvSpPr>
        <p:spPr>
          <a:xfrm>
            <a:off x="64008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2021-2025 cumulative</a:t>
            </a:r>
            <a:endParaRPr lang="en-US" sz="800" dirty="0"/>
          </a:p>
        </p:txBody>
      </p:sp>
      <p:sp>
        <p:nvSpPr>
          <p:cNvPr id="10" name="Shape 8"/>
          <p:cNvSpPr/>
          <p:nvPr/>
        </p:nvSpPr>
        <p:spPr>
          <a:xfrm>
            <a:off x="246888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2468880" y="1188720"/>
            <a:ext cx="54864" cy="777240"/>
          </a:xfrm>
          <a:prstGeom prst="rect">
            <a:avLst/>
          </a:prstGeom>
          <a:solidFill>
            <a:srgbClr val="00D4FF"/>
          </a:solidFill>
          <a:ln/>
        </p:spPr>
      </p:sp>
      <p:sp>
        <p:nvSpPr>
          <p:cNvPr id="12" name="Text 10"/>
          <p:cNvSpPr/>
          <p:nvPr/>
        </p:nvSpPr>
        <p:spPr>
          <a:xfrm>
            <a:off x="265176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VOLUNTARY RATE</a:t>
            </a:r>
            <a:endParaRPr lang="en-US" sz="700" dirty="0"/>
          </a:p>
        </p:txBody>
      </p:sp>
      <p:sp>
        <p:nvSpPr>
          <p:cNvPr id="13" name="Text 11"/>
          <p:cNvSpPr/>
          <p:nvPr/>
        </p:nvSpPr>
        <p:spPr>
          <a:xfrm>
            <a:off x="265176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82.3%</a:t>
            </a:r>
            <a:endParaRPr lang="en-US" sz="2000" dirty="0"/>
          </a:p>
        </p:txBody>
      </p:sp>
      <p:sp>
        <p:nvSpPr>
          <p:cNvPr id="14" name="Text 12"/>
          <p:cNvSpPr/>
          <p:nvPr/>
        </p:nvSpPr>
        <p:spPr>
          <a:xfrm>
            <a:off x="2651760" y="178308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93 of 113 exits</a:t>
            </a:r>
            <a:endParaRPr lang="en-US" sz="800" dirty="0"/>
          </a:p>
        </p:txBody>
      </p:sp>
      <p:sp>
        <p:nvSpPr>
          <p:cNvPr id="15" name="Shape 13"/>
          <p:cNvSpPr/>
          <p:nvPr/>
        </p:nvSpPr>
        <p:spPr>
          <a:xfrm>
            <a:off x="448056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4480560" y="1188720"/>
            <a:ext cx="54864" cy="777240"/>
          </a:xfrm>
          <a:prstGeom prst="rect">
            <a:avLst/>
          </a:prstGeom>
          <a:solidFill>
            <a:srgbClr val="00D4FF"/>
          </a:solidFill>
          <a:ln/>
        </p:spPr>
      </p:sp>
      <p:sp>
        <p:nvSpPr>
          <p:cNvPr id="17" name="Text 15"/>
          <p:cNvSpPr/>
          <p:nvPr/>
        </p:nvSpPr>
        <p:spPr>
          <a:xfrm>
            <a:off x="466344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REGRETTABLE</a:t>
            </a:r>
            <a:endParaRPr lang="en-US" sz="700" dirty="0"/>
          </a:p>
        </p:txBody>
      </p:sp>
      <p:sp>
        <p:nvSpPr>
          <p:cNvPr id="18" name="Text 16"/>
          <p:cNvSpPr/>
          <p:nvPr/>
        </p:nvSpPr>
        <p:spPr>
          <a:xfrm>
            <a:off x="466344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44.2%</a:t>
            </a:r>
            <a:endParaRPr lang="en-US" sz="2000" dirty="0"/>
          </a:p>
        </p:txBody>
      </p:sp>
      <p:sp>
        <p:nvSpPr>
          <p:cNvPr id="19" name="Text 17"/>
          <p:cNvSpPr/>
          <p:nvPr/>
        </p:nvSpPr>
        <p:spPr>
          <a:xfrm>
            <a:off x="4663440" y="1783080"/>
            <a:ext cx="1600200" cy="182880"/>
          </a:xfrm>
          <a:prstGeom prst="rect">
            <a:avLst/>
          </a:prstGeom>
          <a:noFill/>
          <a:ln/>
        </p:spPr>
        <p:txBody>
          <a:bodyPr wrap="square" rtlCol="0" anchor="ctr"/>
          <a:lstStyle/>
          <a:p>
            <a:pPr indent="0" marL="0">
              <a:buNone/>
            </a:pPr>
            <a:r>
              <a:rPr lang="en-US" sz="800" dirty="0">
                <a:solidFill>
                  <a:srgbClr val="FF3366"/>
                </a:solidFill>
                <a:latin typeface="Arial" pitchFamily="34" charset="0"/>
                <a:ea typeface="Arial" pitchFamily="34" charset="-122"/>
                <a:cs typeface="Arial" pitchFamily="34" charset="-120"/>
              </a:rPr>
              <a:t>50 high-value exits</a:t>
            </a:r>
            <a:endParaRPr lang="en-US" sz="800" dirty="0"/>
          </a:p>
        </p:txBody>
      </p:sp>
      <p:sp>
        <p:nvSpPr>
          <p:cNvPr id="20" name="Shape 18"/>
          <p:cNvSpPr/>
          <p:nvPr/>
        </p:nvSpPr>
        <p:spPr>
          <a:xfrm>
            <a:off x="649224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1" name="Shape 19"/>
          <p:cNvSpPr/>
          <p:nvPr/>
        </p:nvSpPr>
        <p:spPr>
          <a:xfrm>
            <a:off x="6492240" y="1188720"/>
            <a:ext cx="54864" cy="777240"/>
          </a:xfrm>
          <a:prstGeom prst="rect">
            <a:avLst/>
          </a:prstGeom>
          <a:solidFill>
            <a:srgbClr val="00D4FF"/>
          </a:solidFill>
          <a:ln/>
        </p:spPr>
      </p:sp>
      <p:sp>
        <p:nvSpPr>
          <p:cNvPr id="22" name="Text 20"/>
          <p:cNvSpPr/>
          <p:nvPr/>
        </p:nvSpPr>
        <p:spPr>
          <a:xfrm>
            <a:off x="667512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TOP EXIT REASON</a:t>
            </a:r>
            <a:endParaRPr lang="en-US" sz="700" dirty="0"/>
          </a:p>
        </p:txBody>
      </p:sp>
      <p:sp>
        <p:nvSpPr>
          <p:cNvPr id="23" name="Text 21"/>
          <p:cNvSpPr/>
          <p:nvPr/>
        </p:nvSpPr>
        <p:spPr>
          <a:xfrm>
            <a:off x="667512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Mgmt</a:t>
            </a:r>
            <a:endParaRPr lang="en-US" sz="2000" dirty="0"/>
          </a:p>
        </p:txBody>
      </p:sp>
      <p:sp>
        <p:nvSpPr>
          <p:cNvPr id="24" name="Text 22"/>
          <p:cNvSpPr/>
          <p:nvPr/>
        </p:nvSpPr>
        <p:spPr>
          <a:xfrm>
            <a:off x="6675120" y="178308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23 exits (20.4%)</a:t>
            </a:r>
            <a:endParaRPr lang="en-US" sz="800" dirty="0"/>
          </a:p>
        </p:txBody>
      </p:sp>
      <p:graphicFrame>
        <p:nvGraphicFramePr>
          <p:cNvPr id="25" name="Chart 0" descr=""/>
          <p:cNvGraphicFramePr/>
          <p:nvPr/>
        </p:nvGraphicFramePr>
        <p:xfrm>
          <a:off x="457200" y="2194560"/>
          <a:ext cx="4572000" cy="228600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5212080" y="2194560"/>
            <a:ext cx="3474720" cy="228600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7" name="Text 24"/>
          <p:cNvSpPr/>
          <p:nvPr/>
        </p:nvSpPr>
        <p:spPr>
          <a:xfrm>
            <a:off x="5394960" y="2286000"/>
            <a:ext cx="3017520" cy="228600"/>
          </a:xfrm>
          <a:prstGeom prst="rect">
            <a:avLst/>
          </a:prstGeom>
          <a:noFill/>
          <a:ln/>
        </p:spPr>
        <p:txBody>
          <a:bodyPr wrap="square" rtlCol="0" anchor="ctr"/>
          <a:lstStyle/>
          <a:p>
            <a:pPr indent="0" marL="0">
              <a:buNone/>
            </a:pPr>
            <a:r>
              <a:rPr lang="en-US" sz="1000" b="1" dirty="0">
                <a:solidFill>
                  <a:srgbClr val="00D4FF"/>
                </a:solidFill>
                <a:latin typeface="Arial" pitchFamily="34" charset="0"/>
                <a:ea typeface="Arial" pitchFamily="34" charset="-122"/>
                <a:cs typeface="Arial" pitchFamily="34" charset="-120"/>
              </a:rPr>
              <a:t>2024 EXIT DEEP-DIVE</a:t>
            </a:r>
            <a:endParaRPr lang="en-US" sz="1000" dirty="0"/>
          </a:p>
        </p:txBody>
      </p:sp>
      <p:sp>
        <p:nvSpPr>
          <p:cNvPr id="28" name="Text 25"/>
          <p:cNvSpPr/>
          <p:nvPr/>
        </p:nvSpPr>
        <p:spPr>
          <a:xfrm>
            <a:off x="5394960" y="2560320"/>
            <a:ext cx="3017520" cy="1828800"/>
          </a:xfrm>
          <a:prstGeom prst="rect">
            <a:avLst/>
          </a:prstGeom>
          <a:noFill/>
          <a:ln/>
        </p:spPr>
        <p:txBody>
          <a:bodyPr wrap="square" rtlCol="0" anchor="t"/>
          <a:lstStyle/>
          <a:p>
            <a:pPr indent="0" marL="0">
              <a:buNone/>
            </a:pPr>
            <a:r>
              <a:rPr lang="en-US" sz="1100" b="1" dirty="0">
                <a:solidFill>
                  <a:srgbClr val="E8F0FE"/>
                </a:solidFill>
                <a:latin typeface="Arial" pitchFamily="34" charset="0"/>
                <a:ea typeface="Arial" pitchFamily="34" charset="-122"/>
                <a:cs typeface="Arial" pitchFamily="34" charset="-120"/>
              </a:rPr>
              <a:t>15 total exits</a:t>
            </a:r>
            <a:endParaRPr lang="en-US" sz="1100" dirty="0"/>
          </a:p>
          <a:p>
            <a:pPr indent="0" marL="0">
              <a:buNone/>
            </a:pPr>
            <a:r>
              <a:rPr lang="en-US" sz="900" dirty="0">
                <a:solidFill>
                  <a:srgbClr val="8B95A5"/>
                </a:solidFill>
                <a:latin typeface="Arial" pitchFamily="34" charset="0"/>
                <a:ea typeface="Arial" pitchFamily="34" charset="-122"/>
                <a:cs typeface="Arial" pitchFamily="34" charset="-120"/>
              </a:rPr>
              <a:t>All voluntary — zero involuntary terminations</a:t>
            </a:r>
            <a:endParaRPr lang="en-US" sz="1100" dirty="0"/>
          </a:p>
          <a:p>
            <a:pPr indent="0" marL="0">
              <a:buNone/>
            </a:pPr>
            <a:endParaRPr lang="en-US" sz="1100" dirty="0"/>
          </a:p>
          <a:p>
            <a:pPr indent="0" marL="0">
              <a:buNone/>
            </a:pPr>
            <a:r>
              <a:rPr lang="en-US" sz="900" dirty="0">
                <a:solidFill>
                  <a:srgbClr val="E8F0FE"/>
                </a:solidFill>
                <a:latin typeface="Arial" pitchFamily="34" charset="0"/>
                <a:ea typeface="Arial" pitchFamily="34" charset="-122"/>
                <a:cs typeface="Arial" pitchFamily="34" charset="-120"/>
              </a:rPr>
              <a:t>Compensation:  9 exits (60%)</a:t>
            </a:r>
            <a:endParaRPr lang="en-US" sz="1100" dirty="0"/>
          </a:p>
          <a:p>
            <a:pPr indent="0" marL="0">
              <a:buNone/>
            </a:pPr>
            <a:r>
              <a:rPr lang="en-US" sz="900" dirty="0">
                <a:solidFill>
                  <a:srgbClr val="E8F0FE"/>
                </a:solidFill>
                <a:latin typeface="Arial" pitchFamily="34" charset="0"/>
                <a:ea typeface="Arial" pitchFamily="34" charset="-122"/>
                <a:cs typeface="Arial" pitchFamily="34" charset="-120"/>
              </a:rPr>
              <a:t>Management:    3 exits (20%)</a:t>
            </a:r>
            <a:endParaRPr lang="en-US" sz="1100" dirty="0"/>
          </a:p>
          <a:p>
            <a:pPr indent="0" marL="0">
              <a:buNone/>
            </a:pPr>
            <a:r>
              <a:rPr lang="en-US" sz="900" dirty="0">
                <a:solidFill>
                  <a:srgbClr val="E8F0FE"/>
                </a:solidFill>
                <a:latin typeface="Arial" pitchFamily="34" charset="0"/>
                <a:ea typeface="Arial" pitchFamily="34" charset="-122"/>
                <a:cs typeface="Arial" pitchFamily="34" charset="-120"/>
              </a:rPr>
              <a:t>Personal:      2 exits (13%)</a:t>
            </a:r>
            <a:endParaRPr lang="en-US" sz="1100" dirty="0"/>
          </a:p>
          <a:p>
            <a:pPr indent="0" marL="0">
              <a:buNone/>
            </a:pPr>
            <a:r>
              <a:rPr lang="en-US" sz="900" dirty="0">
                <a:solidFill>
                  <a:srgbClr val="E8F0FE"/>
                </a:solidFill>
                <a:latin typeface="Arial" pitchFamily="34" charset="0"/>
                <a:ea typeface="Arial" pitchFamily="34" charset="-122"/>
                <a:cs typeface="Arial" pitchFamily="34" charset="-120"/>
              </a:rPr>
              <a:t>Career Growth: 1 exit  (7%)</a:t>
            </a:r>
            <a:endParaRPr lang="en-US" sz="1100" dirty="0"/>
          </a:p>
          <a:p>
            <a:pPr indent="0" marL="0">
              <a:buNone/>
            </a:pPr>
            <a:endParaRPr lang="en-US" sz="1100" dirty="0"/>
          </a:p>
          <a:p>
            <a:pPr indent="0" marL="0">
              <a:buNone/>
            </a:pPr>
            <a:r>
              <a:rPr lang="en-US" sz="1000" b="1" dirty="0">
                <a:solidFill>
                  <a:srgbClr val="F59E0B"/>
                </a:solidFill>
                <a:latin typeface="Arial" pitchFamily="34" charset="0"/>
                <a:ea typeface="Arial" pitchFamily="34" charset="-122"/>
                <a:cs typeface="Arial" pitchFamily="34" charset="-120"/>
              </a:rPr>
              <a:t>Regrettable: 12 of 15 (80%)</a:t>
            </a:r>
            <a:endParaRPr lang="en-US" sz="1100" dirty="0"/>
          </a:p>
          <a:p>
            <a:pPr indent="0" marL="0">
              <a:buNone/>
            </a:pPr>
            <a:endParaRPr lang="en-US" sz="1100" dirty="0"/>
          </a:p>
          <a:p>
            <a:pPr indent="0" marL="0">
              <a:buNone/>
            </a:pPr>
            <a:r>
              <a:rPr lang="en-US" sz="800" i="1" dirty="0">
                <a:solidFill>
                  <a:srgbClr val="8B95A5"/>
                </a:solidFill>
                <a:latin typeface="Arial" pitchFamily="34" charset="0"/>
                <a:ea typeface="Arial" pitchFamily="34" charset="-122"/>
                <a:cs typeface="Arial" pitchFamily="34" charset="-120"/>
              </a:rPr>
              <a:t>The sharp rise in compensation-driven exits (from 20% in 2023 to 60% in 2024) is the single most urgent finding in this report.</a:t>
            </a:r>
            <a:endParaRPr lang="en-US" sz="1100" dirty="0"/>
          </a:p>
        </p:txBody>
      </p:sp>
      <p:sp>
        <p:nvSpPr>
          <p:cNvPr id="29" name="Shape 26"/>
          <p:cNvSpPr/>
          <p:nvPr/>
        </p:nvSpPr>
        <p:spPr>
          <a:xfrm>
            <a:off x="0" y="4709160"/>
            <a:ext cx="9144000" cy="434340"/>
          </a:xfrm>
          <a:prstGeom prst="rect">
            <a:avLst/>
          </a:prstGeom>
          <a:solidFill>
            <a:srgbClr val="141E30"/>
          </a:solidFill>
          <a:ln/>
        </p:spPr>
      </p:sp>
      <p:sp>
        <p:nvSpPr>
          <p:cNvPr id="30" name="Text 27"/>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31" name="Text 28"/>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06. Recruiting Pipeline</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Recruiting Pipeline &amp; Source Effectiveness</a:t>
            </a:r>
            <a:endParaRPr lang="en-US" sz="2600" dirty="0"/>
          </a:p>
        </p:txBody>
      </p:sp>
      <p:sp>
        <p:nvSpPr>
          <p:cNvPr id="5" name="Shape 3"/>
          <p:cNvSpPr/>
          <p:nvPr/>
        </p:nvSpPr>
        <p:spPr>
          <a:xfrm>
            <a:off x="457200" y="1188720"/>
            <a:ext cx="160020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132588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REQUISITIONS</a:t>
            </a:r>
            <a:endParaRPr lang="en-US" sz="700" dirty="0"/>
          </a:p>
        </p:txBody>
      </p:sp>
      <p:sp>
        <p:nvSpPr>
          <p:cNvPr id="8" name="Text 6"/>
          <p:cNvSpPr/>
          <p:nvPr/>
        </p:nvSpPr>
        <p:spPr>
          <a:xfrm>
            <a:off x="640080" y="1463040"/>
            <a:ext cx="132588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50</a:t>
            </a:r>
            <a:endParaRPr lang="en-US" sz="2000" dirty="0"/>
          </a:p>
        </p:txBody>
      </p:sp>
      <p:sp>
        <p:nvSpPr>
          <p:cNvPr id="9" name="Text 7"/>
          <p:cNvSpPr/>
          <p:nvPr/>
        </p:nvSpPr>
        <p:spPr>
          <a:xfrm>
            <a:off x="640080" y="1783080"/>
            <a:ext cx="132588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10 open, 30 filled</a:t>
            </a:r>
            <a:endParaRPr lang="en-US" sz="800" dirty="0"/>
          </a:p>
        </p:txBody>
      </p:sp>
      <p:sp>
        <p:nvSpPr>
          <p:cNvPr id="10" name="Shape 8"/>
          <p:cNvSpPr/>
          <p:nvPr/>
        </p:nvSpPr>
        <p:spPr>
          <a:xfrm>
            <a:off x="2194560" y="1188720"/>
            <a:ext cx="160020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2194560" y="1188720"/>
            <a:ext cx="54864" cy="777240"/>
          </a:xfrm>
          <a:prstGeom prst="rect">
            <a:avLst/>
          </a:prstGeom>
          <a:solidFill>
            <a:srgbClr val="00D4FF"/>
          </a:solidFill>
          <a:ln/>
        </p:spPr>
      </p:sp>
      <p:sp>
        <p:nvSpPr>
          <p:cNvPr id="12" name="Text 10"/>
          <p:cNvSpPr/>
          <p:nvPr/>
        </p:nvSpPr>
        <p:spPr>
          <a:xfrm>
            <a:off x="2377440" y="1261872"/>
            <a:ext cx="132588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APPLICATIONS</a:t>
            </a:r>
            <a:endParaRPr lang="en-US" sz="700" dirty="0"/>
          </a:p>
        </p:txBody>
      </p:sp>
      <p:sp>
        <p:nvSpPr>
          <p:cNvPr id="13" name="Text 11"/>
          <p:cNvSpPr/>
          <p:nvPr/>
        </p:nvSpPr>
        <p:spPr>
          <a:xfrm>
            <a:off x="2377440" y="1463040"/>
            <a:ext cx="132588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421</a:t>
            </a:r>
            <a:endParaRPr lang="en-US" sz="2000" dirty="0"/>
          </a:p>
        </p:txBody>
      </p:sp>
      <p:sp>
        <p:nvSpPr>
          <p:cNvPr id="14" name="Text 12"/>
          <p:cNvSpPr/>
          <p:nvPr/>
        </p:nvSpPr>
        <p:spPr>
          <a:xfrm>
            <a:off x="2377440" y="1783080"/>
            <a:ext cx="132588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8.4 per req</a:t>
            </a:r>
            <a:endParaRPr lang="en-US" sz="800" dirty="0"/>
          </a:p>
        </p:txBody>
      </p:sp>
      <p:sp>
        <p:nvSpPr>
          <p:cNvPr id="15" name="Shape 13"/>
          <p:cNvSpPr/>
          <p:nvPr/>
        </p:nvSpPr>
        <p:spPr>
          <a:xfrm>
            <a:off x="3931920" y="1188720"/>
            <a:ext cx="160020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3931920" y="1188720"/>
            <a:ext cx="54864" cy="777240"/>
          </a:xfrm>
          <a:prstGeom prst="rect">
            <a:avLst/>
          </a:prstGeom>
          <a:solidFill>
            <a:srgbClr val="00D4FF"/>
          </a:solidFill>
          <a:ln/>
        </p:spPr>
      </p:sp>
      <p:sp>
        <p:nvSpPr>
          <p:cNvPr id="17" name="Text 15"/>
          <p:cNvSpPr/>
          <p:nvPr/>
        </p:nvSpPr>
        <p:spPr>
          <a:xfrm>
            <a:off x="4114800" y="1261872"/>
            <a:ext cx="132588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HIRED</a:t>
            </a:r>
            <a:endParaRPr lang="en-US" sz="700" dirty="0"/>
          </a:p>
        </p:txBody>
      </p:sp>
      <p:sp>
        <p:nvSpPr>
          <p:cNvPr id="18" name="Text 16"/>
          <p:cNvSpPr/>
          <p:nvPr/>
        </p:nvSpPr>
        <p:spPr>
          <a:xfrm>
            <a:off x="4114800" y="1463040"/>
            <a:ext cx="132588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89</a:t>
            </a:r>
            <a:endParaRPr lang="en-US" sz="2000" dirty="0"/>
          </a:p>
        </p:txBody>
      </p:sp>
      <p:sp>
        <p:nvSpPr>
          <p:cNvPr id="19" name="Text 17"/>
          <p:cNvSpPr/>
          <p:nvPr/>
        </p:nvSpPr>
        <p:spPr>
          <a:xfrm>
            <a:off x="4114800" y="1783080"/>
            <a:ext cx="132588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21.1% conversion</a:t>
            </a:r>
            <a:endParaRPr lang="en-US" sz="800" dirty="0"/>
          </a:p>
        </p:txBody>
      </p:sp>
      <p:sp>
        <p:nvSpPr>
          <p:cNvPr id="20" name="Shape 18"/>
          <p:cNvSpPr/>
          <p:nvPr/>
        </p:nvSpPr>
        <p:spPr>
          <a:xfrm>
            <a:off x="5669280" y="1188720"/>
            <a:ext cx="160020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1" name="Shape 19"/>
          <p:cNvSpPr/>
          <p:nvPr/>
        </p:nvSpPr>
        <p:spPr>
          <a:xfrm>
            <a:off x="5669280" y="1188720"/>
            <a:ext cx="54864" cy="777240"/>
          </a:xfrm>
          <a:prstGeom prst="rect">
            <a:avLst/>
          </a:prstGeom>
          <a:solidFill>
            <a:srgbClr val="00D4FF"/>
          </a:solidFill>
          <a:ln/>
        </p:spPr>
      </p:sp>
      <p:sp>
        <p:nvSpPr>
          <p:cNvPr id="22" name="Text 20"/>
          <p:cNvSpPr/>
          <p:nvPr/>
        </p:nvSpPr>
        <p:spPr>
          <a:xfrm>
            <a:off x="5852160" y="1261872"/>
            <a:ext cx="132588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OFFER ACCEPT</a:t>
            </a:r>
            <a:endParaRPr lang="en-US" sz="700" dirty="0"/>
          </a:p>
        </p:txBody>
      </p:sp>
      <p:sp>
        <p:nvSpPr>
          <p:cNvPr id="23" name="Text 21"/>
          <p:cNvSpPr/>
          <p:nvPr/>
        </p:nvSpPr>
        <p:spPr>
          <a:xfrm>
            <a:off x="5852160" y="1463040"/>
            <a:ext cx="132588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81.7%</a:t>
            </a:r>
            <a:endParaRPr lang="en-US" sz="2000" dirty="0"/>
          </a:p>
        </p:txBody>
      </p:sp>
      <p:sp>
        <p:nvSpPr>
          <p:cNvPr id="24" name="Text 22"/>
          <p:cNvSpPr/>
          <p:nvPr/>
        </p:nvSpPr>
        <p:spPr>
          <a:xfrm>
            <a:off x="5852160" y="1783080"/>
            <a:ext cx="132588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89 of 109 offers</a:t>
            </a:r>
            <a:endParaRPr lang="en-US" sz="800" dirty="0"/>
          </a:p>
        </p:txBody>
      </p:sp>
      <p:sp>
        <p:nvSpPr>
          <p:cNvPr id="25" name="Shape 23"/>
          <p:cNvSpPr/>
          <p:nvPr/>
        </p:nvSpPr>
        <p:spPr>
          <a:xfrm>
            <a:off x="7406640" y="1188720"/>
            <a:ext cx="14173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6" name="Shape 24"/>
          <p:cNvSpPr/>
          <p:nvPr/>
        </p:nvSpPr>
        <p:spPr>
          <a:xfrm>
            <a:off x="7406640" y="1188720"/>
            <a:ext cx="54864" cy="777240"/>
          </a:xfrm>
          <a:prstGeom prst="rect">
            <a:avLst/>
          </a:prstGeom>
          <a:solidFill>
            <a:srgbClr val="00D4FF"/>
          </a:solidFill>
          <a:ln/>
        </p:spPr>
      </p:sp>
      <p:sp>
        <p:nvSpPr>
          <p:cNvPr id="27" name="Text 25"/>
          <p:cNvSpPr/>
          <p:nvPr/>
        </p:nvSpPr>
        <p:spPr>
          <a:xfrm>
            <a:off x="7589520" y="1261872"/>
            <a:ext cx="11430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AVG OFFER</a:t>
            </a:r>
            <a:endParaRPr lang="en-US" sz="700" dirty="0"/>
          </a:p>
        </p:txBody>
      </p:sp>
      <p:sp>
        <p:nvSpPr>
          <p:cNvPr id="28" name="Text 26"/>
          <p:cNvSpPr/>
          <p:nvPr/>
        </p:nvSpPr>
        <p:spPr>
          <a:xfrm>
            <a:off x="7589520" y="1463040"/>
            <a:ext cx="11430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$130K</a:t>
            </a:r>
            <a:endParaRPr lang="en-US" sz="2000" dirty="0"/>
          </a:p>
        </p:txBody>
      </p:sp>
      <p:sp>
        <p:nvSpPr>
          <p:cNvPr id="29" name="Text 27"/>
          <p:cNvSpPr/>
          <p:nvPr/>
        </p:nvSpPr>
        <p:spPr>
          <a:xfrm>
            <a:off x="7589520" y="1783080"/>
            <a:ext cx="11430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Market competitive</a:t>
            </a:r>
            <a:endParaRPr lang="en-US" sz="800" dirty="0"/>
          </a:p>
        </p:txBody>
      </p:sp>
      <p:graphicFrame>
        <p:nvGraphicFramePr>
          <p:cNvPr id="30" name="Chart 0" descr=""/>
          <p:cNvGraphicFramePr/>
          <p:nvPr/>
        </p:nvGraphicFramePr>
        <p:xfrm>
          <a:off x="457200" y="2148840"/>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Chart 1" descr=""/>
          <p:cNvGraphicFramePr/>
          <p:nvPr/>
        </p:nvGraphicFramePr>
        <p:xfrm>
          <a:off x="4754880" y="2148840"/>
          <a:ext cx="3931920" cy="2286000"/>
        </p:xfrm>
        <a:graphic xmlns:a="http://schemas.openxmlformats.org/drawingml/2006/main">
          <a:graphicData uri="http://schemas.openxmlformats.org/drawingml/2006/chart">
            <c:chart xmlns:c="http://schemas.openxmlformats.org/drawingml/2006/chart" r:id="rId2"/>
          </a:graphicData>
        </a:graphic>
      </p:graphicFrame>
      <p:sp>
        <p:nvSpPr>
          <p:cNvPr id="32" name="Shape 28"/>
          <p:cNvSpPr/>
          <p:nvPr/>
        </p:nvSpPr>
        <p:spPr>
          <a:xfrm>
            <a:off x="0" y="4709160"/>
            <a:ext cx="9144000" cy="434340"/>
          </a:xfrm>
          <a:prstGeom prst="rect">
            <a:avLst/>
          </a:prstGeom>
          <a:solidFill>
            <a:srgbClr val="141E30"/>
          </a:solidFill>
          <a:ln/>
        </p:spPr>
      </p:sp>
      <p:sp>
        <p:nvSpPr>
          <p:cNvPr id="33" name="Text 29"/>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34" name="Text 30"/>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07. Learning &amp; Development</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Learning &amp; Development</a:t>
            </a:r>
            <a:endParaRPr lang="en-US" sz="2600" dirty="0"/>
          </a:p>
        </p:txBody>
      </p:sp>
      <p:sp>
        <p:nvSpPr>
          <p:cNvPr id="5" name="Shape 3"/>
          <p:cNvSpPr/>
          <p:nvPr/>
        </p:nvSpPr>
        <p:spPr>
          <a:xfrm>
            <a:off x="45720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TOTAL ENROLLMENTS</a:t>
            </a:r>
            <a:endParaRPr lang="en-US" sz="700" dirty="0"/>
          </a:p>
        </p:txBody>
      </p:sp>
      <p:sp>
        <p:nvSpPr>
          <p:cNvPr id="8" name="Text 6"/>
          <p:cNvSpPr/>
          <p:nvPr/>
        </p:nvSpPr>
        <p:spPr>
          <a:xfrm>
            <a:off x="64008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1,370</a:t>
            </a:r>
            <a:endParaRPr lang="en-US" sz="2000" dirty="0"/>
          </a:p>
        </p:txBody>
      </p:sp>
      <p:sp>
        <p:nvSpPr>
          <p:cNvPr id="9" name="Text 7"/>
          <p:cNvSpPr/>
          <p:nvPr/>
        </p:nvSpPr>
        <p:spPr>
          <a:xfrm>
            <a:off x="64008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Across 15 programs</a:t>
            </a:r>
            <a:endParaRPr lang="en-US" sz="800" dirty="0"/>
          </a:p>
        </p:txBody>
      </p:sp>
      <p:sp>
        <p:nvSpPr>
          <p:cNvPr id="10" name="Shape 8"/>
          <p:cNvSpPr/>
          <p:nvPr/>
        </p:nvSpPr>
        <p:spPr>
          <a:xfrm>
            <a:off x="246888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2468880" y="1188720"/>
            <a:ext cx="54864" cy="777240"/>
          </a:xfrm>
          <a:prstGeom prst="rect">
            <a:avLst/>
          </a:prstGeom>
          <a:solidFill>
            <a:srgbClr val="00D4FF"/>
          </a:solidFill>
          <a:ln/>
        </p:spPr>
      </p:sp>
      <p:sp>
        <p:nvSpPr>
          <p:cNvPr id="12" name="Text 10"/>
          <p:cNvSpPr/>
          <p:nvPr/>
        </p:nvSpPr>
        <p:spPr>
          <a:xfrm>
            <a:off x="265176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COMPLETION RATE</a:t>
            </a:r>
            <a:endParaRPr lang="en-US" sz="700" dirty="0"/>
          </a:p>
        </p:txBody>
      </p:sp>
      <p:sp>
        <p:nvSpPr>
          <p:cNvPr id="13" name="Text 11"/>
          <p:cNvSpPr/>
          <p:nvPr/>
        </p:nvSpPr>
        <p:spPr>
          <a:xfrm>
            <a:off x="265176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71.2%</a:t>
            </a:r>
            <a:endParaRPr lang="en-US" sz="2000" dirty="0"/>
          </a:p>
        </p:txBody>
      </p:sp>
      <p:sp>
        <p:nvSpPr>
          <p:cNvPr id="14" name="Text 12"/>
          <p:cNvSpPr/>
          <p:nvPr/>
        </p:nvSpPr>
        <p:spPr>
          <a:xfrm>
            <a:off x="2651760" y="178308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977 completed</a:t>
            </a:r>
            <a:endParaRPr lang="en-US" sz="800" dirty="0"/>
          </a:p>
        </p:txBody>
      </p:sp>
      <p:sp>
        <p:nvSpPr>
          <p:cNvPr id="15" name="Shape 13"/>
          <p:cNvSpPr/>
          <p:nvPr/>
        </p:nvSpPr>
        <p:spPr>
          <a:xfrm>
            <a:off x="448056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4480560" y="1188720"/>
            <a:ext cx="54864" cy="777240"/>
          </a:xfrm>
          <a:prstGeom prst="rect">
            <a:avLst/>
          </a:prstGeom>
          <a:solidFill>
            <a:srgbClr val="00D4FF"/>
          </a:solidFill>
          <a:ln/>
        </p:spPr>
      </p:sp>
      <p:sp>
        <p:nvSpPr>
          <p:cNvPr id="17" name="Text 15"/>
          <p:cNvSpPr/>
          <p:nvPr/>
        </p:nvSpPr>
        <p:spPr>
          <a:xfrm>
            <a:off x="466344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OVERDUE RATE</a:t>
            </a:r>
            <a:endParaRPr lang="en-US" sz="700" dirty="0"/>
          </a:p>
        </p:txBody>
      </p:sp>
      <p:sp>
        <p:nvSpPr>
          <p:cNvPr id="18" name="Text 16"/>
          <p:cNvSpPr/>
          <p:nvPr/>
        </p:nvSpPr>
        <p:spPr>
          <a:xfrm>
            <a:off x="466344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22.0%</a:t>
            </a:r>
            <a:endParaRPr lang="en-US" sz="2000" dirty="0"/>
          </a:p>
        </p:txBody>
      </p:sp>
      <p:sp>
        <p:nvSpPr>
          <p:cNvPr id="19" name="Text 17"/>
          <p:cNvSpPr/>
          <p:nvPr/>
        </p:nvSpPr>
        <p:spPr>
          <a:xfrm>
            <a:off x="4663440" y="1783080"/>
            <a:ext cx="160020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301 overdue</a:t>
            </a:r>
            <a:endParaRPr lang="en-US" sz="800" dirty="0"/>
          </a:p>
        </p:txBody>
      </p:sp>
      <p:sp>
        <p:nvSpPr>
          <p:cNvPr id="20" name="Shape 18"/>
          <p:cNvSpPr/>
          <p:nvPr/>
        </p:nvSpPr>
        <p:spPr>
          <a:xfrm>
            <a:off x="649224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1" name="Shape 19"/>
          <p:cNvSpPr/>
          <p:nvPr/>
        </p:nvSpPr>
        <p:spPr>
          <a:xfrm>
            <a:off x="6492240" y="1188720"/>
            <a:ext cx="54864" cy="777240"/>
          </a:xfrm>
          <a:prstGeom prst="rect">
            <a:avLst/>
          </a:prstGeom>
          <a:solidFill>
            <a:srgbClr val="00D4FF"/>
          </a:solidFill>
          <a:ln/>
        </p:spPr>
      </p:sp>
      <p:sp>
        <p:nvSpPr>
          <p:cNvPr id="22" name="Text 20"/>
          <p:cNvSpPr/>
          <p:nvPr/>
        </p:nvSpPr>
        <p:spPr>
          <a:xfrm>
            <a:off x="667512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AVG SCORE</a:t>
            </a:r>
            <a:endParaRPr lang="en-US" sz="700" dirty="0"/>
          </a:p>
        </p:txBody>
      </p:sp>
      <p:sp>
        <p:nvSpPr>
          <p:cNvPr id="23" name="Text 21"/>
          <p:cNvSpPr/>
          <p:nvPr/>
        </p:nvSpPr>
        <p:spPr>
          <a:xfrm>
            <a:off x="667512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84.9%</a:t>
            </a:r>
            <a:endParaRPr lang="en-US" sz="2000" dirty="0"/>
          </a:p>
        </p:txBody>
      </p:sp>
      <p:sp>
        <p:nvSpPr>
          <p:cNvPr id="24" name="Text 22"/>
          <p:cNvSpPr/>
          <p:nvPr/>
        </p:nvSpPr>
        <p:spPr>
          <a:xfrm>
            <a:off x="667512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Across completed</a:t>
            </a:r>
            <a:endParaRPr lang="en-US" sz="800" dirty="0"/>
          </a:p>
        </p:txBody>
      </p:sp>
      <p:graphicFrame>
        <p:nvGraphicFramePr>
          <p:cNvPr id="25" name="Chart 0" descr=""/>
          <p:cNvGraphicFramePr/>
          <p:nvPr/>
        </p:nvGraphicFramePr>
        <p:xfrm>
          <a:off x="457200" y="2148840"/>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Chart 1" descr=""/>
          <p:cNvGraphicFramePr/>
          <p:nvPr/>
        </p:nvGraphicFramePr>
        <p:xfrm>
          <a:off x="4754880" y="2148840"/>
          <a:ext cx="3931920" cy="2286000"/>
        </p:xfrm>
        <a:graphic xmlns:a="http://schemas.openxmlformats.org/drawingml/2006/main">
          <a:graphicData uri="http://schemas.openxmlformats.org/drawingml/2006/chart">
            <c:chart xmlns:c="http://schemas.openxmlformats.org/drawingml/2006/chart" r:id="rId2"/>
          </a:graphicData>
        </a:graphic>
      </p:graphicFrame>
      <p:sp>
        <p:nvSpPr>
          <p:cNvPr id="27" name="Shape 23"/>
          <p:cNvSpPr/>
          <p:nvPr/>
        </p:nvSpPr>
        <p:spPr>
          <a:xfrm>
            <a:off x="0" y="4709160"/>
            <a:ext cx="9144000" cy="434340"/>
          </a:xfrm>
          <a:prstGeom prst="rect">
            <a:avLst/>
          </a:prstGeom>
          <a:solidFill>
            <a:srgbClr val="141E30"/>
          </a:solidFill>
          <a:ln/>
        </p:spPr>
      </p:sp>
      <p:sp>
        <p:nvSpPr>
          <p:cNvPr id="28" name="Text 24"/>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29" name="Text 25"/>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08. Employee Engagement</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Employee Engagement &amp; eNPS</a:t>
            </a:r>
            <a:endParaRPr lang="en-US" sz="2600" dirty="0"/>
          </a:p>
        </p:txBody>
      </p:sp>
      <p:sp>
        <p:nvSpPr>
          <p:cNvPr id="5" name="Shape 3"/>
          <p:cNvSpPr/>
          <p:nvPr/>
        </p:nvSpPr>
        <p:spPr>
          <a:xfrm>
            <a:off x="45720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2024 ENPS SCORE</a:t>
            </a:r>
            <a:endParaRPr lang="en-US" sz="700" dirty="0"/>
          </a:p>
        </p:txBody>
      </p:sp>
      <p:sp>
        <p:nvSpPr>
          <p:cNvPr id="8" name="Text 6"/>
          <p:cNvSpPr/>
          <p:nvPr/>
        </p:nvSpPr>
        <p:spPr>
          <a:xfrm>
            <a:off x="64008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7.62</a:t>
            </a:r>
            <a:endParaRPr lang="en-US" sz="2000" dirty="0"/>
          </a:p>
        </p:txBody>
      </p:sp>
      <p:sp>
        <p:nvSpPr>
          <p:cNvPr id="9" name="Text 7"/>
          <p:cNvSpPr/>
          <p:nvPr/>
        </p:nvSpPr>
        <p:spPr>
          <a:xfrm>
            <a:off x="640080" y="1783080"/>
            <a:ext cx="2377440" cy="182880"/>
          </a:xfrm>
          <a:prstGeom prst="rect">
            <a:avLst/>
          </a:prstGeom>
          <a:noFill/>
          <a:ln/>
        </p:spPr>
        <p:txBody>
          <a:bodyPr wrap="square" rtlCol="0" anchor="ctr"/>
          <a:lstStyle/>
          <a:p>
            <a:pPr indent="0" marL="0">
              <a:buNone/>
            </a:pPr>
            <a:r>
              <a:rPr lang="en-US" sz="800" dirty="0">
                <a:solidFill>
                  <a:srgbClr val="F59E0B"/>
                </a:solidFill>
                <a:latin typeface="Arial" pitchFamily="34" charset="0"/>
                <a:ea typeface="Arial" pitchFamily="34" charset="-122"/>
                <a:cs typeface="Arial" pitchFamily="34" charset="-120"/>
              </a:rPr>
              <a:t>-0.38 vs 2023 (8.00)</a:t>
            </a:r>
            <a:endParaRPr lang="en-US" sz="800" dirty="0"/>
          </a:p>
        </p:txBody>
      </p:sp>
      <p:sp>
        <p:nvSpPr>
          <p:cNvPr id="10" name="Shape 8"/>
          <p:cNvSpPr/>
          <p:nvPr/>
        </p:nvSpPr>
        <p:spPr>
          <a:xfrm>
            <a:off x="329184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3291840" y="1188720"/>
            <a:ext cx="54864" cy="777240"/>
          </a:xfrm>
          <a:prstGeom prst="rect">
            <a:avLst/>
          </a:prstGeom>
          <a:solidFill>
            <a:srgbClr val="00D4FF"/>
          </a:solidFill>
          <a:ln/>
        </p:spPr>
      </p:sp>
      <p:sp>
        <p:nvSpPr>
          <p:cNvPr id="12" name="Text 10"/>
          <p:cNvSpPr/>
          <p:nvPr/>
        </p:nvSpPr>
        <p:spPr>
          <a:xfrm>
            <a:off x="347472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ENGAGEMENT SCORE</a:t>
            </a:r>
            <a:endParaRPr lang="en-US" sz="700" dirty="0"/>
          </a:p>
        </p:txBody>
      </p:sp>
      <p:sp>
        <p:nvSpPr>
          <p:cNvPr id="13" name="Text 11"/>
          <p:cNvSpPr/>
          <p:nvPr/>
        </p:nvSpPr>
        <p:spPr>
          <a:xfrm>
            <a:off x="347472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7.97</a:t>
            </a:r>
            <a:endParaRPr lang="en-US" sz="2000" dirty="0"/>
          </a:p>
        </p:txBody>
      </p:sp>
      <p:sp>
        <p:nvSpPr>
          <p:cNvPr id="14" name="Text 12"/>
          <p:cNvSpPr/>
          <p:nvPr/>
        </p:nvSpPr>
        <p:spPr>
          <a:xfrm>
            <a:off x="3474720" y="1783080"/>
            <a:ext cx="237744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+0.56 vs 2023 (7.41)</a:t>
            </a:r>
            <a:endParaRPr lang="en-US" sz="800" dirty="0"/>
          </a:p>
        </p:txBody>
      </p:sp>
      <p:sp>
        <p:nvSpPr>
          <p:cNvPr id="15" name="Shape 13"/>
          <p:cNvSpPr/>
          <p:nvPr/>
        </p:nvSpPr>
        <p:spPr>
          <a:xfrm>
            <a:off x="6126480" y="1188720"/>
            <a:ext cx="265176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188720"/>
            <a:ext cx="54864" cy="777240"/>
          </a:xfrm>
          <a:prstGeom prst="rect">
            <a:avLst/>
          </a:prstGeom>
          <a:solidFill>
            <a:srgbClr val="00D4FF"/>
          </a:solidFill>
          <a:ln/>
        </p:spPr>
      </p:sp>
      <p:sp>
        <p:nvSpPr>
          <p:cNvPr id="17" name="Text 15"/>
          <p:cNvSpPr/>
          <p:nvPr/>
        </p:nvSpPr>
        <p:spPr>
          <a:xfrm>
            <a:off x="6309360" y="1261872"/>
            <a:ext cx="237744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TOTAL RESPONSES</a:t>
            </a:r>
            <a:endParaRPr lang="en-US" sz="700" dirty="0"/>
          </a:p>
        </p:txBody>
      </p:sp>
      <p:sp>
        <p:nvSpPr>
          <p:cNvPr id="18" name="Text 16"/>
          <p:cNvSpPr/>
          <p:nvPr/>
        </p:nvSpPr>
        <p:spPr>
          <a:xfrm>
            <a:off x="6309360" y="1463040"/>
            <a:ext cx="237744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6,699</a:t>
            </a:r>
            <a:endParaRPr lang="en-US" sz="2000" dirty="0"/>
          </a:p>
        </p:txBody>
      </p:sp>
      <p:sp>
        <p:nvSpPr>
          <p:cNvPr id="19" name="Text 17"/>
          <p:cNvSpPr/>
          <p:nvPr/>
        </p:nvSpPr>
        <p:spPr>
          <a:xfrm>
            <a:off x="6309360" y="1783080"/>
            <a:ext cx="237744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Across 9 campaigns</a:t>
            </a:r>
            <a:endParaRPr lang="en-US" sz="800" dirty="0"/>
          </a:p>
        </p:txBody>
      </p:sp>
      <p:graphicFrame>
        <p:nvGraphicFramePr>
          <p:cNvPr id="20" name="Chart 0" descr=""/>
          <p:cNvGraphicFramePr/>
          <p:nvPr/>
        </p:nvGraphicFramePr>
        <p:xfrm>
          <a:off x="457200" y="2148840"/>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Chart 1" descr=""/>
          <p:cNvGraphicFramePr/>
          <p:nvPr/>
        </p:nvGraphicFramePr>
        <p:xfrm>
          <a:off x="4754880" y="2148840"/>
          <a:ext cx="3931920" cy="228600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0" y="4709160"/>
            <a:ext cx="9144000" cy="434340"/>
          </a:xfrm>
          <a:prstGeom prst="rect">
            <a:avLst/>
          </a:prstGeom>
          <a:solidFill>
            <a:srgbClr val="141E30"/>
          </a:solidFill>
          <a:ln/>
        </p:spPr>
      </p:sp>
      <p:sp>
        <p:nvSpPr>
          <p:cNvPr id="23" name="Text 19"/>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24" name="Text 20"/>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09. Diversity, Equity &amp; Inclusion</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Diversity, Equity &amp; Inclusion</a:t>
            </a:r>
            <a:endParaRPr lang="en-US" sz="2600" dirty="0"/>
          </a:p>
        </p:txBody>
      </p:sp>
      <p:sp>
        <p:nvSpPr>
          <p:cNvPr id="5" name="Shape 3"/>
          <p:cNvSpPr/>
          <p:nvPr/>
        </p:nvSpPr>
        <p:spPr>
          <a:xfrm>
            <a:off x="45720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54864" cy="777240"/>
          </a:xfrm>
          <a:prstGeom prst="rect">
            <a:avLst/>
          </a:prstGeom>
          <a:solidFill>
            <a:srgbClr val="00D4FF"/>
          </a:solidFill>
          <a:ln/>
        </p:spPr>
      </p:sp>
      <p:sp>
        <p:nvSpPr>
          <p:cNvPr id="7" name="Text 5"/>
          <p:cNvSpPr/>
          <p:nvPr/>
        </p:nvSpPr>
        <p:spPr>
          <a:xfrm>
            <a:off x="64008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FEMALE RATIO</a:t>
            </a:r>
            <a:endParaRPr lang="en-US" sz="700" dirty="0"/>
          </a:p>
        </p:txBody>
      </p:sp>
      <p:sp>
        <p:nvSpPr>
          <p:cNvPr id="8" name="Text 6"/>
          <p:cNvSpPr/>
          <p:nvPr/>
        </p:nvSpPr>
        <p:spPr>
          <a:xfrm>
            <a:off x="64008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49.4%</a:t>
            </a:r>
            <a:endParaRPr lang="en-US" sz="2000" dirty="0"/>
          </a:p>
        </p:txBody>
      </p:sp>
      <p:sp>
        <p:nvSpPr>
          <p:cNvPr id="9" name="Text 7"/>
          <p:cNvSpPr/>
          <p:nvPr/>
        </p:nvSpPr>
        <p:spPr>
          <a:xfrm>
            <a:off x="640080" y="178308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255 of 516</a:t>
            </a:r>
            <a:endParaRPr lang="en-US" sz="800" dirty="0"/>
          </a:p>
        </p:txBody>
      </p:sp>
      <p:sp>
        <p:nvSpPr>
          <p:cNvPr id="10" name="Shape 8"/>
          <p:cNvSpPr/>
          <p:nvPr/>
        </p:nvSpPr>
        <p:spPr>
          <a:xfrm>
            <a:off x="246888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2468880" y="1188720"/>
            <a:ext cx="54864" cy="777240"/>
          </a:xfrm>
          <a:prstGeom prst="rect">
            <a:avLst/>
          </a:prstGeom>
          <a:solidFill>
            <a:srgbClr val="00D4FF"/>
          </a:solidFill>
          <a:ln/>
        </p:spPr>
      </p:sp>
      <p:sp>
        <p:nvSpPr>
          <p:cNvPr id="12" name="Text 10"/>
          <p:cNvSpPr/>
          <p:nvPr/>
        </p:nvSpPr>
        <p:spPr>
          <a:xfrm>
            <a:off x="265176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ETHNICITIES</a:t>
            </a:r>
            <a:endParaRPr lang="en-US" sz="700" dirty="0"/>
          </a:p>
        </p:txBody>
      </p:sp>
      <p:sp>
        <p:nvSpPr>
          <p:cNvPr id="13" name="Text 11"/>
          <p:cNvSpPr/>
          <p:nvPr/>
        </p:nvSpPr>
        <p:spPr>
          <a:xfrm>
            <a:off x="265176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8</a:t>
            </a:r>
            <a:endParaRPr lang="en-US" sz="2000" dirty="0"/>
          </a:p>
        </p:txBody>
      </p:sp>
      <p:sp>
        <p:nvSpPr>
          <p:cNvPr id="14" name="Text 12"/>
          <p:cNvSpPr/>
          <p:nvPr/>
        </p:nvSpPr>
        <p:spPr>
          <a:xfrm>
            <a:off x="265176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Represented groups</a:t>
            </a:r>
            <a:endParaRPr lang="en-US" sz="800" dirty="0"/>
          </a:p>
        </p:txBody>
      </p:sp>
      <p:sp>
        <p:nvSpPr>
          <p:cNvPr id="15" name="Shape 13"/>
          <p:cNvSpPr/>
          <p:nvPr/>
        </p:nvSpPr>
        <p:spPr>
          <a:xfrm>
            <a:off x="448056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4480560" y="1188720"/>
            <a:ext cx="54864" cy="777240"/>
          </a:xfrm>
          <a:prstGeom prst="rect">
            <a:avLst/>
          </a:prstGeom>
          <a:solidFill>
            <a:srgbClr val="00D4FF"/>
          </a:solidFill>
          <a:ln/>
        </p:spPr>
      </p:sp>
      <p:sp>
        <p:nvSpPr>
          <p:cNvPr id="17" name="Text 15"/>
          <p:cNvSpPr/>
          <p:nvPr/>
        </p:nvSpPr>
        <p:spPr>
          <a:xfrm>
            <a:off x="466344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PAY EQUITY GAP</a:t>
            </a:r>
            <a:endParaRPr lang="en-US" sz="700" dirty="0"/>
          </a:p>
        </p:txBody>
      </p:sp>
      <p:sp>
        <p:nvSpPr>
          <p:cNvPr id="18" name="Text 16"/>
          <p:cNvSpPr/>
          <p:nvPr/>
        </p:nvSpPr>
        <p:spPr>
          <a:xfrm>
            <a:off x="466344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-1.4%</a:t>
            </a:r>
            <a:endParaRPr lang="en-US" sz="2000" dirty="0"/>
          </a:p>
        </p:txBody>
      </p:sp>
      <p:sp>
        <p:nvSpPr>
          <p:cNvPr id="19" name="Text 17"/>
          <p:cNvSpPr/>
          <p:nvPr/>
        </p:nvSpPr>
        <p:spPr>
          <a:xfrm>
            <a:off x="4663440" y="1783080"/>
            <a:ext cx="1600200" cy="182880"/>
          </a:xfrm>
          <a:prstGeom prst="rect">
            <a:avLst/>
          </a:prstGeom>
          <a:noFill/>
          <a:ln/>
        </p:spPr>
        <p:txBody>
          <a:bodyPr wrap="square" rtlCol="0" anchor="ctr"/>
          <a:lstStyle/>
          <a:p>
            <a:pPr indent="0" marL="0">
              <a:buNone/>
            </a:pPr>
            <a:r>
              <a:rPr lang="en-US" sz="800" dirty="0">
                <a:solidFill>
                  <a:srgbClr val="1A7F64"/>
                </a:solidFill>
                <a:latin typeface="Arial" pitchFamily="34" charset="0"/>
                <a:ea typeface="Arial" pitchFamily="34" charset="-122"/>
                <a:cs typeface="Arial" pitchFamily="34" charset="-120"/>
              </a:rPr>
              <a:t>Favors female slightly</a:t>
            </a:r>
            <a:endParaRPr lang="en-US" sz="800" dirty="0"/>
          </a:p>
        </p:txBody>
      </p:sp>
      <p:sp>
        <p:nvSpPr>
          <p:cNvPr id="20" name="Shape 18"/>
          <p:cNvSpPr/>
          <p:nvPr/>
        </p:nvSpPr>
        <p:spPr>
          <a:xfrm>
            <a:off x="6492240" y="1188720"/>
            <a:ext cx="1874520" cy="77724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1" name="Shape 19"/>
          <p:cNvSpPr/>
          <p:nvPr/>
        </p:nvSpPr>
        <p:spPr>
          <a:xfrm>
            <a:off x="6492240" y="1188720"/>
            <a:ext cx="54864" cy="777240"/>
          </a:xfrm>
          <a:prstGeom prst="rect">
            <a:avLst/>
          </a:prstGeom>
          <a:solidFill>
            <a:srgbClr val="00D4FF"/>
          </a:solidFill>
          <a:ln/>
        </p:spPr>
      </p:sp>
      <p:sp>
        <p:nvSpPr>
          <p:cNvPr id="22" name="Text 20"/>
          <p:cNvSpPr/>
          <p:nvPr/>
        </p:nvSpPr>
        <p:spPr>
          <a:xfrm>
            <a:off x="6675120" y="1261872"/>
            <a:ext cx="1600200" cy="228600"/>
          </a:xfrm>
          <a:prstGeom prst="rect">
            <a:avLst/>
          </a:prstGeom>
          <a:noFill/>
          <a:ln/>
        </p:spPr>
        <p:txBody>
          <a:bodyPr wrap="square" rtlCol="0" anchor="ctr"/>
          <a:lstStyle/>
          <a:p>
            <a:pPr indent="0" marL="0">
              <a:buNone/>
            </a:pPr>
            <a:r>
              <a:rPr lang="en-US" sz="700" b="1" dirty="0">
                <a:solidFill>
                  <a:srgbClr val="8B95A5"/>
                </a:solidFill>
                <a:latin typeface="Arial" pitchFamily="34" charset="0"/>
                <a:ea typeface="Arial" pitchFamily="34" charset="-122"/>
                <a:cs typeface="Arial" pitchFamily="34" charset="-120"/>
              </a:rPr>
              <a:t>LARGEST GROUP</a:t>
            </a:r>
            <a:endParaRPr lang="en-US" sz="700" dirty="0"/>
          </a:p>
        </p:txBody>
      </p:sp>
      <p:sp>
        <p:nvSpPr>
          <p:cNvPr id="23" name="Text 21"/>
          <p:cNvSpPr/>
          <p:nvPr/>
        </p:nvSpPr>
        <p:spPr>
          <a:xfrm>
            <a:off x="6675120" y="1463040"/>
            <a:ext cx="1600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White</a:t>
            </a:r>
            <a:endParaRPr lang="en-US" sz="2000" dirty="0"/>
          </a:p>
        </p:txBody>
      </p:sp>
      <p:sp>
        <p:nvSpPr>
          <p:cNvPr id="24" name="Text 22"/>
          <p:cNvSpPr/>
          <p:nvPr/>
        </p:nvSpPr>
        <p:spPr>
          <a:xfrm>
            <a:off x="6675120" y="1783080"/>
            <a:ext cx="1600200" cy="182880"/>
          </a:xfrm>
          <a:prstGeom prst="rect">
            <a:avLst/>
          </a:prstGeom>
          <a:noFill/>
          <a:ln/>
        </p:spPr>
        <p:txBody>
          <a:bodyPr wrap="square" rtlCol="0" anchor="ctr"/>
          <a:lstStyle/>
          <a:p>
            <a:pPr indent="0" marL="0">
              <a:buNone/>
            </a:pPr>
            <a:r>
              <a:rPr lang="en-US" sz="800" dirty="0">
                <a:solidFill>
                  <a:srgbClr val="8B95A5"/>
                </a:solidFill>
                <a:latin typeface="Arial" pitchFamily="34" charset="0"/>
                <a:ea typeface="Arial" pitchFamily="34" charset="-122"/>
                <a:cs typeface="Arial" pitchFamily="34" charset="-120"/>
              </a:rPr>
              <a:t>23.8% (123)</a:t>
            </a:r>
            <a:endParaRPr lang="en-US" sz="800" dirty="0"/>
          </a:p>
        </p:txBody>
      </p:sp>
      <p:graphicFrame>
        <p:nvGraphicFramePr>
          <p:cNvPr id="25" name="Chart 0" descr=""/>
          <p:cNvGraphicFramePr/>
          <p:nvPr/>
        </p:nvGraphicFramePr>
        <p:xfrm>
          <a:off x="457200" y="2148840"/>
          <a:ext cx="4572000" cy="228600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5212080" y="2148840"/>
            <a:ext cx="3474720" cy="228600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7" name="Text 24"/>
          <p:cNvSpPr/>
          <p:nvPr/>
        </p:nvSpPr>
        <p:spPr>
          <a:xfrm>
            <a:off x="5394960" y="2240280"/>
            <a:ext cx="3017520" cy="228600"/>
          </a:xfrm>
          <a:prstGeom prst="rect">
            <a:avLst/>
          </a:prstGeom>
          <a:noFill/>
          <a:ln/>
        </p:spPr>
        <p:txBody>
          <a:bodyPr wrap="square" rtlCol="0" anchor="ctr"/>
          <a:lstStyle/>
          <a:p>
            <a:pPr indent="0" marL="0">
              <a:buNone/>
            </a:pPr>
            <a:r>
              <a:rPr lang="en-US" sz="1000" b="1" dirty="0">
                <a:solidFill>
                  <a:srgbClr val="00D4FF"/>
                </a:solidFill>
                <a:latin typeface="Arial" pitchFamily="34" charset="0"/>
                <a:ea typeface="Arial" pitchFamily="34" charset="-122"/>
                <a:cs typeface="Arial" pitchFamily="34" charset="-120"/>
              </a:rPr>
              <a:t>DIVERSITY HIGHLIGHTS</a:t>
            </a:r>
            <a:endParaRPr lang="en-US" sz="1000" dirty="0"/>
          </a:p>
        </p:txBody>
      </p:sp>
      <p:sp>
        <p:nvSpPr>
          <p:cNvPr id="28" name="Text 25"/>
          <p:cNvSpPr/>
          <p:nvPr/>
        </p:nvSpPr>
        <p:spPr>
          <a:xfrm>
            <a:off x="5394960" y="2514600"/>
            <a:ext cx="3108960" cy="1828800"/>
          </a:xfrm>
          <a:prstGeom prst="rect">
            <a:avLst/>
          </a:prstGeom>
          <a:noFill/>
          <a:ln/>
        </p:spPr>
        <p:txBody>
          <a:bodyPr wrap="square" rtlCol="0" anchor="t"/>
          <a:lstStyle/>
          <a:p>
            <a:pPr indent="0" marL="0">
              <a:buNone/>
            </a:pPr>
            <a:r>
              <a:rPr lang="en-US" sz="900" b="1" dirty="0">
                <a:solidFill>
                  <a:srgbClr val="E8F0FE"/>
                </a:solidFill>
                <a:latin typeface="Arial" pitchFamily="34" charset="0"/>
                <a:ea typeface="Arial" pitchFamily="34" charset="-122"/>
                <a:cs typeface="Arial" pitchFamily="34" charset="-120"/>
              </a:rPr>
              <a:t>Gender:</a:t>
            </a:r>
            <a:endParaRPr lang="en-US" sz="900" dirty="0"/>
          </a:p>
          <a:p>
            <a:pPr indent="0" marL="0">
              <a:buNone/>
            </a:pPr>
            <a:r>
              <a:rPr lang="en-US" sz="800" dirty="0">
                <a:solidFill>
                  <a:srgbClr val="8B95A5"/>
                </a:solidFill>
                <a:latin typeface="Arial" pitchFamily="34" charset="0"/>
                <a:ea typeface="Arial" pitchFamily="34" charset="-122"/>
                <a:cs typeface="Arial" pitchFamily="34" charset="-120"/>
              </a:rPr>
              <a:t>Near-parity at 49.4% F / 50.6% M</a:t>
            </a:r>
            <a:endParaRPr lang="en-US" sz="900" dirty="0"/>
          </a:p>
          <a:p>
            <a:pPr indent="0" marL="0">
              <a:buNone/>
            </a:pPr>
            <a:endParaRPr lang="en-US" sz="900" dirty="0"/>
          </a:p>
          <a:p>
            <a:pPr indent="0" marL="0">
              <a:buNone/>
            </a:pPr>
            <a:r>
              <a:rPr lang="en-US" sz="900" b="1" dirty="0">
                <a:solidFill>
                  <a:srgbClr val="E8F0FE"/>
                </a:solidFill>
                <a:latin typeface="Arial" pitchFamily="34" charset="0"/>
                <a:ea typeface="Arial" pitchFamily="34" charset="-122"/>
                <a:cs typeface="Arial" pitchFamily="34" charset="-120"/>
              </a:rPr>
              <a:t>Ethnicity:</a:t>
            </a:r>
            <a:endParaRPr lang="en-US" sz="900" dirty="0"/>
          </a:p>
          <a:p>
            <a:pPr indent="0" marL="0">
              <a:buNone/>
            </a:pPr>
            <a:r>
              <a:rPr lang="en-US" sz="800" dirty="0">
                <a:solidFill>
                  <a:srgbClr val="8B95A5"/>
                </a:solidFill>
                <a:latin typeface="Arial" pitchFamily="34" charset="0"/>
                <a:ea typeface="Arial" pitchFamily="34" charset="-122"/>
                <a:cs typeface="Arial" pitchFamily="34" charset="-120"/>
              </a:rPr>
              <a:t>No single group exceeds 24%. Eight ethnic groups represented — strong diversity.</a:t>
            </a:r>
            <a:endParaRPr lang="en-US" sz="900" dirty="0"/>
          </a:p>
          <a:p>
            <a:pPr indent="0" marL="0">
              <a:buNone/>
            </a:pPr>
            <a:endParaRPr lang="en-US" sz="900" dirty="0"/>
          </a:p>
          <a:p>
            <a:pPr indent="0" marL="0">
              <a:buNone/>
            </a:pPr>
            <a:r>
              <a:rPr lang="en-US" sz="900" b="1" dirty="0">
                <a:solidFill>
                  <a:srgbClr val="E8F0FE"/>
                </a:solidFill>
                <a:latin typeface="Arial" pitchFamily="34" charset="0"/>
                <a:ea typeface="Arial" pitchFamily="34" charset="-122"/>
                <a:cs typeface="Arial" pitchFamily="34" charset="-120"/>
              </a:rPr>
              <a:t>Pay Equity:</a:t>
            </a:r>
            <a:endParaRPr lang="en-US" sz="900" dirty="0"/>
          </a:p>
          <a:p>
            <a:pPr indent="0" marL="0">
              <a:buNone/>
            </a:pPr>
            <a:r>
              <a:rPr lang="en-US" sz="800" dirty="0">
                <a:solidFill>
                  <a:srgbClr val="8B95A5"/>
                </a:solidFill>
                <a:latin typeface="Arial" pitchFamily="34" charset="0"/>
                <a:ea typeface="Arial" pitchFamily="34" charset="-122"/>
                <a:cs typeface="Arial" pitchFamily="34" charset="-120"/>
              </a:rPr>
              <a:t>Women earn 1.4% more on average than men at comparable grades. IC5 is the only grade with a meaningful gap ($12K) favoring males.</a:t>
            </a:r>
            <a:endParaRPr lang="en-US" sz="900" dirty="0"/>
          </a:p>
          <a:p>
            <a:pPr indent="0" marL="0">
              <a:buNone/>
            </a:pPr>
            <a:endParaRPr lang="en-US" sz="900" dirty="0"/>
          </a:p>
          <a:p>
            <a:pPr indent="0" marL="0">
              <a:buNone/>
            </a:pPr>
            <a:r>
              <a:rPr lang="en-US" sz="900" b="1" dirty="0">
                <a:solidFill>
                  <a:srgbClr val="E8F0FE"/>
                </a:solidFill>
                <a:latin typeface="Arial" pitchFamily="34" charset="0"/>
                <a:ea typeface="Arial" pitchFamily="34" charset="-122"/>
                <a:cs typeface="Arial" pitchFamily="34" charset="-120"/>
              </a:rPr>
              <a:t>Opportunity:</a:t>
            </a:r>
            <a:endParaRPr lang="en-US" sz="900" dirty="0"/>
          </a:p>
          <a:p>
            <a:pPr indent="0" marL="0">
              <a:buNone/>
            </a:pPr>
            <a:r>
              <a:rPr lang="en-US" sz="800" dirty="0">
                <a:solidFill>
                  <a:srgbClr val="8B95A5"/>
                </a:solidFill>
                <a:latin typeface="Arial" pitchFamily="34" charset="0"/>
                <a:ea typeface="Arial" pitchFamily="34" charset="-122"/>
                <a:cs typeface="Arial" pitchFamily="34" charset="-120"/>
              </a:rPr>
              <a:t>Monitor leadership pipeline diversity. Hispanic and Middle Eastern representation drops at M3+ levels.</a:t>
            </a:r>
            <a:endParaRPr lang="en-US" sz="900" dirty="0"/>
          </a:p>
        </p:txBody>
      </p:sp>
      <p:sp>
        <p:nvSpPr>
          <p:cNvPr id="29" name="Shape 26"/>
          <p:cNvSpPr/>
          <p:nvPr/>
        </p:nvSpPr>
        <p:spPr>
          <a:xfrm>
            <a:off x="0" y="4709160"/>
            <a:ext cx="9144000" cy="434340"/>
          </a:xfrm>
          <a:prstGeom prst="rect">
            <a:avLst/>
          </a:prstGeom>
          <a:solidFill>
            <a:srgbClr val="141E30"/>
          </a:solidFill>
          <a:ln/>
        </p:spPr>
      </p:sp>
      <p:sp>
        <p:nvSpPr>
          <p:cNvPr id="30" name="Text 27"/>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31" name="Text 28"/>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10. Risks &amp; Challenges</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Key Risks &amp; Challenges</a:t>
            </a:r>
            <a:endParaRPr lang="en-US" sz="2600" dirty="0"/>
          </a:p>
        </p:txBody>
      </p:sp>
      <p:sp>
        <p:nvSpPr>
          <p:cNvPr id="5" name="Shape 3"/>
          <p:cNvSpPr/>
          <p:nvPr/>
        </p:nvSpPr>
        <p:spPr>
          <a:xfrm>
            <a:off x="457200" y="1280160"/>
            <a:ext cx="2606040" cy="292608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280160"/>
            <a:ext cx="2606040" cy="54864"/>
          </a:xfrm>
          <a:prstGeom prst="rect">
            <a:avLst/>
          </a:prstGeom>
          <a:solidFill>
            <a:srgbClr val="FF6B35"/>
          </a:solidFill>
          <a:ln/>
        </p:spPr>
      </p:sp>
      <p:sp>
        <p:nvSpPr>
          <p:cNvPr id="7" name="Text 5"/>
          <p:cNvSpPr/>
          <p:nvPr/>
        </p:nvSpPr>
        <p:spPr>
          <a:xfrm>
            <a:off x="594360" y="1417320"/>
            <a:ext cx="914400" cy="201168"/>
          </a:xfrm>
          <a:prstGeom prst="rect">
            <a:avLst/>
          </a:prstGeom>
          <a:solidFill>
            <a:srgbClr val="FF6B35"/>
          </a:solidFill>
          <a:ln/>
        </p:spPr>
        <p:txBody>
          <a:bodyPr wrap="square" rtlCol="0" anchor="ctr"/>
          <a:lstStyle/>
          <a:p>
            <a:pPr indent="0" marL="0">
              <a:buNone/>
            </a:pPr>
            <a:r>
              <a:rPr lang="en-US" sz="700" b="1" dirty="0">
                <a:solidFill>
                  <a:srgbClr val="0A1628"/>
                </a:solidFill>
                <a:latin typeface="Arial" pitchFamily="34" charset="0"/>
                <a:ea typeface="Arial" pitchFamily="34" charset="-122"/>
                <a:cs typeface="Arial" pitchFamily="34" charset="-120"/>
              </a:rPr>
              <a:t>HIGH</a:t>
            </a:r>
            <a:endParaRPr lang="en-US" sz="700" dirty="0"/>
          </a:p>
        </p:txBody>
      </p:sp>
      <p:sp>
        <p:nvSpPr>
          <p:cNvPr id="8" name="Text 6"/>
          <p:cNvSpPr/>
          <p:nvPr/>
        </p:nvSpPr>
        <p:spPr>
          <a:xfrm>
            <a:off x="594360" y="1691640"/>
            <a:ext cx="2331720" cy="320040"/>
          </a:xfrm>
          <a:prstGeom prst="rect">
            <a:avLst/>
          </a:prstGeom>
          <a:noFill/>
          <a:ln/>
        </p:spPr>
        <p:txBody>
          <a:bodyPr wrap="square" rtlCol="0" anchor="ctr"/>
          <a:lstStyle/>
          <a:p>
            <a:pPr indent="0" marL="0">
              <a:buNone/>
            </a:pPr>
            <a:r>
              <a:rPr lang="en-US" sz="1100" b="1" dirty="0">
                <a:solidFill>
                  <a:srgbClr val="E8F0FE"/>
                </a:solidFill>
                <a:latin typeface="Arial" pitchFamily="34" charset="0"/>
                <a:ea typeface="Arial" pitchFamily="34" charset="-122"/>
                <a:cs typeface="Arial" pitchFamily="34" charset="-120"/>
              </a:rPr>
              <a:t>COMPENSATION ATTRITION</a:t>
            </a:r>
            <a:endParaRPr lang="en-US" sz="1100" dirty="0"/>
          </a:p>
        </p:txBody>
      </p:sp>
      <p:sp>
        <p:nvSpPr>
          <p:cNvPr id="9" name="Text 7"/>
          <p:cNvSpPr/>
          <p:nvPr/>
        </p:nvSpPr>
        <p:spPr>
          <a:xfrm>
            <a:off x="594360" y="2057400"/>
            <a:ext cx="2331720" cy="192024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60% of 2024 exits were compensation-driven (up from 20% in 2023). 80% of these were regrettable losses. Without intervention, this will accelerate in 2025 as market salaries continue rising.</a:t>
            </a:r>
            <a:endParaRPr lang="en-US" sz="800" dirty="0"/>
          </a:p>
        </p:txBody>
      </p:sp>
      <p:sp>
        <p:nvSpPr>
          <p:cNvPr id="10" name="Shape 8"/>
          <p:cNvSpPr/>
          <p:nvPr/>
        </p:nvSpPr>
        <p:spPr>
          <a:xfrm>
            <a:off x="3291840" y="1280160"/>
            <a:ext cx="2606040" cy="292608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1" name="Shape 9"/>
          <p:cNvSpPr/>
          <p:nvPr/>
        </p:nvSpPr>
        <p:spPr>
          <a:xfrm>
            <a:off x="3291840" y="1280160"/>
            <a:ext cx="2606040" cy="54864"/>
          </a:xfrm>
          <a:prstGeom prst="rect">
            <a:avLst/>
          </a:prstGeom>
          <a:solidFill>
            <a:srgbClr val="FF6B35"/>
          </a:solidFill>
          <a:ln/>
        </p:spPr>
      </p:sp>
      <p:sp>
        <p:nvSpPr>
          <p:cNvPr id="12" name="Text 10"/>
          <p:cNvSpPr/>
          <p:nvPr/>
        </p:nvSpPr>
        <p:spPr>
          <a:xfrm>
            <a:off x="3429000" y="1417320"/>
            <a:ext cx="914400" cy="201168"/>
          </a:xfrm>
          <a:prstGeom prst="rect">
            <a:avLst/>
          </a:prstGeom>
          <a:solidFill>
            <a:srgbClr val="FF6B35"/>
          </a:solidFill>
          <a:ln/>
        </p:spPr>
        <p:txBody>
          <a:bodyPr wrap="square" rtlCol="0" anchor="ctr"/>
          <a:lstStyle/>
          <a:p>
            <a:pPr indent="0" marL="0">
              <a:buNone/>
            </a:pPr>
            <a:r>
              <a:rPr lang="en-US" sz="700" b="1" dirty="0">
                <a:solidFill>
                  <a:srgbClr val="0A1628"/>
                </a:solidFill>
                <a:latin typeface="Arial" pitchFamily="34" charset="0"/>
                <a:ea typeface="Arial" pitchFamily="34" charset="-122"/>
                <a:cs typeface="Arial" pitchFamily="34" charset="-120"/>
              </a:rPr>
              <a:t>HIGH</a:t>
            </a:r>
            <a:endParaRPr lang="en-US" sz="700" dirty="0"/>
          </a:p>
        </p:txBody>
      </p:sp>
      <p:sp>
        <p:nvSpPr>
          <p:cNvPr id="13" name="Text 11"/>
          <p:cNvSpPr/>
          <p:nvPr/>
        </p:nvSpPr>
        <p:spPr>
          <a:xfrm>
            <a:off x="3429000" y="1691640"/>
            <a:ext cx="2331720" cy="320040"/>
          </a:xfrm>
          <a:prstGeom prst="rect">
            <a:avLst/>
          </a:prstGeom>
          <a:noFill/>
          <a:ln/>
        </p:spPr>
        <p:txBody>
          <a:bodyPr wrap="square" rtlCol="0" anchor="ctr"/>
          <a:lstStyle/>
          <a:p>
            <a:pPr indent="0" marL="0">
              <a:buNone/>
            </a:pPr>
            <a:r>
              <a:rPr lang="en-US" sz="1100" b="1" dirty="0">
                <a:solidFill>
                  <a:srgbClr val="E8F0FE"/>
                </a:solidFill>
                <a:latin typeface="Arial" pitchFamily="34" charset="0"/>
                <a:ea typeface="Arial" pitchFamily="34" charset="-122"/>
                <a:cs typeface="Arial" pitchFamily="34" charset="-120"/>
              </a:rPr>
              <a:t>MANAGER EFFECTIVENESS</a:t>
            </a:r>
            <a:endParaRPr lang="en-US" sz="1100" dirty="0"/>
          </a:p>
        </p:txBody>
      </p:sp>
      <p:sp>
        <p:nvSpPr>
          <p:cNvPr id="14" name="Text 12"/>
          <p:cNvSpPr/>
          <p:nvPr/>
        </p:nvSpPr>
        <p:spPr>
          <a:xfrm>
            <a:off x="3429000" y="2057400"/>
            <a:ext cx="2331720" cy="192024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Manager satisfaction dropped from 7.41 to 6.98 — the steepest decline across all engagement dimensions. Management is also the #1 overall exit reason (23 exits). These two data points together indicate a systemic management quality issue.</a:t>
            </a:r>
            <a:endParaRPr lang="en-US" sz="800" dirty="0"/>
          </a:p>
        </p:txBody>
      </p:sp>
      <p:sp>
        <p:nvSpPr>
          <p:cNvPr id="15" name="Shape 13"/>
          <p:cNvSpPr/>
          <p:nvPr/>
        </p:nvSpPr>
        <p:spPr>
          <a:xfrm>
            <a:off x="6126480" y="1280160"/>
            <a:ext cx="2606040" cy="2926080"/>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280160"/>
            <a:ext cx="2606040" cy="54864"/>
          </a:xfrm>
          <a:prstGeom prst="rect">
            <a:avLst/>
          </a:prstGeom>
          <a:solidFill>
            <a:srgbClr val="F59E0B"/>
          </a:solidFill>
          <a:ln/>
        </p:spPr>
      </p:sp>
      <p:sp>
        <p:nvSpPr>
          <p:cNvPr id="17" name="Text 15"/>
          <p:cNvSpPr/>
          <p:nvPr/>
        </p:nvSpPr>
        <p:spPr>
          <a:xfrm>
            <a:off x="6263640" y="1417320"/>
            <a:ext cx="914400" cy="201168"/>
          </a:xfrm>
          <a:prstGeom prst="rect">
            <a:avLst/>
          </a:prstGeom>
          <a:solidFill>
            <a:srgbClr val="F59E0B"/>
          </a:solidFill>
          <a:ln/>
        </p:spPr>
        <p:txBody>
          <a:bodyPr wrap="square" rtlCol="0" anchor="ctr"/>
          <a:lstStyle/>
          <a:p>
            <a:pPr indent="0" marL="0">
              <a:buNone/>
            </a:pPr>
            <a:r>
              <a:rPr lang="en-US" sz="700" b="1" dirty="0">
                <a:solidFill>
                  <a:srgbClr val="0A1628"/>
                </a:solidFill>
                <a:latin typeface="Arial" pitchFamily="34" charset="0"/>
                <a:ea typeface="Arial" pitchFamily="34" charset="-122"/>
                <a:cs typeface="Arial" pitchFamily="34" charset="-120"/>
              </a:rPr>
              <a:t>MEDIUM</a:t>
            </a:r>
            <a:endParaRPr lang="en-US" sz="700" dirty="0"/>
          </a:p>
        </p:txBody>
      </p:sp>
      <p:sp>
        <p:nvSpPr>
          <p:cNvPr id="18" name="Text 16"/>
          <p:cNvSpPr/>
          <p:nvPr/>
        </p:nvSpPr>
        <p:spPr>
          <a:xfrm>
            <a:off x="6263640" y="1691640"/>
            <a:ext cx="2331720" cy="320040"/>
          </a:xfrm>
          <a:prstGeom prst="rect">
            <a:avLst/>
          </a:prstGeom>
          <a:noFill/>
          <a:ln/>
        </p:spPr>
        <p:txBody>
          <a:bodyPr wrap="square" rtlCol="0" anchor="ctr"/>
          <a:lstStyle/>
          <a:p>
            <a:pPr indent="0" marL="0">
              <a:buNone/>
            </a:pPr>
            <a:r>
              <a:rPr lang="en-US" sz="1100" b="1" dirty="0">
                <a:solidFill>
                  <a:srgbClr val="E8F0FE"/>
                </a:solidFill>
                <a:latin typeface="Arial" pitchFamily="34" charset="0"/>
                <a:ea typeface="Arial" pitchFamily="34" charset="-122"/>
                <a:cs typeface="Arial" pitchFamily="34" charset="-120"/>
              </a:rPr>
              <a:t>TRAINING COMPLIANCE</a:t>
            </a:r>
            <a:endParaRPr lang="en-US" sz="1100" dirty="0"/>
          </a:p>
        </p:txBody>
      </p:sp>
      <p:sp>
        <p:nvSpPr>
          <p:cNvPr id="19" name="Text 17"/>
          <p:cNvSpPr/>
          <p:nvPr/>
        </p:nvSpPr>
        <p:spPr>
          <a:xfrm>
            <a:off x="6263640" y="2057400"/>
            <a:ext cx="2331720" cy="192024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22% overdue rate with 301 outstanding enrollments. Mandatory security training has 151 overdue — a compliance risk. Information Security Awareness has the highest overdue count (64).</a:t>
            </a:r>
            <a:endParaRPr lang="en-US" sz="800" dirty="0"/>
          </a:p>
        </p:txBody>
      </p:sp>
      <p:sp>
        <p:nvSpPr>
          <p:cNvPr id="20" name="Shape 18"/>
          <p:cNvSpPr/>
          <p:nvPr/>
        </p:nvSpPr>
        <p:spPr>
          <a:xfrm>
            <a:off x="0" y="4709160"/>
            <a:ext cx="9144000" cy="434340"/>
          </a:xfrm>
          <a:prstGeom prst="rect">
            <a:avLst/>
          </a:prstGeom>
          <a:solidFill>
            <a:srgbClr val="141E30"/>
          </a:solidFill>
          <a:ln/>
        </p:spPr>
      </p:sp>
      <p:sp>
        <p:nvSpPr>
          <p:cNvPr id="21" name="Text 19"/>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22" name="Text 20"/>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1E30"/>
          </a:solidFill>
          <a:ln/>
        </p:spPr>
      </p:sp>
      <p:sp>
        <p:nvSpPr>
          <p:cNvPr id="3" name="Text 1"/>
          <p:cNvSpPr/>
          <p:nvPr/>
        </p:nvSpPr>
        <p:spPr>
          <a:xfrm>
            <a:off x="365760" y="91440"/>
            <a:ext cx="8229600" cy="320040"/>
          </a:xfrm>
          <a:prstGeom prst="rect">
            <a:avLst/>
          </a:prstGeom>
          <a:noFill/>
          <a:ln/>
        </p:spPr>
        <p:txBody>
          <a:bodyPr wrap="square" rtlCol="0" anchor="ctr"/>
          <a:lstStyle/>
          <a:p>
            <a:pPr indent="0" marL="0">
              <a:buNone/>
            </a:pPr>
            <a:r>
              <a:rPr lang="en-US" sz="1400" b="1" dirty="0">
                <a:solidFill>
                  <a:srgbClr val="00D4FF"/>
                </a:solidFill>
                <a:latin typeface="Arial" pitchFamily="34" charset="0"/>
                <a:ea typeface="Arial" pitchFamily="34" charset="-122"/>
                <a:cs typeface="Arial" pitchFamily="34" charset="-120"/>
              </a:rPr>
              <a:t>x</a:t>
            </a:r>
            <a:pPr indent="0" marL="0">
              <a:buNone/>
            </a:pPr>
            <a:r>
              <a:rPr lang="en-US" sz="1400" b="1" dirty="0">
                <a:solidFill>
                  <a:srgbClr val="FF6B35"/>
                </a:solidFill>
                <a:latin typeface="Arial" pitchFamily="34" charset="0"/>
                <a:ea typeface="Arial" pitchFamily="34" charset="-122"/>
                <a:cs typeface="Arial" pitchFamily="34" charset="-120"/>
              </a:rPr>
              <a:t>F</a:t>
            </a:r>
            <a:pPr indent="0" marL="0">
              <a:buNone/>
            </a:pPr>
            <a:r>
              <a:rPr lang="en-US" sz="1000" dirty="0">
                <a:solidFill>
                  <a:srgbClr val="8B95A5"/>
                </a:solidFill>
                <a:latin typeface="Arial" pitchFamily="34" charset="0"/>
                <a:ea typeface="Arial" pitchFamily="34" charset="-122"/>
                <a:cs typeface="Arial" pitchFamily="34" charset="-120"/>
              </a:rPr>
              <a:t>  Falcon HR Analytics / 11. Strategic Recommendations</a:t>
            </a:r>
            <a:endParaRPr lang="en-US" sz="1400" dirty="0"/>
          </a:p>
        </p:txBody>
      </p:sp>
      <p:sp>
        <p:nvSpPr>
          <p:cNvPr id="4" name="Text 2"/>
          <p:cNvSpPr/>
          <p:nvPr/>
        </p:nvSpPr>
        <p:spPr>
          <a:xfrm>
            <a:off x="457200" y="640080"/>
            <a:ext cx="8229600" cy="457200"/>
          </a:xfrm>
          <a:prstGeom prst="rect">
            <a:avLst/>
          </a:prstGeom>
          <a:noFill/>
          <a:ln/>
        </p:spPr>
        <p:txBody>
          <a:bodyPr wrap="square" rtlCol="0" anchor="ctr"/>
          <a:lstStyle/>
          <a:p>
            <a:pPr indent="0" marL="0">
              <a:buNone/>
            </a:pPr>
            <a:r>
              <a:rPr lang="en-US" sz="2600" b="1" dirty="0">
                <a:solidFill>
                  <a:srgbClr val="F5F7FA"/>
                </a:solidFill>
                <a:latin typeface="Arial" pitchFamily="34" charset="0"/>
                <a:ea typeface="Arial" pitchFamily="34" charset="-122"/>
                <a:cs typeface="Arial" pitchFamily="34" charset="-120"/>
              </a:rPr>
              <a:t>2025 Strategic Recommendations</a:t>
            </a:r>
            <a:endParaRPr lang="en-US" sz="2600" dirty="0"/>
          </a:p>
        </p:txBody>
      </p:sp>
      <p:sp>
        <p:nvSpPr>
          <p:cNvPr id="5" name="Shape 3"/>
          <p:cNvSpPr/>
          <p:nvPr/>
        </p:nvSpPr>
        <p:spPr>
          <a:xfrm>
            <a:off x="457200" y="1234440"/>
            <a:ext cx="8229600" cy="749808"/>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234440"/>
            <a:ext cx="54864" cy="749808"/>
          </a:xfrm>
          <a:prstGeom prst="rect">
            <a:avLst/>
          </a:prstGeom>
          <a:solidFill>
            <a:srgbClr val="00D4FF"/>
          </a:solidFill>
          <a:ln/>
        </p:spPr>
      </p:sp>
      <p:sp>
        <p:nvSpPr>
          <p:cNvPr id="7" name="Text 5"/>
          <p:cNvSpPr/>
          <p:nvPr/>
        </p:nvSpPr>
        <p:spPr>
          <a:xfrm>
            <a:off x="640080" y="1280160"/>
            <a:ext cx="457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01</a:t>
            </a:r>
            <a:endParaRPr lang="en-US" sz="2000" dirty="0"/>
          </a:p>
        </p:txBody>
      </p:sp>
      <p:sp>
        <p:nvSpPr>
          <p:cNvPr id="8" name="Text 6"/>
          <p:cNvSpPr/>
          <p:nvPr/>
        </p:nvSpPr>
        <p:spPr>
          <a:xfrm>
            <a:off x="1188720" y="1280160"/>
            <a:ext cx="4572000" cy="274320"/>
          </a:xfrm>
          <a:prstGeom prst="rect">
            <a:avLst/>
          </a:prstGeom>
          <a:noFill/>
          <a:ln/>
        </p:spPr>
        <p:txBody>
          <a:bodyPr wrap="square" rtlCol="0" anchor="ctr"/>
          <a:lstStyle/>
          <a:p>
            <a:pPr indent="0" marL="0">
              <a:buNone/>
            </a:pPr>
            <a:r>
              <a:rPr lang="en-US" sz="1200" b="1" dirty="0">
                <a:solidFill>
                  <a:srgbClr val="E8F0FE"/>
                </a:solidFill>
                <a:latin typeface="Arial" pitchFamily="34" charset="0"/>
                <a:ea typeface="Arial" pitchFamily="34" charset="-122"/>
                <a:cs typeface="Arial" pitchFamily="34" charset="-120"/>
              </a:rPr>
              <a:t>Launch Market Compensation Review</a:t>
            </a:r>
            <a:endParaRPr lang="en-US" sz="1200" dirty="0"/>
          </a:p>
        </p:txBody>
      </p:sp>
      <p:sp>
        <p:nvSpPr>
          <p:cNvPr id="9" name="Text 7"/>
          <p:cNvSpPr/>
          <p:nvPr/>
        </p:nvSpPr>
        <p:spPr>
          <a:xfrm>
            <a:off x="1188720" y="1554480"/>
            <a:ext cx="5029200" cy="36576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Commission external benchmarking study for all job families. Target completion by Q2 2025. Allocate 5-8% adjustment pool for critical roles and high performers.</a:t>
            </a:r>
            <a:endParaRPr lang="en-US" sz="800" dirty="0"/>
          </a:p>
        </p:txBody>
      </p:sp>
      <p:sp>
        <p:nvSpPr>
          <p:cNvPr id="10" name="Text 8"/>
          <p:cNvSpPr/>
          <p:nvPr/>
        </p:nvSpPr>
        <p:spPr>
          <a:xfrm>
            <a:off x="6583680" y="1280160"/>
            <a:ext cx="1828800" cy="274320"/>
          </a:xfrm>
          <a:prstGeom prst="rect">
            <a:avLst/>
          </a:prstGeom>
          <a:noFill/>
          <a:ln/>
        </p:spPr>
        <p:txBody>
          <a:bodyPr wrap="square" rtlCol="0" anchor="ctr"/>
          <a:lstStyle/>
          <a:p>
            <a:pPr algn="r" indent="0" marL="0">
              <a:buNone/>
            </a:pPr>
            <a:r>
              <a:rPr lang="en-US" sz="800" b="1" dirty="0">
                <a:solidFill>
                  <a:srgbClr val="F59E0B"/>
                </a:solidFill>
                <a:latin typeface="Arial" pitchFamily="34" charset="0"/>
                <a:ea typeface="Arial" pitchFamily="34" charset="-122"/>
                <a:cs typeface="Arial" pitchFamily="34" charset="-120"/>
              </a:rPr>
              <a:t>Q1-Q2 2025</a:t>
            </a:r>
            <a:endParaRPr lang="en-US" sz="800" dirty="0"/>
          </a:p>
        </p:txBody>
      </p:sp>
      <p:sp>
        <p:nvSpPr>
          <p:cNvPr id="11" name="Text 9"/>
          <p:cNvSpPr/>
          <p:nvPr/>
        </p:nvSpPr>
        <p:spPr>
          <a:xfrm>
            <a:off x="6583680" y="1600200"/>
            <a:ext cx="1828800" cy="320040"/>
          </a:xfrm>
          <a:prstGeom prst="rect">
            <a:avLst/>
          </a:prstGeom>
          <a:noFill/>
          <a:ln/>
        </p:spPr>
        <p:txBody>
          <a:bodyPr wrap="square" rtlCol="0" anchor="ctr"/>
          <a:lstStyle/>
          <a:p>
            <a:pPr algn="r" indent="0" marL="0">
              <a:buNone/>
            </a:pPr>
            <a:r>
              <a:rPr lang="en-US" sz="700" dirty="0">
                <a:solidFill>
                  <a:srgbClr val="1A7F64"/>
                </a:solidFill>
                <a:latin typeface="Arial" pitchFamily="34" charset="0"/>
                <a:ea typeface="Arial" pitchFamily="34" charset="-122"/>
                <a:cs typeface="Arial" pitchFamily="34" charset="-120"/>
              </a:rPr>
              <a:t>Reduce compensation-driven attrition by 40%</a:t>
            </a:r>
            <a:endParaRPr lang="en-US" sz="700" dirty="0"/>
          </a:p>
        </p:txBody>
      </p:sp>
      <p:sp>
        <p:nvSpPr>
          <p:cNvPr id="12" name="Shape 10"/>
          <p:cNvSpPr/>
          <p:nvPr/>
        </p:nvSpPr>
        <p:spPr>
          <a:xfrm>
            <a:off x="457200" y="2075688"/>
            <a:ext cx="8229600" cy="749808"/>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13" name="Shape 11"/>
          <p:cNvSpPr/>
          <p:nvPr/>
        </p:nvSpPr>
        <p:spPr>
          <a:xfrm>
            <a:off x="457200" y="2075688"/>
            <a:ext cx="54864" cy="749808"/>
          </a:xfrm>
          <a:prstGeom prst="rect">
            <a:avLst/>
          </a:prstGeom>
          <a:solidFill>
            <a:srgbClr val="00D4FF"/>
          </a:solidFill>
          <a:ln/>
        </p:spPr>
      </p:sp>
      <p:sp>
        <p:nvSpPr>
          <p:cNvPr id="14" name="Text 12"/>
          <p:cNvSpPr/>
          <p:nvPr/>
        </p:nvSpPr>
        <p:spPr>
          <a:xfrm>
            <a:off x="640080" y="2121408"/>
            <a:ext cx="457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02</a:t>
            </a:r>
            <a:endParaRPr lang="en-US" sz="2000" dirty="0"/>
          </a:p>
        </p:txBody>
      </p:sp>
      <p:sp>
        <p:nvSpPr>
          <p:cNvPr id="15" name="Text 13"/>
          <p:cNvSpPr/>
          <p:nvPr/>
        </p:nvSpPr>
        <p:spPr>
          <a:xfrm>
            <a:off x="1188720" y="2121408"/>
            <a:ext cx="4572000" cy="274320"/>
          </a:xfrm>
          <a:prstGeom prst="rect">
            <a:avLst/>
          </a:prstGeom>
          <a:noFill/>
          <a:ln/>
        </p:spPr>
        <p:txBody>
          <a:bodyPr wrap="square" rtlCol="0" anchor="ctr"/>
          <a:lstStyle/>
          <a:p>
            <a:pPr indent="0" marL="0">
              <a:buNone/>
            </a:pPr>
            <a:r>
              <a:rPr lang="en-US" sz="1200" b="1" dirty="0">
                <a:solidFill>
                  <a:srgbClr val="E8F0FE"/>
                </a:solidFill>
                <a:latin typeface="Arial" pitchFamily="34" charset="0"/>
                <a:ea typeface="Arial" pitchFamily="34" charset="-122"/>
                <a:cs typeface="Arial" pitchFamily="34" charset="-120"/>
              </a:rPr>
              <a:t>Invest in Manager Development</a:t>
            </a:r>
            <a:endParaRPr lang="en-US" sz="1200" dirty="0"/>
          </a:p>
        </p:txBody>
      </p:sp>
      <p:sp>
        <p:nvSpPr>
          <p:cNvPr id="16" name="Text 14"/>
          <p:cNvSpPr/>
          <p:nvPr/>
        </p:nvSpPr>
        <p:spPr>
          <a:xfrm>
            <a:off x="1188720" y="2395728"/>
            <a:ext cx="5029200" cy="36576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Roll out 'Manager Essentials 2.0' program for all people managers. Add 360-degree feedback, coaching stipends, and manager effectiveness scorecard.</a:t>
            </a:r>
            <a:endParaRPr lang="en-US" sz="800" dirty="0"/>
          </a:p>
        </p:txBody>
      </p:sp>
      <p:sp>
        <p:nvSpPr>
          <p:cNvPr id="17" name="Text 15"/>
          <p:cNvSpPr/>
          <p:nvPr/>
        </p:nvSpPr>
        <p:spPr>
          <a:xfrm>
            <a:off x="6583680" y="2121408"/>
            <a:ext cx="1828800" cy="274320"/>
          </a:xfrm>
          <a:prstGeom prst="rect">
            <a:avLst/>
          </a:prstGeom>
          <a:noFill/>
          <a:ln/>
        </p:spPr>
        <p:txBody>
          <a:bodyPr wrap="square" rtlCol="0" anchor="ctr"/>
          <a:lstStyle/>
          <a:p>
            <a:pPr algn="r" indent="0" marL="0">
              <a:buNone/>
            </a:pPr>
            <a:r>
              <a:rPr lang="en-US" sz="800" b="1" dirty="0">
                <a:solidFill>
                  <a:srgbClr val="F59E0B"/>
                </a:solidFill>
                <a:latin typeface="Arial" pitchFamily="34" charset="0"/>
                <a:ea typeface="Arial" pitchFamily="34" charset="-122"/>
                <a:cs typeface="Arial" pitchFamily="34" charset="-120"/>
              </a:rPr>
              <a:t>Q1 2025</a:t>
            </a:r>
            <a:endParaRPr lang="en-US" sz="800" dirty="0"/>
          </a:p>
        </p:txBody>
      </p:sp>
      <p:sp>
        <p:nvSpPr>
          <p:cNvPr id="18" name="Text 16"/>
          <p:cNvSpPr/>
          <p:nvPr/>
        </p:nvSpPr>
        <p:spPr>
          <a:xfrm>
            <a:off x="6583680" y="2441448"/>
            <a:ext cx="1828800" cy="320040"/>
          </a:xfrm>
          <a:prstGeom prst="rect">
            <a:avLst/>
          </a:prstGeom>
          <a:noFill/>
          <a:ln/>
        </p:spPr>
        <p:txBody>
          <a:bodyPr wrap="square" rtlCol="0" anchor="ctr"/>
          <a:lstStyle/>
          <a:p>
            <a:pPr algn="r" indent="0" marL="0">
              <a:buNone/>
            </a:pPr>
            <a:r>
              <a:rPr lang="en-US" sz="700" dirty="0">
                <a:solidFill>
                  <a:srgbClr val="1A7F64"/>
                </a:solidFill>
                <a:latin typeface="Arial" pitchFamily="34" charset="0"/>
                <a:ea typeface="Arial" pitchFamily="34" charset="-122"/>
                <a:cs typeface="Arial" pitchFamily="34" charset="-120"/>
              </a:rPr>
              <a:t>Improve manager satisfaction score from 6.98 to 7.5+</a:t>
            </a:r>
            <a:endParaRPr lang="en-US" sz="700" dirty="0"/>
          </a:p>
        </p:txBody>
      </p:sp>
      <p:sp>
        <p:nvSpPr>
          <p:cNvPr id="19" name="Shape 17"/>
          <p:cNvSpPr/>
          <p:nvPr/>
        </p:nvSpPr>
        <p:spPr>
          <a:xfrm>
            <a:off x="457200" y="2916936"/>
            <a:ext cx="8229600" cy="749808"/>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2916936"/>
            <a:ext cx="54864" cy="749808"/>
          </a:xfrm>
          <a:prstGeom prst="rect">
            <a:avLst/>
          </a:prstGeom>
          <a:solidFill>
            <a:srgbClr val="00D4FF"/>
          </a:solidFill>
          <a:ln/>
        </p:spPr>
      </p:sp>
      <p:sp>
        <p:nvSpPr>
          <p:cNvPr id="21" name="Text 19"/>
          <p:cNvSpPr/>
          <p:nvPr/>
        </p:nvSpPr>
        <p:spPr>
          <a:xfrm>
            <a:off x="640080" y="2962656"/>
            <a:ext cx="457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03</a:t>
            </a:r>
            <a:endParaRPr lang="en-US" sz="2000" dirty="0"/>
          </a:p>
        </p:txBody>
      </p:sp>
      <p:sp>
        <p:nvSpPr>
          <p:cNvPr id="22" name="Text 20"/>
          <p:cNvSpPr/>
          <p:nvPr/>
        </p:nvSpPr>
        <p:spPr>
          <a:xfrm>
            <a:off x="1188720" y="2962656"/>
            <a:ext cx="4572000" cy="274320"/>
          </a:xfrm>
          <a:prstGeom prst="rect">
            <a:avLst/>
          </a:prstGeom>
          <a:noFill/>
          <a:ln/>
        </p:spPr>
        <p:txBody>
          <a:bodyPr wrap="square" rtlCol="0" anchor="ctr"/>
          <a:lstStyle/>
          <a:p>
            <a:pPr indent="0" marL="0">
              <a:buNone/>
            </a:pPr>
            <a:r>
              <a:rPr lang="en-US" sz="1200" b="1" dirty="0">
                <a:solidFill>
                  <a:srgbClr val="E8F0FE"/>
                </a:solidFill>
                <a:latin typeface="Arial" pitchFamily="34" charset="0"/>
                <a:ea typeface="Arial" pitchFamily="34" charset="-122"/>
                <a:cs typeface="Arial" pitchFamily="34" charset="-120"/>
              </a:rPr>
              <a:t>Clear Training Backlog</a:t>
            </a:r>
            <a:endParaRPr lang="en-US" sz="1200" dirty="0"/>
          </a:p>
        </p:txBody>
      </p:sp>
      <p:sp>
        <p:nvSpPr>
          <p:cNvPr id="23" name="Text 21"/>
          <p:cNvSpPr/>
          <p:nvPr/>
        </p:nvSpPr>
        <p:spPr>
          <a:xfrm>
            <a:off x="1188720" y="3236976"/>
            <a:ext cx="5029200" cy="36576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Address 301 overdue enrollments with a 30-day compliance sprint. Prioritize mandatory security training (151 overdue). Add automated reminders.</a:t>
            </a:r>
            <a:endParaRPr lang="en-US" sz="800" dirty="0"/>
          </a:p>
        </p:txBody>
      </p:sp>
      <p:sp>
        <p:nvSpPr>
          <p:cNvPr id="24" name="Text 22"/>
          <p:cNvSpPr/>
          <p:nvPr/>
        </p:nvSpPr>
        <p:spPr>
          <a:xfrm>
            <a:off x="6583680" y="2962656"/>
            <a:ext cx="1828800" cy="274320"/>
          </a:xfrm>
          <a:prstGeom prst="rect">
            <a:avLst/>
          </a:prstGeom>
          <a:noFill/>
          <a:ln/>
        </p:spPr>
        <p:txBody>
          <a:bodyPr wrap="square" rtlCol="0" anchor="ctr"/>
          <a:lstStyle/>
          <a:p>
            <a:pPr algn="r" indent="0" marL="0">
              <a:buNone/>
            </a:pPr>
            <a:r>
              <a:rPr lang="en-US" sz="800" b="1" dirty="0">
                <a:solidFill>
                  <a:srgbClr val="F59E0B"/>
                </a:solidFill>
                <a:latin typeface="Arial" pitchFamily="34" charset="0"/>
                <a:ea typeface="Arial" pitchFamily="34" charset="-122"/>
                <a:cs typeface="Arial" pitchFamily="34" charset="-120"/>
              </a:rPr>
              <a:t>Q1 2025</a:t>
            </a:r>
            <a:endParaRPr lang="en-US" sz="800" dirty="0"/>
          </a:p>
        </p:txBody>
      </p:sp>
      <p:sp>
        <p:nvSpPr>
          <p:cNvPr id="25" name="Text 23"/>
          <p:cNvSpPr/>
          <p:nvPr/>
        </p:nvSpPr>
        <p:spPr>
          <a:xfrm>
            <a:off x="6583680" y="3282696"/>
            <a:ext cx="1828800" cy="320040"/>
          </a:xfrm>
          <a:prstGeom prst="rect">
            <a:avLst/>
          </a:prstGeom>
          <a:noFill/>
          <a:ln/>
        </p:spPr>
        <p:txBody>
          <a:bodyPr wrap="square" rtlCol="0" anchor="ctr"/>
          <a:lstStyle/>
          <a:p>
            <a:pPr algn="r" indent="0" marL="0">
              <a:buNone/>
            </a:pPr>
            <a:r>
              <a:rPr lang="en-US" sz="700" dirty="0">
                <a:solidFill>
                  <a:srgbClr val="1A7F64"/>
                </a:solidFill>
                <a:latin typeface="Arial" pitchFamily="34" charset="0"/>
                <a:ea typeface="Arial" pitchFamily="34" charset="-122"/>
                <a:cs typeface="Arial" pitchFamily="34" charset="-120"/>
              </a:rPr>
              <a:t>Reach 95% compliance rate</a:t>
            </a:r>
            <a:endParaRPr lang="en-US" sz="700" dirty="0"/>
          </a:p>
        </p:txBody>
      </p:sp>
      <p:sp>
        <p:nvSpPr>
          <p:cNvPr id="26" name="Shape 24"/>
          <p:cNvSpPr/>
          <p:nvPr/>
        </p:nvSpPr>
        <p:spPr>
          <a:xfrm>
            <a:off x="457200" y="3758184"/>
            <a:ext cx="8229600" cy="749808"/>
          </a:xfrm>
          <a:prstGeom prst="rect">
            <a:avLst/>
          </a:prstGeom>
          <a:solidFill>
            <a:srgbClr val="1A2540"/>
          </a:solidFill>
          <a:ln/>
          <a:effectLst>
            <a:outerShdw sx="100000" sy="100000" kx="0" ky="0" algn="bl" rotWithShape="0" blurRad="76200" dist="25400" dir="8100000">
              <a:srgbClr val="000000">
                <a:alpha val="12000"/>
              </a:srgbClr>
            </a:outerShdw>
          </a:effectLst>
        </p:spPr>
      </p:sp>
      <p:sp>
        <p:nvSpPr>
          <p:cNvPr id="27" name="Shape 25"/>
          <p:cNvSpPr/>
          <p:nvPr/>
        </p:nvSpPr>
        <p:spPr>
          <a:xfrm>
            <a:off x="457200" y="3758184"/>
            <a:ext cx="54864" cy="749808"/>
          </a:xfrm>
          <a:prstGeom prst="rect">
            <a:avLst/>
          </a:prstGeom>
          <a:solidFill>
            <a:srgbClr val="00D4FF"/>
          </a:solidFill>
          <a:ln/>
        </p:spPr>
      </p:sp>
      <p:sp>
        <p:nvSpPr>
          <p:cNvPr id="28" name="Text 26"/>
          <p:cNvSpPr/>
          <p:nvPr/>
        </p:nvSpPr>
        <p:spPr>
          <a:xfrm>
            <a:off x="640080" y="3803904"/>
            <a:ext cx="457200" cy="320040"/>
          </a:xfrm>
          <a:prstGeom prst="rect">
            <a:avLst/>
          </a:prstGeom>
          <a:noFill/>
          <a:ln/>
        </p:spPr>
        <p:txBody>
          <a:bodyPr wrap="square" rtlCol="0" anchor="ctr"/>
          <a:lstStyle/>
          <a:p>
            <a:pPr indent="0" marL="0">
              <a:buNone/>
            </a:pPr>
            <a:r>
              <a:rPr lang="en-US" sz="2000" b="1" dirty="0">
                <a:solidFill>
                  <a:srgbClr val="00D4FF"/>
                </a:solidFill>
                <a:latin typeface="Arial" pitchFamily="34" charset="0"/>
                <a:ea typeface="Arial" pitchFamily="34" charset="-122"/>
                <a:cs typeface="Arial" pitchFamily="34" charset="-120"/>
              </a:rPr>
              <a:t>04</a:t>
            </a:r>
            <a:endParaRPr lang="en-US" sz="2000" dirty="0"/>
          </a:p>
        </p:txBody>
      </p:sp>
      <p:sp>
        <p:nvSpPr>
          <p:cNvPr id="29" name="Text 27"/>
          <p:cNvSpPr/>
          <p:nvPr/>
        </p:nvSpPr>
        <p:spPr>
          <a:xfrm>
            <a:off x="1188720" y="3803904"/>
            <a:ext cx="4572000" cy="274320"/>
          </a:xfrm>
          <a:prstGeom prst="rect">
            <a:avLst/>
          </a:prstGeom>
          <a:noFill/>
          <a:ln/>
        </p:spPr>
        <p:txBody>
          <a:bodyPr wrap="square" rtlCol="0" anchor="ctr"/>
          <a:lstStyle/>
          <a:p>
            <a:pPr indent="0" marL="0">
              <a:buNone/>
            </a:pPr>
            <a:r>
              <a:rPr lang="en-US" sz="1200" b="1" dirty="0">
                <a:solidFill>
                  <a:srgbClr val="E8F0FE"/>
                </a:solidFill>
                <a:latin typeface="Arial" pitchFamily="34" charset="0"/>
                <a:ea typeface="Arial" pitchFamily="34" charset="-122"/>
                <a:cs typeface="Arial" pitchFamily="34" charset="-120"/>
              </a:rPr>
              <a:t>Strengthen Succession Pipeline</a:t>
            </a:r>
            <a:endParaRPr lang="en-US" sz="1200" dirty="0"/>
          </a:p>
        </p:txBody>
      </p:sp>
      <p:sp>
        <p:nvSpPr>
          <p:cNvPr id="30" name="Text 28"/>
          <p:cNvSpPr/>
          <p:nvPr/>
        </p:nvSpPr>
        <p:spPr>
          <a:xfrm>
            <a:off x="1188720" y="4078224"/>
            <a:ext cx="5029200" cy="365760"/>
          </a:xfrm>
          <a:prstGeom prst="rect">
            <a:avLst/>
          </a:prstGeom>
          <a:noFill/>
          <a:ln/>
        </p:spPr>
        <p:txBody>
          <a:bodyPr wrap="square" rtlCol="0" anchor="t"/>
          <a:lstStyle/>
          <a:p>
            <a:pPr indent="0" marL="0">
              <a:buNone/>
            </a:pPr>
            <a:r>
              <a:rPr lang="en-US" sz="800" dirty="0">
                <a:solidFill>
                  <a:srgbClr val="8B95A5"/>
                </a:solidFill>
                <a:latin typeface="Arial" pitchFamily="34" charset="0"/>
                <a:ea typeface="Arial" pitchFamily="34" charset="-122"/>
                <a:cs typeface="Arial" pitchFamily="34" charset="-120"/>
              </a:rPr>
              <a:t>Build diversity-focused talent pipeline for M3+ roles. Hispanic and Middle Eastern representation drops at senior levels — targeted mentorship and sponsorship programs needed.</a:t>
            </a:r>
            <a:endParaRPr lang="en-US" sz="800" dirty="0"/>
          </a:p>
        </p:txBody>
      </p:sp>
      <p:sp>
        <p:nvSpPr>
          <p:cNvPr id="31" name="Text 29"/>
          <p:cNvSpPr/>
          <p:nvPr/>
        </p:nvSpPr>
        <p:spPr>
          <a:xfrm>
            <a:off x="6583680" y="3803904"/>
            <a:ext cx="1828800" cy="274320"/>
          </a:xfrm>
          <a:prstGeom prst="rect">
            <a:avLst/>
          </a:prstGeom>
          <a:noFill/>
          <a:ln/>
        </p:spPr>
        <p:txBody>
          <a:bodyPr wrap="square" rtlCol="0" anchor="ctr"/>
          <a:lstStyle/>
          <a:p>
            <a:pPr algn="r" indent="0" marL="0">
              <a:buNone/>
            </a:pPr>
            <a:r>
              <a:rPr lang="en-US" sz="800" b="1" dirty="0">
                <a:solidFill>
                  <a:srgbClr val="F59E0B"/>
                </a:solidFill>
                <a:latin typeface="Arial" pitchFamily="34" charset="0"/>
                <a:ea typeface="Arial" pitchFamily="34" charset="-122"/>
                <a:cs typeface="Arial" pitchFamily="34" charset="-120"/>
              </a:rPr>
              <a:t>Q2-Q3 2025</a:t>
            </a:r>
            <a:endParaRPr lang="en-US" sz="800" dirty="0"/>
          </a:p>
        </p:txBody>
      </p:sp>
      <p:sp>
        <p:nvSpPr>
          <p:cNvPr id="32" name="Text 30"/>
          <p:cNvSpPr/>
          <p:nvPr/>
        </p:nvSpPr>
        <p:spPr>
          <a:xfrm>
            <a:off x="6583680" y="4123944"/>
            <a:ext cx="1828800" cy="320040"/>
          </a:xfrm>
          <a:prstGeom prst="rect">
            <a:avLst/>
          </a:prstGeom>
          <a:noFill/>
          <a:ln/>
        </p:spPr>
        <p:txBody>
          <a:bodyPr wrap="square" rtlCol="0" anchor="ctr"/>
          <a:lstStyle/>
          <a:p>
            <a:pPr algn="r" indent="0" marL="0">
              <a:buNone/>
            </a:pPr>
            <a:r>
              <a:rPr lang="en-US" sz="700" dirty="0">
                <a:solidFill>
                  <a:srgbClr val="1A7F64"/>
                </a:solidFill>
                <a:latin typeface="Arial" pitchFamily="34" charset="0"/>
                <a:ea typeface="Arial" pitchFamily="34" charset="-122"/>
                <a:cs typeface="Arial" pitchFamily="34" charset="-120"/>
              </a:rPr>
              <a:t>Increase leadership diversity by 15%</a:t>
            </a:r>
            <a:endParaRPr lang="en-US" sz="700" dirty="0"/>
          </a:p>
        </p:txBody>
      </p:sp>
      <p:sp>
        <p:nvSpPr>
          <p:cNvPr id="33" name="Shape 31"/>
          <p:cNvSpPr/>
          <p:nvPr/>
        </p:nvSpPr>
        <p:spPr>
          <a:xfrm>
            <a:off x="0" y="4709160"/>
            <a:ext cx="9144000" cy="434340"/>
          </a:xfrm>
          <a:prstGeom prst="rect">
            <a:avLst/>
          </a:prstGeom>
          <a:solidFill>
            <a:srgbClr val="141E30"/>
          </a:solidFill>
          <a:ln/>
        </p:spPr>
      </p:sp>
      <p:sp>
        <p:nvSpPr>
          <p:cNvPr id="34" name="Text 32"/>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35" name="Text 33"/>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p:spPr>
      </p:sp>
      <p:sp>
        <p:nvSpPr>
          <p:cNvPr id="3" name="Text 1"/>
          <p:cNvSpPr/>
          <p:nvPr/>
        </p:nvSpPr>
        <p:spPr>
          <a:xfrm>
            <a:off x="548640" y="914400"/>
            <a:ext cx="1828800" cy="731520"/>
          </a:xfrm>
          <a:prstGeom prst="rect">
            <a:avLst/>
          </a:prstGeom>
          <a:noFill/>
          <a:ln/>
        </p:spPr>
        <p:txBody>
          <a:bodyPr wrap="square" rtlCol="0" anchor="ctr"/>
          <a:lstStyle/>
          <a:p>
            <a:pPr indent="0" marL="0">
              <a:buNone/>
            </a:pPr>
            <a:r>
              <a:rPr lang="en-US" sz="4800" b="1" dirty="0">
                <a:solidFill>
                  <a:srgbClr val="00D4FF"/>
                </a:solidFill>
                <a:latin typeface="Arial" pitchFamily="34" charset="0"/>
                <a:ea typeface="Arial" pitchFamily="34" charset="-122"/>
                <a:cs typeface="Arial" pitchFamily="34" charset="-120"/>
              </a:rPr>
              <a:t>x</a:t>
            </a:r>
            <a:pPr indent="0" marL="0">
              <a:buNone/>
            </a:pPr>
            <a:r>
              <a:rPr lang="en-US" sz="4800" b="1" dirty="0">
                <a:solidFill>
                  <a:srgbClr val="FF6B35"/>
                </a:solidFill>
                <a:latin typeface="Arial" pitchFamily="34" charset="0"/>
                <a:ea typeface="Arial" pitchFamily="34" charset="-122"/>
                <a:cs typeface="Arial" pitchFamily="34" charset="-120"/>
              </a:rPr>
              <a:t>F</a:t>
            </a:r>
            <a:endParaRPr lang="en-US" sz="4800" dirty="0"/>
          </a:p>
        </p:txBody>
      </p:sp>
      <p:sp>
        <p:nvSpPr>
          <p:cNvPr id="4" name="Text 2"/>
          <p:cNvSpPr/>
          <p:nvPr/>
        </p:nvSpPr>
        <p:spPr>
          <a:xfrm>
            <a:off x="548640" y="1737360"/>
            <a:ext cx="7772400" cy="731520"/>
          </a:xfrm>
          <a:prstGeom prst="rect">
            <a:avLst/>
          </a:prstGeom>
          <a:noFill/>
          <a:ln/>
        </p:spPr>
        <p:txBody>
          <a:bodyPr wrap="square" rtlCol="0" anchor="ctr"/>
          <a:lstStyle/>
          <a:p>
            <a:pPr indent="0" marL="0">
              <a:buNone/>
            </a:pPr>
            <a:r>
              <a:rPr lang="en-US" sz="3600" b="1" dirty="0">
                <a:solidFill>
                  <a:srgbClr val="F5F7FA"/>
                </a:solidFill>
                <a:latin typeface="Arial" pitchFamily="34" charset="0"/>
                <a:ea typeface="Arial" pitchFamily="34" charset="-122"/>
                <a:cs typeface="Arial" pitchFamily="34" charset="-120"/>
              </a:rPr>
              <a:t>Thank You</a:t>
            </a:r>
            <a:endParaRPr lang="en-US" sz="3600" dirty="0"/>
          </a:p>
        </p:txBody>
      </p:sp>
      <p:sp>
        <p:nvSpPr>
          <p:cNvPr id="5" name="Text 3"/>
          <p:cNvSpPr/>
          <p:nvPr/>
        </p:nvSpPr>
        <p:spPr>
          <a:xfrm>
            <a:off x="548640" y="2468880"/>
            <a:ext cx="7315200" cy="365760"/>
          </a:xfrm>
          <a:prstGeom prst="rect">
            <a:avLst/>
          </a:prstGeom>
          <a:noFill/>
          <a:ln/>
        </p:spPr>
        <p:txBody>
          <a:bodyPr wrap="square" rtlCol="0" anchor="ctr"/>
          <a:lstStyle/>
          <a:p>
            <a:pPr indent="0" marL="0">
              <a:buNone/>
            </a:pPr>
            <a:r>
              <a:rPr lang="en-US" sz="1400" dirty="0">
                <a:solidFill>
                  <a:srgbClr val="8B95A5"/>
                </a:solidFill>
                <a:latin typeface="Arial" pitchFamily="34" charset="0"/>
                <a:ea typeface="Arial" pitchFamily="34" charset="-122"/>
                <a:cs typeface="Arial" pitchFamily="34" charset="-120"/>
              </a:rPr>
              <a:t>Falcon Corp HR Analytics  |  Year-End 2024</a:t>
            </a:r>
            <a:endParaRPr lang="en-US" sz="1400" dirty="0"/>
          </a:p>
        </p:txBody>
      </p:sp>
      <p:sp>
        <p:nvSpPr>
          <p:cNvPr id="6" name="Shape 4"/>
          <p:cNvSpPr/>
          <p:nvPr/>
        </p:nvSpPr>
        <p:spPr>
          <a:xfrm>
            <a:off x="548640" y="3017520"/>
            <a:ext cx="1371600" cy="36576"/>
          </a:xfrm>
          <a:prstGeom prst="rect">
            <a:avLst/>
          </a:prstGeom>
          <a:solidFill>
            <a:srgbClr val="00D4FF"/>
          </a:solidFill>
          <a:ln/>
        </p:spPr>
      </p:sp>
      <p:sp>
        <p:nvSpPr>
          <p:cNvPr id="7" name="Text 5"/>
          <p:cNvSpPr/>
          <p:nvPr/>
        </p:nvSpPr>
        <p:spPr>
          <a:xfrm>
            <a:off x="548640" y="3200400"/>
            <a:ext cx="7315200" cy="365760"/>
          </a:xfrm>
          <a:prstGeom prst="rect">
            <a:avLst/>
          </a:prstGeom>
          <a:noFill/>
          <a:ln/>
        </p:spPr>
        <p:txBody>
          <a:bodyPr wrap="square" rtlCol="0" anchor="ctr"/>
          <a:lstStyle/>
          <a:p>
            <a:pPr indent="0" marL="0">
              <a:buNone/>
            </a:pPr>
            <a:r>
              <a:rPr lang="en-US" sz="1200" b="1" dirty="0">
                <a:solidFill>
                  <a:srgbClr val="E8F0FE"/>
                </a:solidFill>
                <a:latin typeface="Arial" pitchFamily="34" charset="0"/>
                <a:ea typeface="Arial" pitchFamily="34" charset="-122"/>
                <a:cs typeface="Arial" pitchFamily="34" charset="-120"/>
              </a:rPr>
              <a:t>Questions?  </a:t>
            </a:r>
            <a:pPr indent="0" marL="0">
              <a:buNone/>
            </a:pPr>
            <a:r>
              <a:rPr lang="en-US" sz="1200" dirty="0">
                <a:solidFill>
                  <a:srgbClr val="8B95A5"/>
                </a:solidFill>
                <a:latin typeface="Arial" pitchFamily="34" charset="0"/>
                <a:ea typeface="Arial" pitchFamily="34" charset="-122"/>
                <a:cs typeface="Arial" pitchFamily="34" charset="-120"/>
              </a:rPr>
              <a:t>Reach out to the HR Analytics team</a:t>
            </a:r>
            <a:endParaRPr lang="en-US" sz="1200" dirty="0"/>
          </a:p>
        </p:txBody>
      </p:sp>
      <p:sp>
        <p:nvSpPr>
          <p:cNvPr id="8" name="Text 6"/>
          <p:cNvSpPr/>
          <p:nvPr/>
        </p:nvSpPr>
        <p:spPr>
          <a:xfrm>
            <a:off x="548640" y="3840480"/>
            <a:ext cx="7315200" cy="274320"/>
          </a:xfrm>
          <a:prstGeom prst="rect">
            <a:avLst/>
          </a:prstGeom>
          <a:noFill/>
          <a:ln/>
        </p:spPr>
        <p:txBody>
          <a:bodyPr wrap="square" rtlCol="0" anchor="ctr"/>
          <a:lstStyle/>
          <a:p>
            <a:pPr indent="0" marL="0">
              <a:buNone/>
            </a:pPr>
            <a:r>
              <a:rPr lang="en-US" sz="800" i="1" dirty="0">
                <a:solidFill>
                  <a:srgbClr val="5A6370"/>
                </a:solidFill>
                <a:latin typeface="Arial" pitchFamily="34" charset="0"/>
                <a:ea typeface="Arial" pitchFamily="34" charset="-122"/>
                <a:cs typeface="Arial" pitchFamily="34" charset="-120"/>
              </a:rPr>
              <a:t>This document is confidential and intended for internal use only.</a:t>
            </a:r>
            <a:endParaRPr lang="en-US" sz="800" dirty="0"/>
          </a:p>
        </p:txBody>
      </p:sp>
      <p:sp>
        <p:nvSpPr>
          <p:cNvPr id="9" name="Shape 7"/>
          <p:cNvSpPr/>
          <p:nvPr/>
        </p:nvSpPr>
        <p:spPr>
          <a:xfrm>
            <a:off x="0" y="4709160"/>
            <a:ext cx="9144000" cy="434340"/>
          </a:xfrm>
          <a:prstGeom prst="rect">
            <a:avLst/>
          </a:prstGeom>
          <a:solidFill>
            <a:srgbClr val="141E30"/>
          </a:solidFill>
          <a:ln/>
        </p:spPr>
      </p:sp>
      <p:sp>
        <p:nvSpPr>
          <p:cNvPr id="10" name="Text 8"/>
          <p:cNvSpPr/>
          <p:nvPr/>
        </p:nvSpPr>
        <p:spPr>
          <a:xfrm>
            <a:off x="457200" y="4754880"/>
            <a:ext cx="6400800" cy="320040"/>
          </a:xfrm>
          <a:prstGeom prst="rect">
            <a:avLst/>
          </a:prstGeom>
          <a:noFill/>
          <a:ln/>
        </p:spPr>
        <p:txBody>
          <a:bodyPr wrap="square" rtlCol="0" anchor="ctr"/>
          <a:lstStyle/>
          <a:p>
            <a:pPr indent="0" marL="0">
              <a:buNone/>
            </a:pPr>
            <a:r>
              <a:rPr lang="en-US" sz="800" dirty="0">
                <a:solidFill>
                  <a:srgbClr val="5A6370"/>
                </a:solidFill>
                <a:latin typeface="Arial" pitchFamily="34" charset="0"/>
                <a:ea typeface="Arial" pitchFamily="34" charset="-122"/>
                <a:cs typeface="Arial" pitchFamily="34" charset="-120"/>
              </a:rPr>
              <a:t>Falcon Corp  |  Confidential  |  Year-End 2024</a:t>
            </a:r>
            <a:endParaRPr lang="en-US" sz="800" dirty="0"/>
          </a:p>
        </p:txBody>
      </p:sp>
      <p:sp>
        <p:nvSpPr>
          <p:cNvPr id="11" name="Text 9"/>
          <p:cNvSpPr/>
          <p:nvPr/>
        </p:nvSpPr>
        <p:spPr>
          <a:xfrm>
            <a:off x="7772400" y="4754880"/>
            <a:ext cx="914400" cy="320040"/>
          </a:xfrm>
          <a:prstGeom prst="rect">
            <a:avLst/>
          </a:prstGeom>
          <a:noFill/>
          <a:ln/>
        </p:spPr>
        <p:txBody>
          <a:bodyPr wrap="square" rtlCol="0" anchor="ctr"/>
          <a:lstStyle/>
          <a:p>
            <a:pPr algn="r" indent="0" marL="0">
              <a:buNone/>
            </a:pPr>
            <a:r>
              <a:rPr lang="en-US" sz="800" dirty="0">
                <a:solidFill>
                  <a:srgbClr val="5A6370"/>
                </a:solidFill>
                <a:latin typeface="Arial" pitchFamily="34" charset="0"/>
                <a:ea typeface="Arial" pitchFamily="34" charset="-122"/>
                <a:cs typeface="Arial"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91501FD4DDC148AD1E3FAF4074DBCB" ma:contentTypeVersion="10" ma:contentTypeDescription="Create a new document." ma:contentTypeScope="" ma:versionID="23307c1766f35e1813edc1f238b31f69">
  <xsd:schema xmlns:xsd="http://www.w3.org/2001/XMLSchema" xmlns:xs="http://www.w3.org/2001/XMLSchema" xmlns:p="http://schemas.microsoft.com/office/2006/metadata/properties" xmlns:ns2="1d2cd3fc-951f-4e4c-8f77-1331cffdf41d" xmlns:ns3="34e7643f-2a9f-4a64-a4ba-836cf78c5c76" targetNamespace="http://schemas.microsoft.com/office/2006/metadata/properties" ma:root="true" ma:fieldsID="36ef4bd80d09d7a3142c5bd9cda6c92f" ns2:_="" ns3:_="">
    <xsd:import namespace="1d2cd3fc-951f-4e4c-8f77-1331cffdf41d"/>
    <xsd:import namespace="34e7643f-2a9f-4a64-a4ba-836cf78c5c7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cd3fc-951f-4e4c-8f77-1331cffdf4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908c4cd-8667-446b-b651-bab9ad44621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e7643f-2a9f-4a64-a4ba-836cf78c5c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157cb98-881d-40df-bd60-f2fdacd5fef4}" ma:internalName="TaxCatchAll" ma:showField="CatchAllData" ma:web="34e7643f-2a9f-4a64-a4ba-836cf78c5c7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4e7643f-2a9f-4a64-a4ba-836cf78c5c76" xsi:nil="true"/>
    <lcf76f155ced4ddcb4097134ff3c332f xmlns="1d2cd3fc-951f-4e4c-8f77-1331cffdf4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4BB7F5E-8C3E-4399-86EF-02FEC6C39554}"/>
</file>

<file path=customXml/itemProps2.xml><?xml version="1.0" encoding="utf-8"?>
<ds:datastoreItem xmlns:ds="http://schemas.openxmlformats.org/officeDocument/2006/customXml" ds:itemID="{6130E19F-9C69-4861-A95A-BC47B9CFE8D2}"/>
</file>

<file path=customXml/itemProps3.xml><?xml version="1.0" encoding="utf-8"?>
<ds:datastoreItem xmlns:ds="http://schemas.openxmlformats.org/officeDocument/2006/customXml" ds:itemID="{A812C805-B10C-42BF-9038-1D9C30CD22C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Falcon Corp — 2024 Year-End HR Report</dc:title>
  <dc:subject>PptxGenJS Presentation</dc:subject>
  <dc:creator>Falcon Corp HR Analytics</dc:creator>
  <cp:lastModifiedBy>Falcon Corp HR Analytics</cp:lastModifiedBy>
  <cp:revision>1</cp:revision>
  <dcterms:created xsi:type="dcterms:W3CDTF">2026-03-28T16:58:50Z</dcterms:created>
  <dcterms:modified xsi:type="dcterms:W3CDTF">2026-03-28T16:58:50Z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0x0101008B91501FD4DDC148AD1E3FAF4074DBCB</vt:lpwstr>
  </property>
</Properties>
</file>