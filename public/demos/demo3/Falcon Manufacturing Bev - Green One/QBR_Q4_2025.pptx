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Quarter-over-Quarter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9B99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Gross Profit</c:v>
                  </c:pt>
                  <c:pt idx="2">
                    <c:v>EBITDA</c:v>
                  </c:pt>
                  <c:pt idx="3">
                    <c:v>Net Profit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9097.98</c:v>
                </c:pt>
                <c:pt idx="1">
                  <c:v>4590.66</c:v>
                </c:pt>
                <c:pt idx="2">
                  <c:v>8580</c:v>
                </c:pt>
                <c:pt idx="3">
                  <c:v>6700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Gross Profit</c:v>
                  </c:pt>
                  <c:pt idx="2">
                    <c:v>EBITDA</c:v>
                  </c:pt>
                  <c:pt idx="3">
                    <c:v>Net Profit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16192.05</c:v>
                </c:pt>
                <c:pt idx="1">
                  <c:v>8255.67</c:v>
                </c:pt>
                <c:pt idx="2">
                  <c:v>13890</c:v>
                </c:pt>
                <c:pt idx="3">
                  <c:v>10840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Revenue by Category ($K)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B701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bubble3D val="0"/>
            <c:spPr>
              <a:solidFill>
                <a:srgbClr val="FFB800"/>
              </a:solidFill>
              <a:effectLst/>
            </c:spPr>
          </c:dPt>
          <c:dPt>
            <c:idx val="3"/>
            <c:bubble3D val="0"/>
            <c:spPr>
              <a:solidFill>
                <a:srgbClr val="9C27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Energy Drink</c:v>
                </c:pt>
                <c:pt idx="1">
                  <c:v>Sparkling Water</c:v>
                </c:pt>
                <c:pt idx="2">
                  <c:v>Craft Soda</c:v>
                </c:pt>
                <c:pt idx="3">
                  <c:v>Juice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80.2</c:v>
                </c:pt>
                <c:pt idx="1">
                  <c:v>76.1</c:v>
                </c:pt>
                <c:pt idx="2">
                  <c:v>60.7</c:v>
                </c:pt>
                <c:pt idx="3">
                  <c:v>39.3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Revenue by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Distributor</c:v>
                  </c:pt>
                  <c:pt idx="1">
                    <c:v>Retail</c:v>
                  </c:pt>
                  <c:pt idx="2">
                    <c:v>Online</c:v>
                  </c:pt>
                  <c:pt idx="3">
                    <c:v>Supermarket</c:v>
                  </c:pt>
                  <c:pt idx="4">
                    <c:v>Restaurant</c:v>
                  </c:pt>
                  <c:pt idx="5">
                    <c:v>DTC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47</c:v>
                </c:pt>
                <c:pt idx="2">
                  <c:v>36</c:v>
                </c:pt>
                <c:pt idx="3">
                  <c:v>33</c:v>
                </c:pt>
                <c:pt idx="4">
                  <c:v>25</c:v>
                </c:pt>
                <c:pt idx="5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B999B"/>
                </a:solidFill>
                <a:latin typeface="Arial"/>
              </a:rPr>
              <a:t>Revenue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West</c:v>
                  </c:pt>
                  <c:pt idx="1">
                    <c:v>Southeast</c:v>
                  </c:pt>
                  <c:pt idx="2">
                    <c:v>Northeast</c:v>
                  </c:pt>
                  <c:pt idx="3">
                    <c:v>Midwest</c:v>
                  </c:pt>
                  <c:pt idx="4">
                    <c:v>International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74</c:v>
                </c:pt>
                <c:pt idx="2">
                  <c:v>67</c:v>
                </c:pt>
                <c:pt idx="3">
                  <c:v>24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 |  Oct - Dec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286000" cy="36576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 Manufacturing Division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Leadership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Key Metrics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36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975104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7510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97510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Deep Dive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414016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14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4140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Supply Chain Health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852928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8529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Efficiency &amp; Quality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91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291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Performance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730752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7307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Sustainability Scorecard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169664"/>
            <a:ext cx="7680960" cy="34747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696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16966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0" y="182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vs Q3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16459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$16.2K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+78.0% QoQ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14400"/>
            <a:ext cx="54864" cy="1645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$8.3K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+79.8% QoQ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14400"/>
            <a:ext cx="54864" cy="1645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50.7%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+0.4% QoQ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834640"/>
            <a:ext cx="54864" cy="16459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$13.89M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+61.9% QoQ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283464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83464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$10.84M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56616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+61.8% QoQ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2834640"/>
            <a:ext cx="246888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34640"/>
            <a:ext cx="54864" cy="16459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7.9K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1792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+61.2% QoQ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01752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822960"/>
            <a:ext cx="54864" cy="3200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3716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grew 78.0% QoQ to $16.2K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expanded by 0.2 bps to 50.7%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up 61.8% to $10.84M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at $13.89M (+61.9% QoQ)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CATEGORY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3152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8229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822960"/>
            <a:ext cx="54864" cy="77724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Drink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$80.2K  |  31.3% share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17373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73736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Sparkling Water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1208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$76.1K  |  29.7% share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0" y="26517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2651760"/>
            <a:ext cx="54864" cy="7772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Soda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1208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$60.7K  |  23.7% share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3566160"/>
            <a:ext cx="365760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0" y="3566160"/>
            <a:ext cx="54864" cy="7772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1208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$39.3K  |  15.3% share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CHANNEL &amp; REGION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7315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SUPPLY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Health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43000"/>
            <a:ext cx="45720" cy="100584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Stock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143000"/>
            <a:ext cx="45720" cy="10058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7.72%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331720"/>
            <a:ext cx="45720" cy="10058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Expiry Units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145.5K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2331720"/>
            <a:ext cx="45720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Units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143000"/>
            <a:ext cx="45720" cy="10058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Lead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 days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49440" y="114300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143000"/>
            <a:ext cx="45720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Delivery 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93776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331720"/>
            <a:ext cx="45720" cy="10058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949440" y="2331720"/>
            <a:ext cx="1828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49440" y="2331720"/>
            <a:ext cx="45720" cy="100584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Rating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4.25/5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1520" y="3657600"/>
            <a:ext cx="78638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1520" y="3657600"/>
            <a:ext cx="45720" cy="10972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rate improved to 7.72% - inventory controls effective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procurement cost: $216.3K across 14 orders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delivery rate elevated at 15.4% - supplier review recommended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EFFICIENCY &amp; QUALITY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45720" cy="91440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Utilization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6916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60%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45720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95.1%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95%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45720" cy="9144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16916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&lt;1%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14884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148840"/>
            <a:ext cx="45720" cy="9144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194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(hrs)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103120" y="2743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&lt;80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14884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148840"/>
            <a:ext cx="45720" cy="914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194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Unit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2743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$0.35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148840"/>
            <a:ext cx="2468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148840"/>
            <a:ext cx="45720" cy="91440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194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Produced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4.07M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06640" y="27432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-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Compliance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361188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3611880"/>
            <a:ext cx="4572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36301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383280" y="361188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Shape 39"/>
          <p:cNvSpPr/>
          <p:nvPr/>
        </p:nvSpPr>
        <p:spPr>
          <a:xfrm>
            <a:off x="3383280" y="3611880"/>
            <a:ext cx="45720" cy="5943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Violations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36301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035040" y="361188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5" name="Shape 43"/>
          <p:cNvSpPr/>
          <p:nvPr/>
        </p:nvSpPr>
        <p:spPr>
          <a:xfrm>
            <a:off x="6035040" y="3611880"/>
            <a:ext cx="4572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06640" y="36301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731520" y="434340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Shape 47"/>
          <p:cNvSpPr/>
          <p:nvPr/>
        </p:nvSpPr>
        <p:spPr>
          <a:xfrm>
            <a:off x="731520" y="4343400"/>
            <a:ext cx="45720" cy="5943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4361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Labeling Issues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4361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383280" y="434340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3" name="Shape 51"/>
          <p:cNvSpPr/>
          <p:nvPr/>
        </p:nvSpPr>
        <p:spPr>
          <a:xfrm>
            <a:off x="3383280" y="4343400"/>
            <a:ext cx="45720" cy="594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4" name="Text 52"/>
          <p:cNvSpPr/>
          <p:nvPr/>
        </p:nvSpPr>
        <p:spPr>
          <a:xfrm>
            <a:off x="3520440" y="4361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Inspected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4361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32.4K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035040" y="4343400"/>
            <a:ext cx="246888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7" name="Shape 55"/>
          <p:cNvSpPr/>
          <p:nvPr/>
        </p:nvSpPr>
        <p:spPr>
          <a:xfrm>
            <a:off x="6035040" y="4343400"/>
            <a:ext cx="45720" cy="5943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8" name="Text 56"/>
          <p:cNvSpPr/>
          <p:nvPr/>
        </p:nvSpPr>
        <p:spPr>
          <a:xfrm>
            <a:off x="6172200" y="4361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Violation Rate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06640" y="4361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6.45%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available: Q2 2025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1188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ROI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2.22x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914400"/>
            <a:ext cx="54864" cy="1188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Acquisition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325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$45.16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14400"/>
            <a:ext cx="54864" cy="1188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325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7.28%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237744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377440"/>
            <a:ext cx="54864" cy="1188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2.78%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383280" y="237744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377440"/>
            <a:ext cx="54864" cy="11887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$55.5K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035040" y="2377440"/>
            <a:ext cx="24688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377440"/>
            <a:ext cx="54864" cy="1188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Revenue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$131.5K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1520" y="3931920"/>
            <a:ext cx="786384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931920"/>
            <a:ext cx="45720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9776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Marketing Spend: </a:t>
            </a:r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$5.18M (from executive summary). Detailed campaign-level ROI data available through Q2 2025.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SUSTAINABILITY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822960"/>
            <a:ext cx="54864" cy="13716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Emissions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752.1t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Tonnes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82296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22960"/>
            <a:ext cx="54864" cy="13716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914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Usage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234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80.3K m³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Cubic Meters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22960"/>
            <a:ext cx="54864" cy="1371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914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234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energy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46888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468880"/>
            <a:ext cx="54864" cy="13716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Waste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64.0K kg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Kilograms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46888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468880"/>
            <a:ext cx="54864" cy="137160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 Packaging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53.8%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6616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materials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468880"/>
            <a:ext cx="246888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468880"/>
            <a:ext cx="54864" cy="137160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Bottles Returned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205.5K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1792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collected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786384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206240"/>
            <a:ext cx="4572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Recycled: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366.1K units  |  Carbon reduction of 10.4% QoQ  |  Eco-packaging at 53.8% adoption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WINS &amp;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840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3931920" cy="411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expansion to 50.7% (+0.2 bps QoQ)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pass rate maintained at 99.1%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product recalls for the quarter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rate improved to 7.72%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output: 4.07M units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Eco-packaging adoption exceeded 50% target at 53.8%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3840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3931920" cy="41148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utilization below target at 50.5% (target: 60%)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delivery rate spiked to 15.4% - supplier management needs review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violation rate at 6.45% - requires compliance action plan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inventory: 22.8K units - FIFO enforcement needed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downtime elevated at 97 hours (target: &lt;80)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at 29.5% - below 35% target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unit at $0.39 vs $0.35 target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54864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914400"/>
            <a:ext cx="914400" cy="2743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914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822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Capacity Utilization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50.5% utilization indicates significant idle capacity. Consolidate production lines and adjust shift scheduling to target 60%+ utilization.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618488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618488"/>
            <a:ext cx="54864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755648"/>
            <a:ext cx="914400" cy="2743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1755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66420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Inventory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9659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stockout rate from 7.72% through improved demand forecasting and safety stock optimization. Target sub-5% stockout rate.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459736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459736"/>
            <a:ext cx="54864" cy="7315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0" y="2596896"/>
            <a:ext cx="91440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2596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50545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Sustainability Goals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8072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at 29.5% needs acceleration to reach 35% target. Evaluate solar PPA agreements for manufacturing facilities.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300984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300984"/>
            <a:ext cx="54864" cy="7315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3438144"/>
            <a:ext cx="914400" cy="2743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Performance Review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64845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delivery rate of 15.4% requires immediate supplier scorecard review. Consider diversifying critical material suppliers.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142232"/>
            <a:ext cx="786384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142232"/>
            <a:ext cx="54864" cy="7315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0" y="4279392"/>
            <a:ext cx="91440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279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418795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Digital Channels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48970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and DTC channels show growth potential. Invest in e-commerce platform optimization and direct-to-consumer marketing campaigns.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Quarterly Business 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 Manufacturing Division  |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1800893-34BE-4981-8B50-52C0E7B96E0C}"/>
</file>

<file path=customXml/itemProps2.xml><?xml version="1.0" encoding="utf-8"?>
<ds:datastoreItem xmlns:ds="http://schemas.openxmlformats.org/officeDocument/2006/customXml" ds:itemID="{20433D58-2268-4544-BF60-89893CA64E07}"/>
</file>

<file path=customXml/itemProps3.xml><?xml version="1.0" encoding="utf-8"?>
<ds:datastoreItem xmlns:ds="http://schemas.openxmlformats.org/officeDocument/2006/customXml" ds:itemID="{9B01185B-0679-44CC-9D87-B810E826687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Q4 2025</dc:title>
  <dc:subject>PptxGenJS Presentation</dc:subject>
  <dc:creator>Beverage Manufacturing Analytics</dc:creator>
  <cp:lastModifiedBy>Beverage Manufacturing Analytics</cp:lastModifiedBy>
  <cp:revision>1</cp:revision>
  <dcterms:created xsi:type="dcterms:W3CDTF">2026-03-14T05:58:33Z</dcterms:created>
  <dcterms:modified xsi:type="dcterms:W3CDTF">2026-03-14T05:58:33Z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