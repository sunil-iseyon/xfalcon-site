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Revenue Trend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95D6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720</c:v>
                </c:pt>
                <c:pt idx="1">
                  <c:v>786</c:v>
                </c:pt>
                <c:pt idx="2">
                  <c:v>835</c:v>
                </c:pt>
                <c:pt idx="3">
                  <c:v>922</c:v>
                </c:pt>
                <c:pt idx="4">
                  <c:v>913</c:v>
                </c:pt>
                <c:pt idx="5">
                  <c:v>1071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95D6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2025 Revenue by Category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95D6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Sparkling Water</c:v>
                  </c:pt>
                  <c:pt idx="1">
                    <c:v>Energy Drink</c:v>
                  </c:pt>
                  <c:pt idx="2">
                    <c:v>Craft Soda</c:v>
                  </c:pt>
                  <c:pt idx="3">
                    <c:v>Juice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323</c:v>
                </c:pt>
                <c:pt idx="1">
                  <c:v>310</c:v>
                </c:pt>
                <c:pt idx="2">
                  <c:v>248</c:v>
                </c:pt>
                <c:pt idx="3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95D6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Channel Distribution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B701"/>
              </a:solidFill>
              <a:effectLst/>
            </c:spPr>
          </c:dPt>
          <c:dPt>
            <c:idx val="1"/>
            <c:bubble3D val="0"/>
            <c:spPr>
              <a:solidFill>
                <a:srgbClr val="95D600"/>
              </a:solidFill>
              <a:effectLst/>
            </c:spPr>
          </c:dPt>
          <c:dPt>
            <c:idx val="2"/>
            <c:bubble3D val="0"/>
            <c:spPr>
              <a:solidFill>
                <a:srgbClr val="FFB800"/>
              </a:solidFill>
              <a:effectLst/>
            </c:spPr>
          </c:dPt>
          <c:dPt>
            <c:idx val="3"/>
            <c:bubble3D val="0"/>
            <c:spPr>
              <a:solidFill>
                <a:srgbClr val="FF4444"/>
              </a:solidFill>
              <a:effectLst/>
            </c:spPr>
          </c:dPt>
          <c:dPt>
            <c:idx val="4"/>
            <c:bubble3D val="0"/>
            <c:spPr>
              <a:solidFill>
                <a:srgbClr val="00BCD4"/>
              </a:solidFill>
              <a:effectLst/>
            </c:spPr>
          </c:dPt>
          <c:dPt>
            <c:idx val="5"/>
            <c:bubble3D val="0"/>
            <c:spPr>
              <a:solidFill>
                <a:srgbClr val="9C27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Distributor</c:v>
                </c:pt>
                <c:pt idx="1">
                  <c:v>Retail</c:v>
                </c:pt>
                <c:pt idx="2">
                  <c:v>Supermarket</c:v>
                </c:pt>
                <c:pt idx="3">
                  <c:v>Online</c:v>
                </c:pt>
                <c:pt idx="4">
                  <c:v>Restaurant</c:v>
                </c:pt>
                <c:pt idx="5">
                  <c:v>DTC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</c:v>
                </c:pt>
                <c:pt idx="1">
                  <c:v>18</c:v>
                </c:pt>
                <c:pt idx="2">
                  <c:v>16</c:v>
                </c:pt>
                <c:pt idx="3">
                  <c:v>10</c:v>
                </c:pt>
                <c:pt idx="4">
                  <c:v>10</c:v>
                </c:pt>
                <c:pt idx="5">
                  <c:v>6</c:v>
                </c:pt>
              </c:numCache>
            </c:numRef>
          </c:val>
        </c:ser>
        <c:firstSliceAng val="0"/>
        <c:holeSize val="50"/>
      </c:doughnutChart>
      <c:spPr>
        <a:solidFill>
          <a:srgbClr val="1A1A1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Revenue by Region YoY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West</c:v>
                  </c:pt>
                  <c:pt idx="2">
                    <c:v>Northeast</c:v>
                  </c:pt>
                  <c:pt idx="3">
                    <c:v>Midwest</c:v>
                  </c:pt>
                  <c:pt idx="4">
                    <c:v>International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302</c:v>
                </c:pt>
                <c:pt idx="1">
                  <c:v>262</c:v>
                </c:pt>
                <c:pt idx="2">
                  <c:v>173</c:v>
                </c:pt>
                <c:pt idx="3">
                  <c:v>139</c:v>
                </c:pt>
                <c:pt idx="4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95D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West</c:v>
                  </c:pt>
                  <c:pt idx="2">
                    <c:v>Northeast</c:v>
                  </c:pt>
                  <c:pt idx="3">
                    <c:v>Midwest</c:v>
                  </c:pt>
                  <c:pt idx="4">
                    <c:v>International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355</c:v>
                </c:pt>
                <c:pt idx="1">
                  <c:v>260</c:v>
                </c:pt>
                <c:pt idx="2">
                  <c:v>233</c:v>
                </c:pt>
                <c:pt idx="3">
                  <c:v>179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Inventory Flow (M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Receipts (M units)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</c:v>
                </c:pt>
                <c:pt idx="1">
                  <c:v>6.2</c:v>
                </c:pt>
                <c:pt idx="2">
                  <c:v>7.5</c:v>
                </c:pt>
                <c:pt idx="3">
                  <c:v>8.1</c:v>
                </c:pt>
                <c:pt idx="4">
                  <c:v>7.6</c:v>
                </c:pt>
                <c:pt idx="5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Issues (M units)</c:v>
                </c:pt>
              </c:strCache>
            </c:strRef>
          </c:tx>
          <c:spPr>
            <a:solidFill>
              <a:srgbClr val="FFB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4.5</c:v>
                </c:pt>
                <c:pt idx="1">
                  <c:v>5</c:v>
                </c:pt>
                <c:pt idx="2">
                  <c:v>6.3</c:v>
                </c:pt>
                <c:pt idx="3">
                  <c:v>6.8</c:v>
                </c:pt>
                <c:pt idx="4">
                  <c:v>6.5</c:v>
                </c:pt>
                <c:pt idx="5">
                  <c:v>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Quality Trend (Pass Rate vs Defect Rate)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%</c:v>
                </c:pt>
              </c:strCache>
            </c:strRef>
          </c:tx>
          <c:spPr>
            <a:solidFill>
              <a:srgbClr val="7CB701"/>
            </a:solidFill>
            <a:ln w="38100" cap="flat">
              <a:solidFill>
                <a:srgbClr val="7CB70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B701"/>
              </a:solidFill>
              <a:ln w="9525" cap="flat">
                <a:solidFill>
                  <a:srgbClr val="7CB7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97.5</c:v>
                </c:pt>
                <c:pt idx="1">
                  <c:v>98</c:v>
                </c:pt>
                <c:pt idx="2">
                  <c:v>98.4</c:v>
                </c:pt>
                <c:pt idx="3">
                  <c:v>98.7</c:v>
                </c:pt>
                <c:pt idx="4">
                  <c:v>99</c:v>
                </c:pt>
                <c:pt idx="5">
                  <c:v>99.1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 Rate %</c:v>
                </c:pt>
              </c:strCache>
            </c:strRef>
          </c:tx>
          <c:spPr>
            <a:solidFill>
              <a:srgbClr val="FF4444"/>
            </a:solidFill>
            <a:ln w="38100" cap="flat">
              <a:solidFill>
                <a:srgbClr val="F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444"/>
              </a:solidFill>
              <a:ln w="9525" cap="flat">
                <a:solidFill>
                  <a:srgbClr val="F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2.2</c:v>
                </c:pt>
                <c:pt idx="1">
                  <c:v>1.8</c:v>
                </c:pt>
                <c:pt idx="2">
                  <c:v>1.6</c:v>
                </c:pt>
                <c:pt idx="3">
                  <c:v>1.4</c:v>
                </c:pt>
                <c:pt idx="4">
                  <c:v>1.3</c:v>
                </c:pt>
                <c:pt idx="5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Marketing ROI Trend (x)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ROI (x)</c:v>
                </c:pt>
              </c:strCache>
            </c:strRef>
          </c:tx>
          <c:spPr>
            <a:solidFill>
              <a:srgbClr val="7CB701"/>
            </a:solidFill>
            <a:ln w="38100" cap="flat">
              <a:solidFill>
                <a:srgbClr val="7CB70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B701"/>
              </a:solidFill>
              <a:ln w="9525" cap="flat">
                <a:solidFill>
                  <a:srgbClr val="7CB7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3.43</c:v>
                </c:pt>
                <c:pt idx="2">
                  <c:v>2.85</c:v>
                </c:pt>
                <c:pt idx="3">
                  <c:v>2.9</c:v>
                </c:pt>
                <c:pt idx="4">
                  <c:v>2.78</c:v>
                </c:pt>
                <c:pt idx="5">
                  <c:v>2.56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Sustainability Progress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%</c:v>
                </c:pt>
              </c:strCache>
            </c:strRef>
          </c:tx>
          <c:spPr>
            <a:solidFill>
              <a:srgbClr val="00BCD4"/>
            </a:solidFill>
            <a:ln w="38100" cap="flat">
              <a:solidFill>
                <a:srgbClr val="00BC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23</c:v>
                </c:pt>
                <c:pt idx="5">
                  <c:v>26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Eco-Packaging %</c:v>
                </c:pt>
              </c:strCache>
            </c:strRef>
          </c:tx>
          <c:spPr>
            <a:solidFill>
              <a:srgbClr val="7CB701"/>
            </a:solidFill>
            <a:ln w="38100" cap="flat">
              <a:solidFill>
                <a:srgbClr val="7CB70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B701"/>
              </a:solidFill>
              <a:ln w="9525" cap="flat">
                <a:solidFill>
                  <a:srgbClr val="7CB7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12</c:v>
                </c:pt>
                <c:pt idx="2">
                  <c:v>20</c:v>
                </c:pt>
                <c:pt idx="3">
                  <c:v>28</c:v>
                </c:pt>
                <c:pt idx="4">
                  <c:v>36</c:v>
                </c:pt>
                <c:pt idx="5">
                  <c:v>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B999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Forecast Accuracy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7CB7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95D6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Juice</c:v>
                  </c:pt>
                  <c:pt idx="1">
                    <c:v>Craft Soda</c:v>
                  </c:pt>
                  <c:pt idx="2">
                    <c:v>Sparkling Water</c:v>
                  </c:pt>
                  <c:pt idx="3">
                    <c:v>Energy Drink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94.8</c:v>
                </c:pt>
                <c:pt idx="1">
                  <c:v>94.1</c:v>
                </c:pt>
                <c:pt idx="2">
                  <c:v>93.5</c:v>
                </c:pt>
                <c:pt idx="3">
                  <c:v>91.9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95D6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B999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B999B"/>
                </a:solidFill>
                <a:latin typeface="Arial"/>
              </a:rPr>
              <a:t>MAPE by Region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FFB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B8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Northeast</c:v>
                  </c:pt>
                  <c:pt idx="1">
                    <c:v>Southeast</c:v>
                  </c:pt>
                  <c:pt idx="2">
                    <c:v>Midwest</c:v>
                  </c:pt>
                  <c:pt idx="3">
                    <c:v>International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6.5</c:v>
                </c:pt>
                <c:pt idx="2">
                  <c:v>6.8</c:v>
                </c:pt>
                <c:pt idx="3">
                  <c:v>7.2</c:v>
                </c:pt>
                <c:pt idx="4">
                  <c:v>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B8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9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73152" cy="237744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HEALTH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| Beverage Manufacturing Division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IDA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33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252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 &amp; key financial KPIs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channels, regions &amp; growth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20824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Supply Chain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health, supplier reliability, lead times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Quality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2706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yield, compliance &amp; quality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971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191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conversion analytics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456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&amp; Sustainability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reduction, renewable energy, eco-packaging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7CB701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941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160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precision by category &amp; region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43984"/>
            <a:ext cx="384048" cy="384048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425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645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priorities for next quarter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0" y="1051560"/>
            <a:ext cx="3017520" cy="3749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0" y="1051560"/>
            <a:ext cx="301752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0" y="1783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5943600" y="2057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2350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51.0%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943600" y="2624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29169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943600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Pass Rate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3483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943600" y="3758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4050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-25%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943600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EXECUTIVE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&amp; Key Business Indicators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72768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572768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+55% vs 2020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4832" y="1005840"/>
            <a:ext cx="1572768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005840"/>
            <a:ext cx="1572768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1430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76272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76272" y="20574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+350 bps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1005840"/>
            <a:ext cx="1572768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005840"/>
            <a:ext cx="1572768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17" name="Text 15"/>
          <p:cNvSpPr/>
          <p:nvPr/>
        </p:nvSpPr>
        <p:spPr>
          <a:xfrm>
            <a:off x="3895344" y="11430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95344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95344" y="20574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22976" y="1005840"/>
            <a:ext cx="1572768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1005840"/>
            <a:ext cx="1572768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1430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14416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Shipped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14416" y="20574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+18% YoY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1005840"/>
            <a:ext cx="1572768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42048" y="1005840"/>
            <a:ext cx="1572768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11430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33488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3488" y="20574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Consistent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65760" y="260604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5394960" y="2606040"/>
            <a:ext cx="3383280" cy="2103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778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HEALTH SUMMARY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623560" y="3136392"/>
            <a:ext cx="146304" cy="146304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34" name="Text 31"/>
          <p:cNvSpPr/>
          <p:nvPr/>
        </p:nvSpPr>
        <p:spPr>
          <a:xfrm>
            <a:off x="585216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58952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23560" y="3392424"/>
            <a:ext cx="146304" cy="146304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37" name="Text 34"/>
          <p:cNvSpPr/>
          <p:nvPr/>
        </p:nvSpPr>
        <p:spPr>
          <a:xfrm>
            <a:off x="5852160" y="3364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589520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623560" y="3648456"/>
            <a:ext cx="146304" cy="146304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40" name="Text 37"/>
          <p:cNvSpPr/>
          <p:nvPr/>
        </p:nvSpPr>
        <p:spPr>
          <a:xfrm>
            <a:off x="5852160" y="3621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Compliance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589520" y="3621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23560" y="3904488"/>
            <a:ext cx="146304" cy="146304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3" name="Text 40"/>
          <p:cNvSpPr/>
          <p:nvPr/>
        </p:nvSpPr>
        <p:spPr>
          <a:xfrm>
            <a:off x="585216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589520" y="3877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623560" y="4160520"/>
            <a:ext cx="146304" cy="146304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46" name="Text 43"/>
          <p:cNvSpPr/>
          <p:nvPr/>
        </p:nvSpPr>
        <p:spPr>
          <a:xfrm>
            <a:off x="5852160" y="4133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58952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623560" y="4416552"/>
            <a:ext cx="146304" cy="146304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49" name="Text 46"/>
          <p:cNvSpPr/>
          <p:nvPr/>
        </p:nvSpPr>
        <p:spPr>
          <a:xfrm>
            <a:off x="5852160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Progress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58952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SALES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Category, Channel &amp; Regional Distribution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005840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365760" y="301752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5669280" y="3017520"/>
            <a:ext cx="3108960" cy="16916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5806440" y="30906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 (Cumulative)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80644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 Blast Original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863840" y="34015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$627K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806440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FizzCo Classic Cola 500ml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863840" y="36484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$597K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806440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NRG Blast Zero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863840" y="38953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$506K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80644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Berry Juice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863840" y="4142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$505K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806440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Mango Juice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63840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$488K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INVENTORY &amp; SUPPLY CHAIN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Health, Supplier Reliability &amp; Procurement Efficiency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Stock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659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005840"/>
            <a:ext cx="196596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0332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(Quarterly Avg)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659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19659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5216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Reliability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1005840"/>
            <a:ext cx="19659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005840"/>
            <a:ext cx="19659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097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00100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42316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029200" y="2423160"/>
            <a:ext cx="374904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21208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INSIGHTS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212080" y="28803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Materials: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4.2/5.0 reliability, 17-day lead time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Packaging: </a:t>
            </a:r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3.9/5.0 reliability - needs improvement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Late Deliveries: </a:t>
            </a:r>
            <a:pPr indent="0" marL="0">
              <a:buNone/>
            </a:pPr>
            <a:r>
              <a:rPr lang="en-US" sz="1000" dirty="0">
                <a:solidFill>
                  <a:srgbClr val="FF4444"/>
                </a:solidFill>
              </a:rPr>
              <a:t>15% rate (target &lt;10%)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 Rejections: </a:t>
            </a:r>
            <a:pPr indent="0" marL="0">
              <a:buNone/>
            </a:pPr>
            <a:r>
              <a:rPr lang="en-US" sz="1000" dirty="0">
                <a:solidFill>
                  <a:srgbClr val="7CB701"/>
                </a:solidFill>
              </a:rPr>
              <a:t>0.5/quarter average - minimal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Procurement Cost: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$4.2M annually (+16% since 2020)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PRODUCTION &amp;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Yield Rates, Compliance &amp; Quality Control Across Plants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974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69748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196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5196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69748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69748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1417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01000" y="17190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9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5760" y="23774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5669280" y="2377440"/>
            <a:ext cx="3108960" cy="2331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8521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SNAPSHOT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852160" y="28803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Pass Rate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68096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99.1%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52160" y="31729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Violations (2025)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680960" y="31729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52160" y="34655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(2025)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680960" y="34655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852160" y="3758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Issues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680960" y="3758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852160" y="40507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Inspected (2025)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80960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1.4M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852160" y="43434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Units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680960" y="4343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28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Text 45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MARKETING ROI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Effectiveness, Conversion Analytics &amp; Spend Efficiency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6596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per Mkt $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6596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Spend /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196596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Conversions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2860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029200" y="2286000"/>
            <a:ext cx="3749040" cy="24688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21208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27432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Peak ROI in 2021 at 3.43x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driven by efficient spend during recovery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Current 2.56x ROI is sustainable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with larger marketing investment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EBITDA margins stable at 29%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despite 16% increase in marketing spend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Conversion efficiency strong: </a:t>
            </a:r>
            <a:pPr indent="0" marL="0">
              <a:buNone/>
            </a:pPr>
            <a:r>
              <a:rPr lang="en-US" sz="1000" dirty="0">
                <a:solidFill>
                  <a:srgbClr val="7CB701"/>
                </a:solidFill>
              </a:rPr>
              <a:t>102K conversions in 2025 (+12% YoY)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Revenue per marketing dollar at $2.85 </a:t>
            </a:r>
            <a:pPr indent="0" marL="0">
              <a:buNone/>
            </a:pPr>
            <a:r>
              <a:rPr lang="en-US" sz="1000" dirty="0">
                <a:solidFill>
                  <a:srgbClr val="7CB701"/>
                </a:solidFill>
              </a:rPr>
              <a:t>exceeds industry benchmark of $2.20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ESG &amp; SUSTAINABILITY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Reduction, Renewable Energy, Eco-Packaging &amp; Waste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2020 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6596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9%)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6596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65960" cy="45720"/>
          </a:xfrm>
          <a:prstGeom prst="rect">
            <a:avLst/>
          </a:prstGeom>
          <a:solidFill>
            <a:srgbClr val="95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Eco-Packaging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6596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05840"/>
            <a:ext cx="19659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097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 Recycled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468880"/>
          <a:ext cx="47548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394960" y="2468880"/>
            <a:ext cx="3383280" cy="2240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778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TARGETS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2356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 Operations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5236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909560" y="29718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23560" y="3300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Renewable Energy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52360" y="3300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909560" y="33009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B7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623560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Eco-Packaging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52360" y="3630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09560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23560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Waste to Landfill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52360" y="3959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09560" y="39593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623560" y="4288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-30%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452360" y="4288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909560" y="42885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FORECAST ACCURACY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Precision by Category &amp; Region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Forecast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 - MAPE)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383280" y="1005840"/>
          <a:ext cx="539496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65760" y="269748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669280" y="2697480"/>
            <a:ext cx="310896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5216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INSIGHTS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52160" y="3108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CB701"/>
                </a:solidFill>
              </a:rPr>
              <a:t>Juice and Craft Soda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are most predictable categories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Energy Drink volatility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drives higher MAPE (8.1%)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West region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seasonal patterns need refined models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B701"/>
                </a:solidFill>
              </a:rPr>
              <a:t>Northeast forecasting </a:t>
            </a:r>
            <a:pPr indent="0" marL="0">
              <a:buNone/>
            </a:pPr>
            <a:r>
              <a:rPr lang="en-US" sz="1000" dirty="0">
                <a:solidFill>
                  <a:srgbClr val="9B999B"/>
                </a:solidFill>
              </a:rPr>
              <a:t>is best-in-class at 93.9%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STRATEGIC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Priorities for Next Quarter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749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57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B7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OPPORTUNITIES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48-50% capacity utilized across 3 plants — room for 2x output without new facilities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292608" cy="292608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4942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Energy Drink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category (+190% since 2021) with highest revenue per unit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292608" cy="292608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05409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Eco-Packaging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0098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at 44% — target 60% by 2026 to meet ESG goals and consumer demand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292608" cy="292608"/>
          </a:xfrm>
          <a:prstGeom prst="ellipse">
            <a:avLst/>
          </a:prstGeom>
          <a:solidFill>
            <a:srgbClr val="7CB70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8587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Marketing Efficiency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056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of 2.6x at $2.85/$ spent exceeds industry — increase investment in proven channels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60120"/>
            <a:ext cx="411480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292608" cy="29260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144475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 Deliveries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1691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late rate impacting fill rates — renegotiate SLAs, add backup suppliers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267712"/>
            <a:ext cx="292608" cy="29260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224942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West Region Forecasting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4963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 MAPE is highest — implement seasonal demand 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292608" cy="29260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305409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Packaging Supplier Risk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30098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3.9/5.0 reliability — diversify supplier base, reduce concentration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877056"/>
            <a:ext cx="292608" cy="29260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57800" y="38587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Discount Creep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41056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as % of revenue trending up — implement pricing governance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Manufacturing | Board Meeting Q4 2025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73152" cy="182880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from IDA Analytics 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available at: Beverage Manufacturing Dashboard Portal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B70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IDA Analytics | Beverage Manufacturing Division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237159A-71DB-4E60-A6B8-62A36F92CE69}"/>
</file>

<file path=customXml/itemProps2.xml><?xml version="1.0" encoding="utf-8"?>
<ds:datastoreItem xmlns:ds="http://schemas.openxmlformats.org/officeDocument/2006/customXml" ds:itemID="{C5CB0207-28A4-402D-BF19-F91E497F336C}"/>
</file>

<file path=customXml/itemProps3.xml><?xml version="1.0" encoding="utf-8"?>
<ds:datastoreItem xmlns:ds="http://schemas.openxmlformats.org/officeDocument/2006/customXml" ds:itemID="{5D3D7EE1-1FCB-4507-9E7C-C0D444EF658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Health Review - Board Meeting Q4 2025</dc:title>
  <dc:subject>PptxGenJS Presentation</dc:subject>
  <dc:creator>IDA Analytics</dc:creator>
  <cp:lastModifiedBy>IDA Analytics</cp:lastModifiedBy>
  <cp:revision>1</cp:revision>
  <dcterms:created xsi:type="dcterms:W3CDTF">2026-03-14T05:18:52Z</dcterms:created>
  <dcterms:modified xsi:type="dcterms:W3CDTF">2026-03-14T05:18:52Z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