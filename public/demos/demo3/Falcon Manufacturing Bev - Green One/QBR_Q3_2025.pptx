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B999B"/>
                </a:solidFill>
                <a:latin typeface="Arial"/>
              </a:rPr>
              <a:t>Quarter-over-Quarter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9B99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Gross Profit</c:v>
                  </c:pt>
                  <c:pt idx="2">
                    <c:v>EBITDA</c:v>
                  </c:pt>
                  <c:pt idx="3">
                    <c:v>Net Profit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15805.05</c:v>
                </c:pt>
                <c:pt idx="1">
                  <c:v>7966.05</c:v>
                </c:pt>
                <c:pt idx="2">
                  <c:v>12710</c:v>
                </c:pt>
                <c:pt idx="3">
                  <c:v>9920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7CB70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Gross Profit</c:v>
                  </c:pt>
                  <c:pt idx="2">
                    <c:v>EBITDA</c:v>
                  </c:pt>
                  <c:pt idx="3">
                    <c:v>Net Profit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9097.98</c:v>
                </c:pt>
                <c:pt idx="1">
                  <c:v>4590.66</c:v>
                </c:pt>
                <c:pt idx="2">
                  <c:v>8580</c:v>
                </c:pt>
                <c:pt idx="3">
                  <c:v>6700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B999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B999B"/>
                </a:solidFill>
                <a:latin typeface="Arial"/>
              </a:rPr>
              <a:t>Revenue by Category ($K)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B701"/>
              </a:solidFill>
              <a:effectLst/>
            </c:spPr>
          </c:dPt>
          <c:dPt>
            <c:idx val="1"/>
            <c:bubble3D val="0"/>
            <c:spPr>
              <a:solidFill>
                <a:srgbClr val="00BCD4"/>
              </a:solidFill>
              <a:effectLst/>
            </c:spPr>
          </c:dPt>
          <c:dPt>
            <c:idx val="2"/>
            <c:bubble3D val="0"/>
            <c:spPr>
              <a:solidFill>
                <a:srgbClr val="FFB800"/>
              </a:solidFill>
              <a:effectLst/>
            </c:spPr>
          </c:dPt>
          <c:dPt>
            <c:idx val="3"/>
            <c:bubble3D val="0"/>
            <c:spPr>
              <a:solidFill>
                <a:srgbClr val="9C27B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Sparkling Water</c:v>
                </c:pt>
                <c:pt idx="1">
                  <c:v>Energy Drink</c:v>
                </c:pt>
                <c:pt idx="2">
                  <c:v>Juice</c:v>
                </c:pt>
                <c:pt idx="3">
                  <c:v>Craft Soda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95.9</c:v>
                </c:pt>
                <c:pt idx="1">
                  <c:v>76.4</c:v>
                </c:pt>
                <c:pt idx="2">
                  <c:v>59.7</c:v>
                </c:pt>
                <c:pt idx="3">
                  <c:v>58.5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B999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0D0D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B999B"/>
                </a:solidFill>
                <a:latin typeface="Arial"/>
              </a:rPr>
              <a:t>Revenue by Channel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7CB70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Distributor</c:v>
                  </c:pt>
                  <c:pt idx="1">
                    <c:v>Retail</c:v>
                  </c:pt>
                  <c:pt idx="2">
                    <c:v>Supermarket</c:v>
                  </c:pt>
                  <c:pt idx="3">
                    <c:v>Online</c:v>
                  </c:pt>
                  <c:pt idx="4">
                    <c:v>Restaurant</c:v>
                  </c:pt>
                  <c:pt idx="5">
                    <c:v>DTC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112</c:v>
                </c:pt>
                <c:pt idx="1">
                  <c:v>61</c:v>
                </c:pt>
                <c:pt idx="2">
                  <c:v>39</c:v>
                </c:pt>
                <c:pt idx="3">
                  <c:v>33</c:v>
                </c:pt>
                <c:pt idx="4">
                  <c:v>26</c:v>
                </c:pt>
                <c:pt idx="5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B999B"/>
                </a:solidFill>
                <a:latin typeface="Arial"/>
              </a:rPr>
              <a:t>Revenue by Region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0B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Southeast</c:v>
                  </c:pt>
                  <c:pt idx="1">
                    <c:v>West</c:v>
                  </c:pt>
                  <c:pt idx="2">
                    <c:v>Northeast</c:v>
                  </c:pt>
                  <c:pt idx="3">
                    <c:v>Midwest</c:v>
                  </c:pt>
                  <c:pt idx="4">
                    <c:v>International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128</c:v>
                </c:pt>
                <c:pt idx="1">
                  <c:v>70</c:v>
                </c:pt>
                <c:pt idx="2">
                  <c:v>57</c:v>
                </c:pt>
                <c:pt idx="3">
                  <c:v>19</c:v>
                </c:pt>
                <c:pt idx="4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  |  Jul - Sep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2286000" cy="36576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Beverage Manufacturing Division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Leadership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0972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Key Metrics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536192"/>
            <a:ext cx="7680960" cy="34747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361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53619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Profitability Analysis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1975104"/>
            <a:ext cx="768096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7510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197510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Performance Deep Dive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414016"/>
            <a:ext cx="7680960" cy="34747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140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41401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Supply Chain Health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2852928"/>
            <a:ext cx="768096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8529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28529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Efficiency &amp; Quality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291840"/>
            <a:ext cx="7680960" cy="34747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2918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32918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Performance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3730752"/>
            <a:ext cx="768096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7307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7307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&amp; Sustainability Scorecard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4169664"/>
            <a:ext cx="7680960" cy="34747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1696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416966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 &amp;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0" y="182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 vs Q2 2025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24688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914400"/>
            <a:ext cx="54864" cy="16459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$9.1K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-42.4% QoQ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914400"/>
            <a:ext cx="24688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914400"/>
            <a:ext cx="54864" cy="16459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051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1417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6616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-42.4% QoQ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914400"/>
            <a:ext cx="24688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914400"/>
            <a:ext cx="54864" cy="16459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51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417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50.5%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+0.2% QoQ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2834640"/>
            <a:ext cx="24688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2834640"/>
            <a:ext cx="54864" cy="16459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2971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337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$8.58M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-32.5% QoQ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2834640"/>
            <a:ext cx="24688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834640"/>
            <a:ext cx="54864" cy="1645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2971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3337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$6.7M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56616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-32.5% QoQ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2834640"/>
            <a:ext cx="24688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834640"/>
            <a:ext cx="54864" cy="164592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2971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337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4.9K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21792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-35.2% QoQ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PROFITABILITY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22960"/>
            <a:ext cx="3017520" cy="3200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822960"/>
            <a:ext cx="54864" cy="32004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0" y="137160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declined 42.4% QoQ to $9.1K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expanded by 0.1 bps to 50.5%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 down 32.5% to $6.7M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at $8.58M (-32.5% QoQ)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CATEGORY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3152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822960"/>
            <a:ext cx="3657600" cy="7772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0" y="822960"/>
            <a:ext cx="54864" cy="77724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4"/>
          <p:cNvSpPr/>
          <p:nvPr/>
        </p:nvSpPr>
        <p:spPr>
          <a:xfrm>
            <a:off x="5212080" y="868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Sparkling Water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$95.9K  |  33.0% share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0" y="1737360"/>
            <a:ext cx="3657600" cy="7772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737360"/>
            <a:ext cx="54864" cy="7772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Drink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1208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$76.4K  |  26.3% share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0" y="2651760"/>
            <a:ext cx="3657600" cy="7772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0" y="2651760"/>
            <a:ext cx="54864" cy="7772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5" name="Text 12"/>
          <p:cNvSpPr/>
          <p:nvPr/>
        </p:nvSpPr>
        <p:spPr>
          <a:xfrm>
            <a:off x="521208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1208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$59.7K  |  20.6% share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3566160"/>
            <a:ext cx="3657600" cy="7772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0" y="3566160"/>
            <a:ext cx="54864" cy="77724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 Soda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21208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$58.5K  |  20.1% share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CHANNEL &amp; REGION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73152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SUPPLY CHAIN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Health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43000"/>
            <a:ext cx="45720" cy="100584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of Stock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114300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143000"/>
            <a:ext cx="45720" cy="10058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Stockout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803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9.23%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233172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331720"/>
            <a:ext cx="45720" cy="10058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Expiry Units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157.8K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743200" y="233172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0" y="2331720"/>
            <a:ext cx="45720" cy="10058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288036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Units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26.8K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37760" y="731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114300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1143000"/>
            <a:ext cx="45720" cy="10058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Lead Time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days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49440" y="114300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1143000"/>
            <a:ext cx="45720" cy="10058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Delivery 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8660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937760" y="233172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2331720"/>
            <a:ext cx="45720" cy="10058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Rate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492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0.88%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949440" y="233172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49440" y="2331720"/>
            <a:ext cx="45720" cy="100584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6" name="Text 34"/>
          <p:cNvSpPr/>
          <p:nvPr/>
        </p:nvSpPr>
        <p:spPr>
          <a:xfrm>
            <a:off x="708660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Rating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8660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4.17/5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31520" y="3657600"/>
            <a:ext cx="786384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31520" y="3657600"/>
            <a:ext cx="45720" cy="10972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37490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Stockout rate at 9.23% requires attention - implement safety stock optimization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procurement cost: $199.7K across 17 orders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EFFICIENCY &amp; QUALITY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468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45720" cy="91440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43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Utilization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51.3%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03120" y="16916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60%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468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97280"/>
            <a:ext cx="45720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143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95%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468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97280"/>
            <a:ext cx="45720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143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06640" y="16916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&lt;1%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148840"/>
            <a:ext cx="2468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2148840"/>
            <a:ext cx="45720" cy="9144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21945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Downtime (hrs)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103120" y="27432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&lt;80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2148840"/>
            <a:ext cx="2468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148840"/>
            <a:ext cx="45720" cy="9144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21945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Unit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0440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754880" y="27432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$0.35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148840"/>
            <a:ext cx="2468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148840"/>
            <a:ext cx="45720" cy="91440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21945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Produced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4.04M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406640" y="27432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-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Compliance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1520" y="3611880"/>
            <a:ext cx="246888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3611880"/>
            <a:ext cx="45720" cy="594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3630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03120" y="36301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99.1%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383280" y="3611880"/>
            <a:ext cx="246888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1" name="Shape 39"/>
          <p:cNvSpPr/>
          <p:nvPr/>
        </p:nvSpPr>
        <p:spPr>
          <a:xfrm>
            <a:off x="3383280" y="3611880"/>
            <a:ext cx="45720" cy="594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2" name="Text 40"/>
          <p:cNvSpPr/>
          <p:nvPr/>
        </p:nvSpPr>
        <p:spPr>
          <a:xfrm>
            <a:off x="3520440" y="3630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Violations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36301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035040" y="3611880"/>
            <a:ext cx="246888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5" name="Shape 43"/>
          <p:cNvSpPr/>
          <p:nvPr/>
        </p:nvSpPr>
        <p:spPr>
          <a:xfrm>
            <a:off x="6035040" y="3611880"/>
            <a:ext cx="45720" cy="59436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46" name="Text 44"/>
          <p:cNvSpPr/>
          <p:nvPr/>
        </p:nvSpPr>
        <p:spPr>
          <a:xfrm>
            <a:off x="6172200" y="3630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06640" y="36301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731520" y="4343400"/>
            <a:ext cx="246888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9" name="Shape 47"/>
          <p:cNvSpPr/>
          <p:nvPr/>
        </p:nvSpPr>
        <p:spPr>
          <a:xfrm>
            <a:off x="731520" y="4343400"/>
            <a:ext cx="45720" cy="5943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43616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Labeling Issues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103120" y="43616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3383280" y="4343400"/>
            <a:ext cx="246888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3" name="Shape 51"/>
          <p:cNvSpPr/>
          <p:nvPr/>
        </p:nvSpPr>
        <p:spPr>
          <a:xfrm>
            <a:off x="3383280" y="4343400"/>
            <a:ext cx="45720" cy="5943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4" name="Text 52"/>
          <p:cNvSpPr/>
          <p:nvPr/>
        </p:nvSpPr>
        <p:spPr>
          <a:xfrm>
            <a:off x="3520440" y="43616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Inspected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754880" y="43616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32.1K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6035040" y="4343400"/>
            <a:ext cx="246888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7" name="Shape 55"/>
          <p:cNvSpPr/>
          <p:nvPr/>
        </p:nvSpPr>
        <p:spPr>
          <a:xfrm>
            <a:off x="6035040" y="4343400"/>
            <a:ext cx="45720" cy="5943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58" name="Text 56"/>
          <p:cNvSpPr/>
          <p:nvPr/>
        </p:nvSpPr>
        <p:spPr>
          <a:xfrm>
            <a:off x="6172200" y="43616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Violation Rate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406640" y="43616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3.85%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available: Q1 2025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246888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914400"/>
            <a:ext cx="54864" cy="1188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ROI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2.77x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83280" y="914400"/>
            <a:ext cx="246888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914400"/>
            <a:ext cx="54864" cy="1188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Acquisition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1325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$28.43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46888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14400"/>
            <a:ext cx="54864" cy="1188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325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7.64%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" y="2377440"/>
            <a:ext cx="246888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377440"/>
            <a:ext cx="54864" cy="1188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Click-Through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2.32%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383280" y="2377440"/>
            <a:ext cx="246888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2377440"/>
            <a:ext cx="54864" cy="118872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$157.1K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035040" y="2377440"/>
            <a:ext cx="246888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377440"/>
            <a:ext cx="54864" cy="1188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Attributed Revenue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$466.2K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31520" y="3931920"/>
            <a:ext cx="786384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3931920"/>
            <a:ext cx="45720" cy="8229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397764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Marketing Spend: </a:t>
            </a:r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$3.26M (from executive summary). Detailed campaign-level ROI data available through Q1 2025.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&amp; SUSTAINABILITY SCORECARD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24688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822960"/>
            <a:ext cx="54864" cy="137160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14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Emissions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839.6t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Tonnes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822960"/>
            <a:ext cx="24688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22960"/>
            <a:ext cx="54864" cy="13716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914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Usage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1234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97.5K m³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Cubic Meters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822960"/>
            <a:ext cx="24688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822960"/>
            <a:ext cx="54864" cy="1371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914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234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29.7%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total energy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2468880"/>
            <a:ext cx="24688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2468880"/>
            <a:ext cx="54864" cy="13716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Waste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8803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66.6K kg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Kilograms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468880"/>
            <a:ext cx="24688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2468880"/>
            <a:ext cx="54864" cy="137160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 Packaging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66160" y="28803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53.4%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56616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materials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468880"/>
            <a:ext cx="24688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468880"/>
            <a:ext cx="54864" cy="137160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Bottles Returned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28803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173.3K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1792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collected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206240"/>
            <a:ext cx="786384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4206240"/>
            <a:ext cx="45720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2062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Recycled: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365.4K units  |  Carbon reduction of 0% QoQ  |  Eco-packaging at 53.4% adoption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WINS &amp;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38404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3931920" cy="4114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22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expansion to 50.5% (+0.1 bps QoQ)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pass rate maintained at 99.1%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product recalls for the quarter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Stockout rate improved to 9.23%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output: 4.04M units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Eco-packaging adoption exceeded 50% target at 53.4%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3931920" cy="38404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3931920" cy="41148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822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utilization below target at 51.3% (target: 60%)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inventory: 26.8K units - FIFO enforcement needed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downtime elevated at 87 hours (target: &lt;80)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 at 29.7% - below 35% target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unit at $0.37 vs $0.35 target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7863840" cy="731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54864" cy="7315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914400"/>
            <a:ext cx="914400" cy="2743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914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8229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Capacity Utilization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12471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51.3% utilization indicates significant idle capacity. Consolidate production lines and adjust shift scheduling to target 60%+ utilization.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618488"/>
            <a:ext cx="7863840" cy="731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618488"/>
            <a:ext cx="54864" cy="7315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0" y="1755648"/>
            <a:ext cx="914400" cy="2743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17556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166420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Inventory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19659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stockout rate from 9.23% through improved demand forecasting and safety stock optimization. Target sub-5% stockout rate.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459736"/>
            <a:ext cx="7863840" cy="731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459736"/>
            <a:ext cx="54864" cy="7315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0" y="2596896"/>
            <a:ext cx="914400" cy="2743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2596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250545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Sustainability Goals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280720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 at 29.7% needs acceleration to reach 35% target. Evaluate solar PPA agreements for manufacturing facilities.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300984"/>
            <a:ext cx="7863840" cy="731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300984"/>
            <a:ext cx="54864" cy="7315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0" y="3438144"/>
            <a:ext cx="914400" cy="2743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343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334670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Digital Channels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64845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and DTC channels show growth potential. Invest in e-commerce platform optimization and direct-to-consumer marketing campaigns.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 Quarterly Business Review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0" y="2834640"/>
            <a:ext cx="1828800" cy="36576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Beverage Manufacturing Division  |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91501FD4DDC148AD1E3FAF4074DBCB" ma:contentTypeVersion="10" ma:contentTypeDescription="Create a new document." ma:contentTypeScope="" ma:versionID="23307c1766f35e1813edc1f238b31f69">
  <xsd:schema xmlns:xsd="http://www.w3.org/2001/XMLSchema" xmlns:xs="http://www.w3.org/2001/XMLSchema" xmlns:p="http://schemas.microsoft.com/office/2006/metadata/properties" xmlns:ns2="1d2cd3fc-951f-4e4c-8f77-1331cffdf41d" xmlns:ns3="34e7643f-2a9f-4a64-a4ba-836cf78c5c76" targetNamespace="http://schemas.microsoft.com/office/2006/metadata/properties" ma:root="true" ma:fieldsID="36ef4bd80d09d7a3142c5bd9cda6c92f" ns2:_="" ns3:_="">
    <xsd:import namespace="1d2cd3fc-951f-4e4c-8f77-1331cffdf41d"/>
    <xsd:import namespace="34e7643f-2a9f-4a64-a4ba-836cf78c5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cd3fc-951f-4e4c-8f77-1331cffdf4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908c4cd-8667-446b-b651-bab9ad4462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e7643f-2a9f-4a64-a4ba-836cf78c5c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57cb98-881d-40df-bd60-f2fdacd5fef4}" ma:internalName="TaxCatchAll" ma:showField="CatchAllData" ma:web="34e7643f-2a9f-4a64-a4ba-836cf78c5c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e7643f-2a9f-4a64-a4ba-836cf78c5c76" xsi:nil="true"/>
    <lcf76f155ced4ddcb4097134ff3c332f xmlns="1d2cd3fc-951f-4e4c-8f77-1331cffdf4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7A02D7F-D641-451C-889B-1D62D98C1570}"/>
</file>

<file path=customXml/itemProps2.xml><?xml version="1.0" encoding="utf-8"?>
<ds:datastoreItem xmlns:ds="http://schemas.openxmlformats.org/officeDocument/2006/customXml" ds:itemID="{82208821-78F2-4FA5-BEA2-DDBC5A0C9CC0}"/>
</file>

<file path=customXml/itemProps3.xml><?xml version="1.0" encoding="utf-8"?>
<ds:datastoreItem xmlns:ds="http://schemas.openxmlformats.org/officeDocument/2006/customXml" ds:itemID="{4FB485A1-6BEF-4D63-9556-6C85ABEAC99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Q3 2025</dc:title>
  <dc:subject>PptxGenJS Presentation</dc:subject>
  <dc:creator>Beverage Manufacturing Analytics</dc:creator>
  <cp:lastModifiedBy>Beverage Manufacturing Analytics</cp:lastModifiedBy>
  <cp:revision>1</cp:revision>
  <dcterms:created xsi:type="dcterms:W3CDTF">2026-03-14T05:58:33Z</dcterms:created>
  <dcterms:modified xsi:type="dcterms:W3CDTF">2026-03-14T05:58:33Z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0x0101008B91501FD4DDC148AD1E3FAF4074DBCB</vt:lpwstr>
  </property>
</Properties>
</file>