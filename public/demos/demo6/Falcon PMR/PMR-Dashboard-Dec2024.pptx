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900" b="0" i="0" u="none" strike="noStrike">
                <a:solidFill>
                  <a:srgbClr val="1A1A2E"/>
                </a:solidFill>
                <a:latin typeface="Arial"/>
              </a:rPr>
              <a:t>Service Type Distribution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Service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5B96"/>
              </a:solidFill>
              <a:effectLst/>
            </c:spPr>
          </c:dPt>
          <c:dPt>
            <c:idx val="1"/>
            <c:bubble3D val="0"/>
            <c:spPr>
              <a:solidFill>
                <a:srgbClr val="2E7D32"/>
              </a:solidFill>
              <a:effectLst/>
            </c:spPr>
          </c:dPt>
          <c:dPt>
            <c:idx val="2"/>
            <c:bubble3D val="0"/>
            <c:spPr>
              <a:solidFill>
                <a:srgbClr val="E6510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New Development</c:v>
                </c:pt>
                <c:pt idx="1">
                  <c:v>System Support</c:v>
                </c:pt>
                <c:pt idx="2">
                  <c:v>Admin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53.3</c:v>
                </c:pt>
                <c:pt idx="1">
                  <c:v>34.4</c:v>
                </c:pt>
                <c:pt idx="2">
                  <c:v>12.3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3D3D5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900" b="0" i="0" u="none" strike="noStrike">
                <a:solidFill>
                  <a:srgbClr val="1A1A2E"/>
                </a:solidFill>
                <a:latin typeface="Arial"/>
              </a:rPr>
              <a:t>FTE Trend — 2024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2B49"/>
            </a:solidFill>
            <a:ln w="25400" cap="flat">
              <a:solidFill>
                <a:srgbClr val="002B4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2B49"/>
              </a:solidFill>
              <a:ln w="9525" cap="flat">
                <a:solidFill>
                  <a:srgbClr val="002B4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 '24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 '24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240.5</c:v>
                </c:pt>
                <c:pt idx="1">
                  <c:v>234.3</c:v>
                </c:pt>
                <c:pt idx="2">
                  <c:v>229.3</c:v>
                </c:pt>
                <c:pt idx="3">
                  <c:v>229.6</c:v>
                </c:pt>
                <c:pt idx="4">
                  <c:v>228.6</c:v>
                </c:pt>
                <c:pt idx="5">
                  <c:v>239.7</c:v>
                </c:pt>
                <c:pt idx="6">
                  <c:v>239.8</c:v>
                </c:pt>
                <c:pt idx="7">
                  <c:v>232.5</c:v>
                </c:pt>
                <c:pt idx="8">
                  <c:v>241.7</c:v>
                </c:pt>
                <c:pt idx="9">
                  <c:v>226.6</c:v>
                </c:pt>
                <c:pt idx="10">
                  <c:v>239.2</c:v>
                </c:pt>
                <c:pt idx="11">
                  <c:v>240.1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Offshore</c:v>
                </c:pt>
              </c:strCache>
            </c:strRef>
          </c:tx>
          <c:spPr>
            <a:solidFill>
              <a:srgbClr val="EE3124"/>
            </a:solidFill>
            <a:ln w="25400" cap="flat">
              <a:solidFill>
                <a:srgbClr val="EE312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E3124"/>
              </a:solidFill>
              <a:ln w="9525" cap="flat">
                <a:solidFill>
                  <a:srgbClr val="EE312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 '24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 '24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120.6</c:v>
                </c:pt>
                <c:pt idx="1">
                  <c:v>117.1</c:v>
                </c:pt>
                <c:pt idx="2">
                  <c:v>113.6</c:v>
                </c:pt>
                <c:pt idx="3">
                  <c:v>112.2</c:v>
                </c:pt>
                <c:pt idx="4">
                  <c:v>112.9</c:v>
                </c:pt>
                <c:pt idx="5">
                  <c:v>121.3</c:v>
                </c:pt>
                <c:pt idx="6">
                  <c:v>121.2</c:v>
                </c:pt>
                <c:pt idx="7">
                  <c:v>116.7</c:v>
                </c:pt>
                <c:pt idx="8">
                  <c:v>118.7</c:v>
                </c:pt>
                <c:pt idx="9">
                  <c:v>117</c:v>
                </c:pt>
                <c:pt idx="10">
                  <c:v>117.9</c:v>
                </c:pt>
                <c:pt idx="11">
                  <c:v>124.3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Onsite</c:v>
                </c:pt>
              </c:strCache>
            </c:strRef>
          </c:tx>
          <c:spPr>
            <a:solidFill>
              <a:srgbClr val="005B96"/>
            </a:solidFill>
            <a:ln w="25400" cap="flat">
              <a:solidFill>
                <a:srgbClr val="005B9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5B96"/>
              </a:solidFill>
              <a:ln w="9525" cap="flat">
                <a:solidFill>
                  <a:srgbClr val="005B9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 '24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 '24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59.1</c:v>
                </c:pt>
                <c:pt idx="1">
                  <c:v>56.3</c:v>
                </c:pt>
                <c:pt idx="2">
                  <c:v>49</c:v>
                </c:pt>
                <c:pt idx="3">
                  <c:v>52.8</c:v>
                </c:pt>
                <c:pt idx="4">
                  <c:v>58.1</c:v>
                </c:pt>
                <c:pt idx="5">
                  <c:v>57.1</c:v>
                </c:pt>
                <c:pt idx="6">
                  <c:v>56.3</c:v>
                </c:pt>
                <c:pt idx="7">
                  <c:v>54.6</c:v>
                </c:pt>
                <c:pt idx="8">
                  <c:v>57.9</c:v>
                </c:pt>
                <c:pt idx="9">
                  <c:v>53.1</c:v>
                </c:pt>
                <c:pt idx="10">
                  <c:v>54.8</c:v>
                </c:pt>
                <c:pt idx="11">
                  <c:v>54.5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3D3D5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8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800" b="0" i="0" u="none" strike="noStrike">
                <a:solidFill>
                  <a:srgbClr val="1A1A2E"/>
                </a:solidFill>
                <a:latin typeface="Arial"/>
              </a:rPr>
              <a:t>Vendor FTE Distribution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FTE</c:v>
                </c:pt>
              </c:strCache>
            </c:strRef>
          </c:tx>
          <c:spPr>
            <a:solidFill>
              <a:srgbClr val="005B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500" u="none">
                    <a:solidFill>
                      <a:srgbClr val="3D3D5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InnoSphere</c:v>
                  </c:pt>
                  <c:pt idx="1">
                    <c:v>HorizonLabs</c:v>
                  </c:pt>
                  <c:pt idx="2">
                    <c:v>KeyNode Svc</c:v>
                  </c:pt>
                  <c:pt idx="3">
                    <c:v>DataBridge</c:v>
                  </c:pt>
                  <c:pt idx="4">
                    <c:v>BrightPath</c:v>
                  </c:pt>
                  <c:pt idx="5">
                    <c:v>GridStone</c:v>
                  </c:pt>
                  <c:pt idx="6">
                    <c:v>Apex Sol.</c:v>
                  </c:pt>
                  <c:pt idx="7">
                    <c:v>CoreWave</c:v>
                  </c:pt>
                  <c:pt idx="8">
                    <c:v>LogicNest</c:v>
                  </c:pt>
                  <c:pt idx="9">
                    <c:v>FusionPoint</c:v>
                  </c:pt>
                  <c:pt idx="10">
                    <c:v>Elevate IT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19.5</c:v>
                </c:pt>
                <c:pt idx="1">
                  <c:v>17.4</c:v>
                </c:pt>
                <c:pt idx="2">
                  <c:v>16.8</c:v>
                </c:pt>
                <c:pt idx="3">
                  <c:v>16.5</c:v>
                </c:pt>
                <c:pt idx="4">
                  <c:v>16.4</c:v>
                </c:pt>
                <c:pt idx="5">
                  <c:v>16.3</c:v>
                </c:pt>
                <c:pt idx="6">
                  <c:v>14.2</c:v>
                </c:pt>
                <c:pt idx="7">
                  <c:v>12.7</c:v>
                </c:pt>
                <c:pt idx="8">
                  <c:v>12.3</c:v>
                </c:pt>
                <c:pt idx="9">
                  <c:v>11.3</c:v>
                </c:pt>
                <c:pt idx="10">
                  <c:v>8.9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500" u="none">
                  <a:solidFill>
                    <a:srgbClr val="3D3D5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5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3810" cap="flat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5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8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800" b="0" i="0" u="none" strike="noStrike">
                <a:solidFill>
                  <a:srgbClr val="1A1A2E"/>
                </a:solidFill>
                <a:latin typeface="Arial"/>
              </a:rPr>
              <a:t>Portfolio FTE Trend 2024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CX Platform</c:v>
                </c:pt>
              </c:strCache>
            </c:strRef>
          </c:tx>
          <c:spPr>
            <a:solidFill>
              <a:srgbClr val="005B96"/>
            </a:solidFill>
            <a:ln w="19050" cap="flat">
              <a:solidFill>
                <a:srgbClr val="005B9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5B96"/>
              </a:solidFill>
              <a:ln w="9525" cap="flat">
                <a:solidFill>
                  <a:srgbClr val="005B9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60.1</c:v>
                </c:pt>
                <c:pt idx="1">
                  <c:v>53.7</c:v>
                </c:pt>
                <c:pt idx="2">
                  <c:v>53.9</c:v>
                </c:pt>
                <c:pt idx="3">
                  <c:v>56.2</c:v>
                </c:pt>
                <c:pt idx="4">
                  <c:v>56.6</c:v>
                </c:pt>
                <c:pt idx="5">
                  <c:v>62.7</c:v>
                </c:pt>
                <c:pt idx="6">
                  <c:v>64.1</c:v>
                </c:pt>
                <c:pt idx="7">
                  <c:v>59</c:v>
                </c:pt>
                <c:pt idx="8">
                  <c:v>58.8</c:v>
                </c:pt>
                <c:pt idx="9">
                  <c:v>56.8</c:v>
                </c:pt>
                <c:pt idx="10">
                  <c:v>59.8</c:v>
                </c:pt>
                <c:pt idx="11">
                  <c:v>61.3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Data &amp; Analytics</c:v>
                </c:pt>
              </c:strCache>
            </c:strRef>
          </c:tx>
          <c:spPr>
            <a:solidFill>
              <a:srgbClr val="EE3124"/>
            </a:solidFill>
            <a:ln w="19050" cap="flat">
              <a:solidFill>
                <a:srgbClr val="EE312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E3124"/>
              </a:solidFill>
              <a:ln w="9525" cap="flat">
                <a:solidFill>
                  <a:srgbClr val="EE312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63.7</c:v>
                </c:pt>
                <c:pt idx="1">
                  <c:v>57.5</c:v>
                </c:pt>
                <c:pt idx="2">
                  <c:v>56.4</c:v>
                </c:pt>
                <c:pt idx="3">
                  <c:v>55.6</c:v>
                </c:pt>
                <c:pt idx="4">
                  <c:v>54.7</c:v>
                </c:pt>
                <c:pt idx="5">
                  <c:v>61.6</c:v>
                </c:pt>
                <c:pt idx="6">
                  <c:v>57.1</c:v>
                </c:pt>
                <c:pt idx="7">
                  <c:v>52.6</c:v>
                </c:pt>
                <c:pt idx="8">
                  <c:v>61.3</c:v>
                </c:pt>
                <c:pt idx="9">
                  <c:v>55</c:v>
                </c:pt>
                <c:pt idx="10">
                  <c:v>57</c:v>
                </c:pt>
                <c:pt idx="11">
                  <c:v>59.5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Digital Transform</c:v>
                </c:pt>
              </c:strCache>
            </c:strRef>
          </c:tx>
          <c:spPr>
            <a:solidFill>
              <a:srgbClr val="2E7D32"/>
            </a:solidFill>
            <a:ln w="19050" cap="flat">
              <a:solidFill>
                <a:srgbClr val="2E7D3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7D32"/>
              </a:solidFill>
              <a:ln w="9525" cap="flat">
                <a:solidFill>
                  <a:srgbClr val="2E7D3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57.8</c:v>
                </c:pt>
                <c:pt idx="1">
                  <c:v>62</c:v>
                </c:pt>
                <c:pt idx="2">
                  <c:v>64.3</c:v>
                </c:pt>
                <c:pt idx="3">
                  <c:v>62.7</c:v>
                </c:pt>
                <c:pt idx="4">
                  <c:v>59.9</c:v>
                </c:pt>
                <c:pt idx="5">
                  <c:v>57.8</c:v>
                </c:pt>
                <c:pt idx="6">
                  <c:v>58.8</c:v>
                </c:pt>
                <c:pt idx="7">
                  <c:v>60.5</c:v>
                </c:pt>
                <c:pt idx="8">
                  <c:v>62</c:v>
                </c:pt>
                <c:pt idx="9">
                  <c:v>56.2</c:v>
                </c:pt>
                <c:pt idx="10">
                  <c:v>63.4</c:v>
                </c:pt>
                <c:pt idx="11">
                  <c:v>58.5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Enterprise Infra</c:v>
                </c:pt>
              </c:strCache>
            </c:strRef>
          </c:tx>
          <c:spPr>
            <a:solidFill>
              <a:srgbClr val="6A1B9A"/>
            </a:solidFill>
            <a:ln w="19050" cap="flat">
              <a:solidFill>
                <a:srgbClr val="6A1B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A1B9A"/>
              </a:solidFill>
              <a:ln w="9525" cap="flat">
                <a:solidFill>
                  <a:srgbClr val="6A1B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58.9</c:v>
                </c:pt>
                <c:pt idx="1">
                  <c:v>61.1</c:v>
                </c:pt>
                <c:pt idx="2">
                  <c:v>54.7</c:v>
                </c:pt>
                <c:pt idx="3">
                  <c:v>55.1</c:v>
                </c:pt>
                <c:pt idx="4">
                  <c:v>57.4</c:v>
                </c:pt>
                <c:pt idx="5">
                  <c:v>57.6</c:v>
                </c:pt>
                <c:pt idx="6">
                  <c:v>59.8</c:v>
                </c:pt>
                <c:pt idx="7">
                  <c:v>60.4</c:v>
                </c:pt>
                <c:pt idx="8">
                  <c:v>59.6</c:v>
                </c:pt>
                <c:pt idx="9">
                  <c:v>58.6</c:v>
                </c:pt>
                <c:pt idx="10">
                  <c:v>59</c:v>
                </c:pt>
                <c:pt idx="11">
                  <c:v>60.8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3810" cap="flat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600">
              <a:solidFill>
                <a:srgbClr val="3D3D5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8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800" b="0" i="0" u="none" strike="noStrike">
                <a:solidFill>
                  <a:srgbClr val="1A1A2E"/>
                </a:solidFill>
                <a:latin typeface="Arial"/>
              </a:rPr>
              <a:t>All Resources — Location Split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5B96"/>
              </a:solidFill>
              <a:effectLst/>
            </c:spPr>
          </c:dPt>
          <c:dPt>
            <c:idx val="1"/>
            <c:bubble3D val="0"/>
            <c:spPr>
              <a:solidFill>
                <a:srgbClr val="6A1B9A"/>
              </a:solidFill>
              <a:effectLst/>
            </c:spPr>
          </c:dPt>
          <c:dPt>
            <c:idx val="2"/>
            <c:bubble3D val="0"/>
            <c:spPr>
              <a:solidFill>
                <a:srgbClr val="EE312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Onsite (22.7%)</c:v>
                </c:pt>
                <c:pt idx="1">
                  <c:v>Nearshore (25.5%)</c:v>
                </c:pt>
                <c:pt idx="2">
                  <c:v>Offshore (51.8%)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54.5</c:v>
                </c:pt>
                <c:pt idx="1">
                  <c:v>61.3</c:v>
                </c:pt>
                <c:pt idx="2">
                  <c:v>124.3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600">
              <a:solidFill>
                <a:srgbClr val="3D3D5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8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800" b="0" i="0" u="none" strike="noStrike">
                <a:solidFill>
                  <a:srgbClr val="1A1A2E"/>
                </a:solidFill>
                <a:latin typeface="Arial"/>
              </a:rPr>
              <a:t>Teams Supporting the Portfolio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FTE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3D3D5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Data Services</c:v>
                  </c:pt>
                  <c:pt idx="1">
                    <c:v>Quality Assurance</c:v>
                  </c:pt>
                  <c:pt idx="2">
                    <c:v>Asia Pacific</c:v>
                  </c:pt>
                  <c:pt idx="3">
                    <c:v>Process Auto</c:v>
                  </c:pt>
                  <c:pt idx="4">
                    <c:v>App Engineering</c:v>
                  </c:pt>
                  <c:pt idx="5">
                    <c:v>EMEA Delivery</c:v>
                  </c:pt>
                  <c:pt idx="6">
                    <c:v>Enterprise IT</c:v>
                  </c:pt>
                  <c:pt idx="7">
                    <c:v>Digital Strategy</c:v>
                  </c:pt>
                  <c:pt idx="8">
                    <c:v>Cloud Ops</c:v>
                  </c:pt>
                  <c:pt idx="9">
                    <c:v>Platform Core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34.7</c:v>
                </c:pt>
                <c:pt idx="1">
                  <c:v>27.3</c:v>
                </c:pt>
                <c:pt idx="2">
                  <c:v>26.2</c:v>
                </c:pt>
                <c:pt idx="3">
                  <c:v>23.6</c:v>
                </c:pt>
                <c:pt idx="4">
                  <c:v>22.3</c:v>
                </c:pt>
                <c:pt idx="5">
                  <c:v>21.5</c:v>
                </c:pt>
                <c:pt idx="6">
                  <c:v>21.5</c:v>
                </c:pt>
                <c:pt idx="7">
                  <c:v>21.4</c:v>
                </c:pt>
                <c:pt idx="8">
                  <c:v>21.4</c:v>
                </c:pt>
                <c:pt idx="9">
                  <c:v>20.2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00" u="none">
                  <a:solidFill>
                    <a:srgbClr val="3D3D5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3810" cap="flat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8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800" b="0" i="0" u="none" strike="noStrike">
                <a:solidFill>
                  <a:srgbClr val="1A1A2E"/>
                </a:solidFill>
                <a:latin typeface="Arial"/>
              </a:rPr>
              <a:t>Active Projects — % of Effort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Effort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2B49"/>
              </a:solidFill>
              <a:effectLst/>
            </c:spPr>
          </c:dPt>
          <c:dPt>
            <c:idx val="1"/>
            <c:bubble3D val="0"/>
            <c:spPr>
              <a:solidFill>
                <a:srgbClr val="005B96"/>
              </a:solidFill>
              <a:effectLst/>
            </c:spPr>
          </c:dPt>
          <c:dPt>
            <c:idx val="2"/>
            <c:bubble3D val="0"/>
            <c:spPr>
              <a:solidFill>
                <a:srgbClr val="00796B"/>
              </a:solidFill>
              <a:effectLst/>
            </c:spPr>
          </c:dPt>
          <c:dPt>
            <c:idx val="3"/>
            <c:bubble3D val="0"/>
            <c:spPr>
              <a:solidFill>
                <a:srgbClr val="E65100"/>
              </a:solidFill>
              <a:effectLst/>
            </c:spPr>
          </c:dPt>
          <c:dPt>
            <c:idx val="4"/>
            <c:bubble3D val="0"/>
            <c:spPr>
              <a:solidFill>
                <a:srgbClr val="2E7D32"/>
              </a:solidFill>
              <a:effectLst/>
            </c:spPr>
          </c:dPt>
          <c:dPt>
            <c:idx val="5"/>
            <c:bubble3D val="0"/>
            <c:spPr>
              <a:solidFill>
                <a:srgbClr val="F57F1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6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6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6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6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6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6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Platform Migration</c:v>
                </c:pt>
                <c:pt idx="1">
                  <c:v>Greenfield Build</c:v>
                </c:pt>
                <c:pt idx="2">
                  <c:v>Minor Enhance</c:v>
                </c:pt>
                <c:pt idx="3">
                  <c:v>Admin</c:v>
                </c:pt>
                <c:pt idx="4">
                  <c:v>Break-Fix</c:v>
                </c:pt>
                <c:pt idx="5">
                  <c:v>Feasibility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65</c:v>
                </c:pt>
                <c:pt idx="1">
                  <c:v>62.6</c:v>
                </c:pt>
                <c:pt idx="2">
                  <c:v>34</c:v>
                </c:pt>
                <c:pt idx="3">
                  <c:v>30</c:v>
                </c:pt>
                <c:pt idx="4">
                  <c:v>26.3</c:v>
                </c:pt>
                <c:pt idx="5">
                  <c:v>22.2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500">
              <a:solidFill>
                <a:srgbClr val="3D3D5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900" b="0" i="0" u="none" strike="noStrike">
                <a:solidFill>
                  <a:srgbClr val="1A1A2E"/>
                </a:solidFill>
                <a:latin typeface="Arial"/>
              </a:rPr>
              <a:t>Top 10 Programs by FTE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FTE</c:v>
                </c:pt>
              </c:strCache>
            </c:strRef>
          </c:tx>
          <c:spPr>
            <a:solidFill>
              <a:srgbClr val="002B4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3D3D5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2B4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E312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5B9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A1B9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57F17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0796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6510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558B2F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4527A0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Titan Network</c:v>
                  </c:pt>
                  <c:pt idx="1">
                    <c:v>Orbit Feedback</c:v>
                  </c:pt>
                  <c:pt idx="2">
                    <c:v>Summit BI</c:v>
                  </c:pt>
                  <c:pt idx="3">
                    <c:v>Fortress Security</c:v>
                  </c:pt>
                  <c:pt idx="4">
                    <c:v>Prism Portal</c:v>
                  </c:pt>
                  <c:pt idx="5">
                    <c:v>Keystone Config</c:v>
                  </c:pt>
                  <c:pt idx="6">
                    <c:v>Horizon DR</c:v>
                  </c:pt>
                  <c:pt idx="7">
                    <c:v>Echo Data Lake</c:v>
                  </c:pt>
                  <c:pt idx="8">
                    <c:v>Pulse Notif.</c:v>
                  </c:pt>
                  <c:pt idx="9">
                    <c:v>Relay ETL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17.2</c:v>
                </c:pt>
                <c:pt idx="1">
                  <c:v>15.6</c:v>
                </c:pt>
                <c:pt idx="2">
                  <c:v>15.1</c:v>
                </c:pt>
                <c:pt idx="3">
                  <c:v>14.8</c:v>
                </c:pt>
                <c:pt idx="4">
                  <c:v>14.6</c:v>
                </c:pt>
                <c:pt idx="5">
                  <c:v>14.5</c:v>
                </c:pt>
                <c:pt idx="6">
                  <c:v>14.3</c:v>
                </c:pt>
                <c:pt idx="7">
                  <c:v>13.3</c:v>
                </c:pt>
                <c:pt idx="8">
                  <c:v>13.2</c:v>
                </c:pt>
                <c:pt idx="9">
                  <c:v>12.3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00" u="none">
                  <a:solidFill>
                    <a:srgbClr val="3D3D5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3810" cap="flat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900" b="0" i="0" u="none" strike="noStrike">
                <a:solidFill>
                  <a:srgbClr val="1A1A2E"/>
                </a:solidFill>
                <a:latin typeface="Arial"/>
              </a:rPr>
              <a:t>FTE by Portfolio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FTE</c:v>
                </c:pt>
              </c:strCache>
            </c:strRef>
          </c:tx>
          <c:spPr>
            <a:solidFill>
              <a:srgbClr val="002B4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3D3D5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2B4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E312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5B9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A1B9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CX Platform</c:v>
                  </c:pt>
                  <c:pt idx="1">
                    <c:v>Data &amp; Analytics</c:v>
                  </c:pt>
                  <c:pt idx="2">
                    <c:v>Digital Transform</c:v>
                  </c:pt>
                  <c:pt idx="3">
                    <c:v>Enterprise Infra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61.3</c:v>
                </c:pt>
                <c:pt idx="1">
                  <c:v>59.5</c:v>
                </c:pt>
                <c:pt idx="2">
                  <c:v>58.5</c:v>
                </c:pt>
                <c:pt idx="3">
                  <c:v>60.8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3D3D5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3810" cap="flat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900" b="0" i="0" u="none" strike="noStrike">
                <a:solidFill>
                  <a:srgbClr val="1A1A2E"/>
                </a:solidFill>
                <a:latin typeface="Arial"/>
              </a:rPr>
              <a:t>Vendor FTE by Location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Onsite</c:v>
                </c:pt>
              </c:strCache>
            </c:strRef>
          </c:tx>
          <c:spPr>
            <a:solidFill>
              <a:srgbClr val="005B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InnoSphere</c:v>
                  </c:pt>
                  <c:pt idx="1">
                    <c:v>HorizonLabs</c:v>
                  </c:pt>
                  <c:pt idx="2">
                    <c:v>KeyNode</c:v>
                  </c:pt>
                  <c:pt idx="3">
                    <c:v>DataBridge</c:v>
                  </c:pt>
                  <c:pt idx="4">
                    <c:v>BrightPath</c:v>
                  </c:pt>
                  <c:pt idx="5">
                    <c:v>GridStone</c:v>
                  </c:pt>
                  <c:pt idx="6">
                    <c:v>Apex</c:v>
                  </c:pt>
                  <c:pt idx="7">
                    <c:v>CoreWave</c:v>
                  </c:pt>
                  <c:pt idx="8">
                    <c:v>LogicNest</c:v>
                  </c:pt>
                  <c:pt idx="9">
                    <c:v>FusionPoint</c:v>
                  </c:pt>
                  <c:pt idx="10">
                    <c:v>Elevate IT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4.5</c:v>
                </c:pt>
                <c:pt idx="1">
                  <c:v>4.9</c:v>
                </c:pt>
                <c:pt idx="2">
                  <c:v>4.1</c:v>
                </c:pt>
                <c:pt idx="3">
                  <c:v>1.6</c:v>
                </c:pt>
                <c:pt idx="4">
                  <c:v>2.5</c:v>
                </c:pt>
                <c:pt idx="5">
                  <c:v>4.1</c:v>
                </c:pt>
                <c:pt idx="6">
                  <c:v>6.2</c:v>
                </c:pt>
                <c:pt idx="7">
                  <c:v>2.6</c:v>
                </c:pt>
                <c:pt idx="8">
                  <c:v>1.9</c:v>
                </c:pt>
                <c:pt idx="9">
                  <c:v>2.7</c:v>
                </c:pt>
                <c:pt idx="10">
                  <c:v>1.6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Nearshore</c:v>
                </c:pt>
              </c:strCache>
            </c:strRef>
          </c:tx>
          <c:spPr>
            <a:solidFill>
              <a:srgbClr val="6A1B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InnoSphere</c:v>
                  </c:pt>
                  <c:pt idx="1">
                    <c:v>HorizonLabs</c:v>
                  </c:pt>
                  <c:pt idx="2">
                    <c:v>KeyNode</c:v>
                  </c:pt>
                  <c:pt idx="3">
                    <c:v>DataBridge</c:v>
                  </c:pt>
                  <c:pt idx="4">
                    <c:v>BrightPath</c:v>
                  </c:pt>
                  <c:pt idx="5">
                    <c:v>GridStone</c:v>
                  </c:pt>
                  <c:pt idx="6">
                    <c:v>Apex</c:v>
                  </c:pt>
                  <c:pt idx="7">
                    <c:v>CoreWave</c:v>
                  </c:pt>
                  <c:pt idx="8">
                    <c:v>LogicNest</c:v>
                  </c:pt>
                  <c:pt idx="9">
                    <c:v>FusionPoint</c:v>
                  </c:pt>
                  <c:pt idx="10">
                    <c:v>Elevate IT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2.6</c:v>
                </c:pt>
                <c:pt idx="1">
                  <c:v>3.7</c:v>
                </c:pt>
                <c:pt idx="2">
                  <c:v>4</c:v>
                </c:pt>
                <c:pt idx="3">
                  <c:v>5.3</c:v>
                </c:pt>
                <c:pt idx="4">
                  <c:v>2.8</c:v>
                </c:pt>
                <c:pt idx="5">
                  <c:v>2.6</c:v>
                </c:pt>
                <c:pt idx="6">
                  <c:v>2.4</c:v>
                </c:pt>
                <c:pt idx="7">
                  <c:v>5.4</c:v>
                </c:pt>
                <c:pt idx="8">
                  <c:v>2</c:v>
                </c:pt>
                <c:pt idx="9">
                  <c:v>1.9</c:v>
                </c:pt>
                <c:pt idx="10">
                  <c:v>3.5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Offshore</c:v>
                </c:pt>
              </c:strCache>
            </c:strRef>
          </c:tx>
          <c:spPr>
            <a:solidFill>
              <a:srgbClr val="EE312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InnoSphere</c:v>
                  </c:pt>
                  <c:pt idx="1">
                    <c:v>HorizonLabs</c:v>
                  </c:pt>
                  <c:pt idx="2">
                    <c:v>KeyNode</c:v>
                  </c:pt>
                  <c:pt idx="3">
                    <c:v>DataBridge</c:v>
                  </c:pt>
                  <c:pt idx="4">
                    <c:v>BrightPath</c:v>
                  </c:pt>
                  <c:pt idx="5">
                    <c:v>GridStone</c:v>
                  </c:pt>
                  <c:pt idx="6">
                    <c:v>Apex</c:v>
                  </c:pt>
                  <c:pt idx="7">
                    <c:v>CoreWave</c:v>
                  </c:pt>
                  <c:pt idx="8">
                    <c:v>LogicNest</c:v>
                  </c:pt>
                  <c:pt idx="9">
                    <c:v>FusionPoint</c:v>
                  </c:pt>
                  <c:pt idx="10">
                    <c:v>Elevate IT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12.4</c:v>
                </c:pt>
                <c:pt idx="1">
                  <c:v>8.8</c:v>
                </c:pt>
                <c:pt idx="2">
                  <c:v>8.7</c:v>
                </c:pt>
                <c:pt idx="3">
                  <c:v>9.6</c:v>
                </c:pt>
                <c:pt idx="4">
                  <c:v>11.1</c:v>
                </c:pt>
                <c:pt idx="5">
                  <c:v>9.6</c:v>
                </c:pt>
                <c:pt idx="6">
                  <c:v>5.6</c:v>
                </c:pt>
                <c:pt idx="7">
                  <c:v>4.7</c:v>
                </c:pt>
                <c:pt idx="8">
                  <c:v>8.4</c:v>
                </c:pt>
                <c:pt idx="9">
                  <c:v>6.7</c:v>
                </c:pt>
                <c:pt idx="10">
                  <c:v>3.8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3810" cap="flat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00">
              <a:solidFill>
                <a:srgbClr val="3D3D5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900" b="0" i="0" u="none" strike="noStrike">
                <a:solidFill>
                  <a:srgbClr val="1A1A2E"/>
                </a:solidFill>
                <a:latin typeface="Arial"/>
              </a:rPr>
              <a:t>Vendor Location Mix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Onsite %</c:v>
                </c:pt>
              </c:strCache>
            </c:strRef>
          </c:tx>
          <c:spPr>
            <a:solidFill>
              <a:srgbClr val="005B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InnoSphere</c:v>
                  </c:pt>
                  <c:pt idx="1">
                    <c:v>HorizonLabs</c:v>
                  </c:pt>
                  <c:pt idx="2">
                    <c:v>KeyNode</c:v>
                  </c:pt>
                  <c:pt idx="3">
                    <c:v>DataBridge</c:v>
                  </c:pt>
                  <c:pt idx="4">
                    <c:v>BrightPath</c:v>
                  </c:pt>
                  <c:pt idx="5">
                    <c:v>GridStone</c:v>
                  </c:pt>
                  <c:pt idx="6">
                    <c:v>Apex</c:v>
                  </c:pt>
                  <c:pt idx="7">
                    <c:v>CoreWave</c:v>
                  </c:pt>
                  <c:pt idx="8">
                    <c:v>LogicNest</c:v>
                  </c:pt>
                  <c:pt idx="9">
                    <c:v>FusionPoint</c:v>
                  </c:pt>
                  <c:pt idx="10">
                    <c:v>Elevate IT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23.1</c:v>
                </c:pt>
                <c:pt idx="1">
                  <c:v>28.2</c:v>
                </c:pt>
                <c:pt idx="2">
                  <c:v>24.4</c:v>
                </c:pt>
                <c:pt idx="3">
                  <c:v>9.7</c:v>
                </c:pt>
                <c:pt idx="4">
                  <c:v>15.2</c:v>
                </c:pt>
                <c:pt idx="5">
                  <c:v>25.2</c:v>
                </c:pt>
                <c:pt idx="6">
                  <c:v>43.7</c:v>
                </c:pt>
                <c:pt idx="7">
                  <c:v>20.5</c:v>
                </c:pt>
                <c:pt idx="8">
                  <c:v>15.4</c:v>
                </c:pt>
                <c:pt idx="9">
                  <c:v>23.9</c:v>
                </c:pt>
                <c:pt idx="10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Nearshore %</c:v>
                </c:pt>
              </c:strCache>
            </c:strRef>
          </c:tx>
          <c:spPr>
            <a:solidFill>
              <a:srgbClr val="6A1B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InnoSphere</c:v>
                  </c:pt>
                  <c:pt idx="1">
                    <c:v>HorizonLabs</c:v>
                  </c:pt>
                  <c:pt idx="2">
                    <c:v>KeyNode</c:v>
                  </c:pt>
                  <c:pt idx="3">
                    <c:v>DataBridge</c:v>
                  </c:pt>
                  <c:pt idx="4">
                    <c:v>BrightPath</c:v>
                  </c:pt>
                  <c:pt idx="5">
                    <c:v>GridStone</c:v>
                  </c:pt>
                  <c:pt idx="6">
                    <c:v>Apex</c:v>
                  </c:pt>
                  <c:pt idx="7">
                    <c:v>CoreWave</c:v>
                  </c:pt>
                  <c:pt idx="8">
                    <c:v>LogicNest</c:v>
                  </c:pt>
                  <c:pt idx="9">
                    <c:v>FusionPoint</c:v>
                  </c:pt>
                  <c:pt idx="10">
                    <c:v>Elevate IT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13.3</c:v>
                </c:pt>
                <c:pt idx="1">
                  <c:v>21.3</c:v>
                </c:pt>
                <c:pt idx="2">
                  <c:v>23.8</c:v>
                </c:pt>
                <c:pt idx="3">
                  <c:v>32.1</c:v>
                </c:pt>
                <c:pt idx="4">
                  <c:v>17.1</c:v>
                </c:pt>
                <c:pt idx="5">
                  <c:v>16</c:v>
                </c:pt>
                <c:pt idx="6">
                  <c:v>16.9</c:v>
                </c:pt>
                <c:pt idx="7">
                  <c:v>42.5</c:v>
                </c:pt>
                <c:pt idx="8">
                  <c:v>16.3</c:v>
                </c:pt>
                <c:pt idx="9">
                  <c:v>16.8</c:v>
                </c:pt>
                <c:pt idx="10">
                  <c:v>39.3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Offshore %</c:v>
                </c:pt>
              </c:strCache>
            </c:strRef>
          </c:tx>
          <c:spPr>
            <a:solidFill>
              <a:srgbClr val="EE312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InnoSphere</c:v>
                  </c:pt>
                  <c:pt idx="1">
                    <c:v>HorizonLabs</c:v>
                  </c:pt>
                  <c:pt idx="2">
                    <c:v>KeyNode</c:v>
                  </c:pt>
                  <c:pt idx="3">
                    <c:v>DataBridge</c:v>
                  </c:pt>
                  <c:pt idx="4">
                    <c:v>BrightPath</c:v>
                  </c:pt>
                  <c:pt idx="5">
                    <c:v>GridStone</c:v>
                  </c:pt>
                  <c:pt idx="6">
                    <c:v>Apex</c:v>
                  </c:pt>
                  <c:pt idx="7">
                    <c:v>CoreWave</c:v>
                  </c:pt>
                  <c:pt idx="8">
                    <c:v>LogicNest</c:v>
                  </c:pt>
                  <c:pt idx="9">
                    <c:v>FusionPoint</c:v>
                  </c:pt>
                  <c:pt idx="10">
                    <c:v>Elevate IT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63.6</c:v>
                </c:pt>
                <c:pt idx="1">
                  <c:v>50.6</c:v>
                </c:pt>
                <c:pt idx="2">
                  <c:v>51.8</c:v>
                </c:pt>
                <c:pt idx="3">
                  <c:v>58.2</c:v>
                </c:pt>
                <c:pt idx="4">
                  <c:v>67.7</c:v>
                </c:pt>
                <c:pt idx="5">
                  <c:v>58.9</c:v>
                </c:pt>
                <c:pt idx="6">
                  <c:v>39.4</c:v>
                </c:pt>
                <c:pt idx="7">
                  <c:v>37</c:v>
                </c:pt>
                <c:pt idx="8">
                  <c:v>68.3</c:v>
                </c:pt>
                <c:pt idx="9">
                  <c:v>59.3</c:v>
                </c:pt>
                <c:pt idx="10">
                  <c:v>42.7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3810" cap="flat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00">
              <a:solidFill>
                <a:srgbClr val="3D3D5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900" b="0" i="0" u="none" strike="noStrike">
                <a:solidFill>
                  <a:srgbClr val="1A1A2E"/>
                </a:solidFill>
                <a:latin typeface="Arial"/>
              </a:rPr>
              <a:t>Department FTE with Location Breakdown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Onsite</c:v>
                </c:pt>
              </c:strCache>
            </c:strRef>
          </c:tx>
          <c:spPr>
            <a:solidFill>
              <a:srgbClr val="005B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Data Services</c:v>
                  </c:pt>
                  <c:pt idx="1">
                    <c:v>Quality Assurance</c:v>
                  </c:pt>
                  <c:pt idx="2">
                    <c:v>Asia Pacific</c:v>
                  </c:pt>
                  <c:pt idx="3">
                    <c:v>Process Auto</c:v>
                  </c:pt>
                  <c:pt idx="4">
                    <c:v>App Engineering</c:v>
                  </c:pt>
                  <c:pt idx="5">
                    <c:v>EMEA Delivery</c:v>
                  </c:pt>
                  <c:pt idx="6">
                    <c:v>Enterprise IT</c:v>
                  </c:pt>
                  <c:pt idx="7">
                    <c:v>Digital Strategy</c:v>
                  </c:pt>
                  <c:pt idx="8">
                    <c:v>Cloud Ops</c:v>
                  </c:pt>
                  <c:pt idx="9">
                    <c:v>Platform Core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6.5</c:v>
                </c:pt>
                <c:pt idx="1">
                  <c:v>7.7</c:v>
                </c:pt>
                <c:pt idx="2">
                  <c:v>6.7</c:v>
                </c:pt>
                <c:pt idx="3">
                  <c:v>6.7</c:v>
                </c:pt>
                <c:pt idx="4">
                  <c:v>4.6</c:v>
                </c:pt>
                <c:pt idx="5">
                  <c:v>4.6</c:v>
                </c:pt>
                <c:pt idx="6">
                  <c:v>3.7</c:v>
                </c:pt>
                <c:pt idx="7">
                  <c:v>4.4</c:v>
                </c:pt>
                <c:pt idx="8">
                  <c:v>5.8</c:v>
                </c:pt>
                <c:pt idx="9">
                  <c:v>3.8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Nearshore</c:v>
                </c:pt>
              </c:strCache>
            </c:strRef>
          </c:tx>
          <c:spPr>
            <a:solidFill>
              <a:srgbClr val="6A1B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Data Services</c:v>
                  </c:pt>
                  <c:pt idx="1">
                    <c:v>Quality Assurance</c:v>
                  </c:pt>
                  <c:pt idx="2">
                    <c:v>Asia Pacific</c:v>
                  </c:pt>
                  <c:pt idx="3">
                    <c:v>Process Auto</c:v>
                  </c:pt>
                  <c:pt idx="4">
                    <c:v>App Engineering</c:v>
                  </c:pt>
                  <c:pt idx="5">
                    <c:v>EMEA Delivery</c:v>
                  </c:pt>
                  <c:pt idx="6">
                    <c:v>Enterprise IT</c:v>
                  </c:pt>
                  <c:pt idx="7">
                    <c:v>Digital Strategy</c:v>
                  </c:pt>
                  <c:pt idx="8">
                    <c:v>Cloud Ops</c:v>
                  </c:pt>
                  <c:pt idx="9">
                    <c:v>Platform Core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8.8</c:v>
                </c:pt>
                <c:pt idx="1">
                  <c:v>9.2</c:v>
                </c:pt>
                <c:pt idx="2">
                  <c:v>7.4</c:v>
                </c:pt>
                <c:pt idx="3">
                  <c:v>4.3</c:v>
                </c:pt>
                <c:pt idx="4">
                  <c:v>4.5</c:v>
                </c:pt>
                <c:pt idx="5">
                  <c:v>4.1</c:v>
                </c:pt>
                <c:pt idx="6">
                  <c:v>7.5</c:v>
                </c:pt>
                <c:pt idx="7">
                  <c:v>4.1</c:v>
                </c:pt>
                <c:pt idx="8">
                  <c:v>6.6</c:v>
                </c:pt>
                <c:pt idx="9">
                  <c:v>4.8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Offshore</c:v>
                </c:pt>
              </c:strCache>
            </c:strRef>
          </c:tx>
          <c:spPr>
            <a:solidFill>
              <a:srgbClr val="EE312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Data Services</c:v>
                  </c:pt>
                  <c:pt idx="1">
                    <c:v>Quality Assurance</c:v>
                  </c:pt>
                  <c:pt idx="2">
                    <c:v>Asia Pacific</c:v>
                  </c:pt>
                  <c:pt idx="3">
                    <c:v>Process Auto</c:v>
                  </c:pt>
                  <c:pt idx="4">
                    <c:v>App Engineering</c:v>
                  </c:pt>
                  <c:pt idx="5">
                    <c:v>EMEA Delivery</c:v>
                  </c:pt>
                  <c:pt idx="6">
                    <c:v>Enterprise IT</c:v>
                  </c:pt>
                  <c:pt idx="7">
                    <c:v>Digital Strategy</c:v>
                  </c:pt>
                  <c:pt idx="8">
                    <c:v>Cloud Ops</c:v>
                  </c:pt>
                  <c:pt idx="9">
                    <c:v>Platform Core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19.4</c:v>
                </c:pt>
                <c:pt idx="1">
                  <c:v>10.4</c:v>
                </c:pt>
                <c:pt idx="2">
                  <c:v>12.1</c:v>
                </c:pt>
                <c:pt idx="3">
                  <c:v>12.6</c:v>
                </c:pt>
                <c:pt idx="4">
                  <c:v>13.2</c:v>
                </c:pt>
                <c:pt idx="5">
                  <c:v>12.8</c:v>
                </c:pt>
                <c:pt idx="6">
                  <c:v>10.3</c:v>
                </c:pt>
                <c:pt idx="7">
                  <c:v>12.9</c:v>
                </c:pt>
                <c:pt idx="8">
                  <c:v>9</c:v>
                </c:pt>
                <c:pt idx="9">
                  <c:v>11.6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3810" cap="flat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00">
              <a:solidFill>
                <a:srgbClr val="3D3D5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900" b="0" i="0" u="none" strike="noStrike">
                <a:solidFill>
                  <a:srgbClr val="1A1A2E"/>
                </a:solidFill>
                <a:latin typeface="Arial"/>
              </a:rPr>
              <a:t>Offshore % by Department (Risk Ranked)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Offshore %</c:v>
                </c:pt>
              </c:strCache>
            </c:strRef>
          </c:tx>
          <c:spPr>
            <a:solidFill>
              <a:srgbClr val="EE312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3D3D5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E312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51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651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651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6510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6510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Digital Strategy</c:v>
                  </c:pt>
                  <c:pt idx="1">
                    <c:v>App Engineering</c:v>
                  </c:pt>
                  <c:pt idx="2">
                    <c:v>EMEA Delivery</c:v>
                  </c:pt>
                  <c:pt idx="3">
                    <c:v>Platform Core</c:v>
                  </c:pt>
                  <c:pt idx="4">
                    <c:v>Data Services</c:v>
                  </c:pt>
                  <c:pt idx="5">
                    <c:v>Process Auto</c:v>
                  </c:pt>
                  <c:pt idx="6">
                    <c:v>Enterprise IT</c:v>
                  </c:pt>
                  <c:pt idx="7">
                    <c:v>Asia Pacific</c:v>
                  </c:pt>
                  <c:pt idx="8">
                    <c:v>Cloud Ops</c:v>
                  </c:pt>
                  <c:pt idx="9">
                    <c:v>Quality Assurance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60.3</c:v>
                </c:pt>
                <c:pt idx="1">
                  <c:v>59.2</c:v>
                </c:pt>
                <c:pt idx="2">
                  <c:v>59.5</c:v>
                </c:pt>
                <c:pt idx="3">
                  <c:v>57.4</c:v>
                </c:pt>
                <c:pt idx="4">
                  <c:v>55.9</c:v>
                </c:pt>
                <c:pt idx="5">
                  <c:v>53.4</c:v>
                </c:pt>
                <c:pt idx="6">
                  <c:v>47.9</c:v>
                </c:pt>
                <c:pt idx="7">
                  <c:v>46.2</c:v>
                </c:pt>
                <c:pt idx="8">
                  <c:v>42.1</c:v>
                </c:pt>
                <c:pt idx="9">
                  <c:v>38.1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00" u="none">
                  <a:solidFill>
                    <a:srgbClr val="3D3D5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3810" cap="flat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chart" Target="/ppt/charts/chart7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chart" Target="/ppt/charts/chart1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chart" Target="/ppt/charts/chart1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194560"/>
          </a:xfrm>
          <a:prstGeom prst="rect">
            <a:avLst/>
          </a:prstGeom>
          <a:solidFill>
            <a:srgbClr val="002B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194560"/>
            <a:ext cx="9144000" cy="54864"/>
          </a:xfrm>
          <a:prstGeom prst="rect">
            <a:avLst/>
          </a:prstGeom>
          <a:solidFill>
            <a:srgbClr val="EE312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PMR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EE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Management Review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1371600" cy="68580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67004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240.1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31520" y="30906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FTE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377440" y="2651760"/>
            <a:ext cx="1371600" cy="68580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77440" y="267004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5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377440" y="30906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023360" y="2651760"/>
            <a:ext cx="1371600" cy="68580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023360" y="267004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023360" y="30906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669280" y="2651760"/>
            <a:ext cx="1371600" cy="68580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0" y="267004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669280" y="30906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315200" y="2651760"/>
            <a:ext cx="1371600" cy="68580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0" y="267004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315200" y="30906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3152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as of December 2024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2B49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2B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9144000" cy="27432"/>
          </a:xfrm>
          <a:prstGeom prst="rect">
            <a:avLst/>
          </a:prstGeom>
          <a:solidFill>
            <a:srgbClr val="EE312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0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PMR DASHBOARD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0" y="6400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640080"/>
            <a:ext cx="16459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69494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74320" y="8229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77.8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" y="113385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5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32.4%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1280160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+0.5 MoM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011680" y="640080"/>
            <a:ext cx="16459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11680" y="69494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CONSULTANTS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011680" y="8229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162.3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011680" y="113385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5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67.6%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11680" y="1280160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+5.2 MoM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749040" y="640080"/>
            <a:ext cx="16459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49040" y="69494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ONSITE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749040" y="8229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749040" y="113385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5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22.7%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749040" y="1280160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E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-0.3 MoM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486400" y="640080"/>
            <a:ext cx="16459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0" y="69494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NEARSHORE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486400" y="8229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61.3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86400" y="113385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5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25.5%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0" y="1280160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E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-5.2 MoM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7223760" y="640080"/>
            <a:ext cx="16459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223760" y="69494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OFFSHORE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223760" y="8229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124.3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223760" y="113385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5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51.8%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223760" y="1280160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+6.4 MoM</a:t>
            </a:r>
            <a:endParaRPr lang="en-US" sz="70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274320" y="1645920"/>
          <a:ext cx="292608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2" name="Shape 29"/>
          <p:cNvSpPr/>
          <p:nvPr/>
        </p:nvSpPr>
        <p:spPr>
          <a:xfrm>
            <a:off x="274320" y="3840480"/>
            <a:ext cx="2926080" cy="731520"/>
          </a:xfrm>
          <a:prstGeom prst="rect">
            <a:avLst/>
          </a:prstGeom>
          <a:solidFill>
            <a:srgbClr val="F0F2F5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274320" y="3840480"/>
            <a:ext cx="36576" cy="731520"/>
          </a:xfrm>
          <a:prstGeom prst="rect">
            <a:avLst/>
          </a:prstGeom>
          <a:solidFill>
            <a:srgbClr val="005B96"/>
          </a:solidFill>
          <a:ln/>
        </p:spPr>
      </p:sp>
      <p:sp>
        <p:nvSpPr>
          <p:cNvPr id="34" name="Text 31"/>
          <p:cNvSpPr/>
          <p:nvPr/>
        </p:nvSpPr>
        <p:spPr>
          <a:xfrm>
            <a:off x="384048" y="3840480"/>
            <a:ext cx="27432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002B49"/>
                </a:solidFill>
              </a:rPr>
              <a:t>SERVICE TYPE ANALYSIS</a:t>
            </a:r>
            <a:endParaRPr lang="en-US" sz="700" dirty="0"/>
          </a:p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New Development at 53.3% signals strong forward investment. System Support (34.4%) is within the typical 30-40% band. Admin overhead at 13.0% warrants review.</a:t>
            </a:r>
            <a:endParaRPr lang="en-US" sz="700" dirty="0"/>
          </a:p>
        </p:txBody>
      </p:sp>
      <p:graphicFrame>
        <p:nvGraphicFramePr>
          <p:cNvPr id="35" name="Chart 1" descr=""/>
          <p:cNvGraphicFramePr/>
          <p:nvPr/>
        </p:nvGraphicFramePr>
        <p:xfrm>
          <a:off x="3383280" y="1645920"/>
          <a:ext cx="54864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6" name="Shape 32"/>
          <p:cNvSpPr/>
          <p:nvPr/>
        </p:nvSpPr>
        <p:spPr>
          <a:xfrm>
            <a:off x="3383280" y="3840480"/>
            <a:ext cx="5486400" cy="731520"/>
          </a:xfrm>
          <a:prstGeom prst="rect">
            <a:avLst/>
          </a:prstGeom>
          <a:solidFill>
            <a:srgbClr val="F0F2F5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3383280" y="3840480"/>
            <a:ext cx="36576" cy="731520"/>
          </a:xfrm>
          <a:prstGeom prst="rect">
            <a:avLst/>
          </a:prstGeom>
          <a:solidFill>
            <a:srgbClr val="005B96"/>
          </a:solidFill>
          <a:ln/>
        </p:spPr>
      </p:sp>
      <p:sp>
        <p:nvSpPr>
          <p:cNvPr id="38" name="Text 34"/>
          <p:cNvSpPr/>
          <p:nvPr/>
        </p:nvSpPr>
        <p:spPr>
          <a:xfrm>
            <a:off x="3493008" y="3840480"/>
            <a:ext cx="53035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002B49"/>
                </a:solidFill>
              </a:rPr>
              <a:t>TREND ANALYSIS</a:t>
            </a:r>
            <a:endParaRPr lang="en-US" sz="700" dirty="0"/>
          </a:p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Total FTE stable in 226-242 range through 2024. Offshore climbed to 124.3 in Dec (+6.4 MoM), the highest of the year. The 2.1:1 consultant-to-employee ratio warrants monitoring for knowledge retention risk.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2B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9144000" cy="27432"/>
          </a:xfrm>
          <a:prstGeom prst="rect">
            <a:avLst/>
          </a:prstGeom>
          <a:solidFill>
            <a:srgbClr val="EE312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0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PMR DASHBOARD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0" y="6400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ALERTS &amp; TOP PERFORMERS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5943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ALERTS — High Offshore Concentration (&gt;55%)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4114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40080"/>
                <a:gridCol w="731520"/>
                <a:gridCol w="731520"/>
              </a:tblGrid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EE3124"/>
                          </a:solidFill>
                        </a:rPr>
                        <a:t>Program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A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EE3124"/>
                          </a:solidFill>
                        </a:rPr>
                        <a:t>Onsite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A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EE3124"/>
                          </a:solidFill>
                        </a:rPr>
                        <a:t>Offshore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A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EE3124"/>
                          </a:solidFill>
                        </a:rPr>
                        <a:t>Off 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AE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Meridian API Gateway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0.4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6.4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70.3%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Atlas Data Platform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1.7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7.0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67.3%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Compass Loyalty Program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2.0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6.2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65.3%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Relay ETL Pipeline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1.0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7.9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64.2%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Echo Data Lake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0.9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7.9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59.4%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Orbit Feedback Engine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2.2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8.9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57.1%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Prism Customer Portal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2.9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8.2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56.2%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754880" y="5943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PERFORMERS — Balanced Distribution (Onsite &gt;30%)</a:t>
            </a:r>
            <a:endParaRPr lang="en-US" sz="9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868680"/>
          <a:ext cx="4114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40080"/>
                <a:gridCol w="731520"/>
                <a:gridCol w="731520"/>
              </a:tblGrid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2E7D32"/>
                          </a:solidFill>
                        </a:rPr>
                        <a:t>Program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2E7D32"/>
                          </a:solidFill>
                        </a:rPr>
                        <a:t>Onsite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2E7D32"/>
                          </a:solidFill>
                        </a:rPr>
                        <a:t>Offshore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2E7D32"/>
                          </a:solidFill>
                        </a:rPr>
                        <a:t>On 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Beacon Self-Service Hub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4.0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2.7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47.6%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Nexus Identity Management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3.8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2.3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47.5%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Fortress Security Hardening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5.7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4.6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38.5%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Pulse Notification System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4.5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7.2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34.1%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Keystone Config Management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4.6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8.0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31.7%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Zenith Reporting Engine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2.6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3.2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30.6%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Catalyst Process Automation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2.9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4.8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30.5%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274320" y="2514600"/>
            <a:ext cx="4114800" cy="640080"/>
          </a:xfrm>
          <a:prstGeom prst="rect">
            <a:avLst/>
          </a:prstGeom>
          <a:solidFill>
            <a:srgbClr val="F0F2F5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74320" y="2514600"/>
            <a:ext cx="36576" cy="640080"/>
          </a:xfrm>
          <a:prstGeom prst="rect">
            <a:avLst/>
          </a:prstGeom>
          <a:solidFill>
            <a:srgbClr val="005B96"/>
          </a:solidFill>
          <a:ln/>
        </p:spPr>
      </p:sp>
      <p:sp>
        <p:nvSpPr>
          <p:cNvPr id="12" name="Text 8"/>
          <p:cNvSpPr/>
          <p:nvPr/>
        </p:nvSpPr>
        <p:spPr>
          <a:xfrm>
            <a:off x="384048" y="2514600"/>
            <a:ext cx="39319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002B49"/>
                </a:solidFill>
              </a:rPr>
              <a:t>ALERT ANALYSIS</a:t>
            </a:r>
            <a:endParaRPr lang="en-US" sz="700" dirty="0"/>
          </a:p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Meridian API Gateway (70.3%) and Atlas Data Platform (67.3%) carry significant offshore concentration risk. High offshore ratios &gt;65% impact incident response times. Consider rebalancing with nearshore resources.</a:t>
            </a:r>
            <a:endParaRPr lang="en-US" sz="700" dirty="0"/>
          </a:p>
        </p:txBody>
      </p:sp>
      <p:sp>
        <p:nvSpPr>
          <p:cNvPr id="13" name="Shape 9"/>
          <p:cNvSpPr/>
          <p:nvPr/>
        </p:nvSpPr>
        <p:spPr>
          <a:xfrm>
            <a:off x="4754880" y="2514600"/>
            <a:ext cx="4114800" cy="640080"/>
          </a:xfrm>
          <a:prstGeom prst="rect">
            <a:avLst/>
          </a:prstGeom>
          <a:solidFill>
            <a:srgbClr val="F0F2F5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754880" y="2514600"/>
            <a:ext cx="36576" cy="640080"/>
          </a:xfrm>
          <a:prstGeom prst="rect">
            <a:avLst/>
          </a:prstGeom>
          <a:solidFill>
            <a:srgbClr val="005B96"/>
          </a:solidFill>
          <a:ln/>
        </p:spPr>
      </p:sp>
      <p:sp>
        <p:nvSpPr>
          <p:cNvPr id="15" name="Text 11"/>
          <p:cNvSpPr/>
          <p:nvPr/>
        </p:nvSpPr>
        <p:spPr>
          <a:xfrm>
            <a:off x="4864608" y="2514600"/>
            <a:ext cx="39319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002B49"/>
                </a:solidFill>
              </a:rPr>
              <a:t>PERFORMER ANALYSIS</a:t>
            </a:r>
            <a:endParaRPr lang="en-US" sz="700" dirty="0"/>
          </a:p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Beacon Self-Service Hub (47.6%) and Nexus Identity Management (47.5%) lead with strongest onsite presence, enabling better stakeholder alignment and delivery success.</a:t>
            </a:r>
            <a:endParaRPr lang="en-US" sz="7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274320" y="3291840"/>
          <a:ext cx="429768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Chart 1" descr=""/>
          <p:cNvGraphicFramePr/>
          <p:nvPr/>
        </p:nvGraphicFramePr>
        <p:xfrm>
          <a:off x="4754880" y="3291840"/>
          <a:ext cx="411480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2B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9144000" cy="27432"/>
          </a:xfrm>
          <a:prstGeom prst="rect">
            <a:avLst/>
          </a:prstGeom>
          <a:solidFill>
            <a:srgbClr val="EE312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0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PMR DASHBOARD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0" y="6400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INDICATORS — EMPLOYEE &amp; CONSULTANT ANALYSIS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13258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60350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93268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ONSITE FTE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1737360" y="594360"/>
            <a:ext cx="13258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37360" y="60350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61.3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37360" y="93268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NEARSHORE FTE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3200400" y="594360"/>
            <a:ext cx="13258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60350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E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124.3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00400" y="93268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OFFSHORE FTE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4663440" y="594360"/>
            <a:ext cx="13258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60350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77.8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63440" y="93268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6126480" y="594360"/>
            <a:ext cx="13258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26480" y="60350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7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162.3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126480" y="93268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CONSULTANT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7589520" y="594360"/>
            <a:ext cx="13258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589520" y="60350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240.1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589520" y="93268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6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274320" y="1325880"/>
          <a:ext cx="274320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274320" y="3337560"/>
            <a:ext cx="2743200" cy="548640"/>
          </a:xfrm>
          <a:prstGeom prst="rect">
            <a:avLst/>
          </a:prstGeom>
          <a:solidFill>
            <a:srgbClr val="F0F2F5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74320" y="3337560"/>
            <a:ext cx="36576" cy="548640"/>
          </a:xfrm>
          <a:prstGeom prst="rect">
            <a:avLst/>
          </a:prstGeom>
          <a:solidFill>
            <a:srgbClr val="005B96"/>
          </a:solidFill>
          <a:ln/>
        </p:spPr>
      </p:sp>
      <p:sp>
        <p:nvSpPr>
          <p:cNvPr id="27" name="Text 24"/>
          <p:cNvSpPr/>
          <p:nvPr/>
        </p:nvSpPr>
        <p:spPr>
          <a:xfrm>
            <a:off x="384048" y="3337560"/>
            <a:ext cx="25603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002B49"/>
                </a:solidFill>
              </a:rPr>
              <a:t>LOCATION ANALYSIS</a:t>
            </a:r>
            <a:endParaRPr lang="en-US" sz="700" dirty="0"/>
          </a:p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Offshore dominates at 51.8%. The 2.1:1 consultant-to-employee ratio is consistent with an outsourced delivery model.</a:t>
            </a:r>
            <a:endParaRPr lang="en-US" sz="700" dirty="0"/>
          </a:p>
        </p:txBody>
      </p:sp>
      <p:graphicFrame>
        <p:nvGraphicFramePr>
          <p:cNvPr id="28" name="Chart 1" descr=""/>
          <p:cNvGraphicFramePr/>
          <p:nvPr/>
        </p:nvGraphicFramePr>
        <p:xfrm>
          <a:off x="3200400" y="1325880"/>
          <a:ext cx="292608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9" name="Shape 25"/>
          <p:cNvSpPr/>
          <p:nvPr/>
        </p:nvSpPr>
        <p:spPr>
          <a:xfrm>
            <a:off x="3200400" y="3337560"/>
            <a:ext cx="2926080" cy="548640"/>
          </a:xfrm>
          <a:prstGeom prst="rect">
            <a:avLst/>
          </a:prstGeom>
          <a:solidFill>
            <a:srgbClr val="F0F2F5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3200400" y="3337560"/>
            <a:ext cx="36576" cy="548640"/>
          </a:xfrm>
          <a:prstGeom prst="rect">
            <a:avLst/>
          </a:prstGeom>
          <a:solidFill>
            <a:srgbClr val="005B96"/>
          </a:solidFill>
          <a:ln/>
        </p:spPr>
      </p:sp>
      <p:sp>
        <p:nvSpPr>
          <p:cNvPr id="31" name="Text 27"/>
          <p:cNvSpPr/>
          <p:nvPr/>
        </p:nvSpPr>
        <p:spPr>
          <a:xfrm>
            <a:off x="3310128" y="3337560"/>
            <a:ext cx="27432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002B49"/>
                </a:solidFill>
              </a:rPr>
              <a:t>DEPARTMENT ANALYSIS</a:t>
            </a:r>
            <a:endParaRPr lang="en-US" sz="700" dirty="0"/>
          </a:p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Data Services (34.7 FTE) is the largest department. QA at 27.3 FTE = 11.4% allocation to testing.</a:t>
            </a:r>
            <a:endParaRPr lang="en-US" sz="700" dirty="0"/>
          </a:p>
        </p:txBody>
      </p:sp>
      <p:graphicFrame>
        <p:nvGraphicFramePr>
          <p:cNvPr id="32" name="Chart 2" descr=""/>
          <p:cNvGraphicFramePr/>
          <p:nvPr/>
        </p:nvGraphicFramePr>
        <p:xfrm>
          <a:off x="6309360" y="1325880"/>
          <a:ext cx="256032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3" name="Shape 28"/>
          <p:cNvSpPr/>
          <p:nvPr/>
        </p:nvSpPr>
        <p:spPr>
          <a:xfrm>
            <a:off x="6309360" y="3337560"/>
            <a:ext cx="2560320" cy="548640"/>
          </a:xfrm>
          <a:prstGeom prst="rect">
            <a:avLst/>
          </a:prstGeom>
          <a:solidFill>
            <a:srgbClr val="F0F2F5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6309360" y="3337560"/>
            <a:ext cx="36576" cy="548640"/>
          </a:xfrm>
          <a:prstGeom prst="rect">
            <a:avLst/>
          </a:prstGeom>
          <a:solidFill>
            <a:srgbClr val="005B96"/>
          </a:solidFill>
          <a:ln/>
        </p:spPr>
      </p:sp>
      <p:sp>
        <p:nvSpPr>
          <p:cNvPr id="35" name="Text 30"/>
          <p:cNvSpPr/>
          <p:nvPr/>
        </p:nvSpPr>
        <p:spPr>
          <a:xfrm>
            <a:off x="6419088" y="3337560"/>
            <a:ext cx="23774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002B49"/>
                </a:solidFill>
              </a:rPr>
              <a:t>EFFORT ANALYSIS</a:t>
            </a:r>
            <a:endParaRPr lang="en-US" sz="700" dirty="0"/>
          </a:p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53/34/12 split (Dev/Support/Admin) is healthy. Platform Migration (65 FTE) and Greenfield Build (62.6 FTE) show balanced investment.</a:t>
            </a:r>
            <a:endParaRPr lang="en-US" sz="700" dirty="0"/>
          </a:p>
        </p:txBody>
      </p:sp>
      <p:sp>
        <p:nvSpPr>
          <p:cNvPr id="36" name="Shape 31"/>
          <p:cNvSpPr/>
          <p:nvPr/>
        </p:nvSpPr>
        <p:spPr>
          <a:xfrm>
            <a:off x="274320" y="3977640"/>
            <a:ext cx="859536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274320" y="3977640"/>
            <a:ext cx="36576" cy="502920"/>
          </a:xfrm>
          <a:prstGeom prst="rect">
            <a:avLst/>
          </a:prstGeom>
          <a:solidFill>
            <a:srgbClr val="005B96"/>
          </a:solidFill>
          <a:ln/>
        </p:spPr>
      </p:sp>
      <p:sp>
        <p:nvSpPr>
          <p:cNvPr id="38" name="Text 33"/>
          <p:cNvSpPr/>
          <p:nvPr/>
        </p:nvSpPr>
        <p:spPr>
          <a:xfrm>
            <a:off x="384048" y="3977640"/>
            <a:ext cx="84124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002B49"/>
                </a:solidFill>
              </a:rPr>
              <a:t>KEY INSIGHT</a:t>
            </a:r>
            <a:endParaRPr lang="en-US" sz="700" dirty="0"/>
          </a:p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53.1% allocation to New Development signals a growth-phase portfolio. Six departments exceed 50% offshore, but none breach the 60% critical threshold. QA has the most balanced location distribution (28/34/38%) — a model worth replicating.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2B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9144000" cy="27432"/>
          </a:xfrm>
          <a:prstGeom prst="rect">
            <a:avLst/>
          </a:prstGeom>
          <a:solidFill>
            <a:srgbClr val="EE312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0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PMR DASHBOARD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0" y="6400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TRENDS — DECEMBER 2024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594360"/>
          <a:ext cx="41148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754880" y="594360"/>
          <a:ext cx="4114800" cy="1143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4754880" y="17830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&amp; DECLINE — YoY Change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993392"/>
          <a:ext cx="4114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"/>
                <a:gridCol w="640080"/>
                <a:gridCol w="1005840"/>
              </a:tblGrid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Program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FTE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MoM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YoY 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Summit BI Dashboard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15.1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E7D32"/>
                          </a:solidFill>
                        </a:rPr>
                        <a:t>+5.4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2E7D32"/>
                          </a:solidFill>
                        </a:rPr>
                        <a:t>+26.9%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Zenith Reporting Engine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8.5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E7D32"/>
                          </a:solidFill>
                        </a:rPr>
                        <a:t>+0.1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2E7D32"/>
                          </a:solidFill>
                        </a:rPr>
                        <a:t>+23.2%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Beacon Self-Service Hub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8.4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E7D32"/>
                          </a:solidFill>
                        </a:rPr>
                        <a:t>-0.5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2E7D32"/>
                          </a:solidFill>
                        </a:rPr>
                        <a:t>+20.0%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Horizon Disaster Recovery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14.3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E7D32"/>
                          </a:solidFill>
                        </a:rPr>
                        <a:t>+2.5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2E7D32"/>
                          </a:solidFill>
                        </a:rPr>
                        <a:t>+17.2%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Vertex ML Platform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10.3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EE3124"/>
                          </a:solidFill>
                        </a:rPr>
                        <a:t>-1.0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EE3124"/>
                          </a:solidFill>
                        </a:rPr>
                        <a:t>-23.1%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Meridian API Gateway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9.1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EE3124"/>
                          </a:solidFill>
                        </a:rPr>
                        <a:t>-2.4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EE3124"/>
                          </a:solidFill>
                        </a:rPr>
                        <a:t>-18.0%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Fortress Security Hardening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14.8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EE3124"/>
                          </a:solidFill>
                        </a:rPr>
                        <a:t>-0.1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EE3124"/>
                          </a:solidFill>
                        </a:rPr>
                        <a:t>-15.9%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Echo Data Lake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13.3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EE3124"/>
                          </a:solidFill>
                        </a:rPr>
                        <a:t>-0.8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EE3124"/>
                          </a:solidFill>
                        </a:rPr>
                        <a:t>-14.7%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274320" y="3200400"/>
            <a:ext cx="4114800" cy="640080"/>
          </a:xfrm>
          <a:prstGeom prst="rect">
            <a:avLst/>
          </a:prstGeom>
          <a:solidFill>
            <a:srgbClr val="F0F2F5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274320" y="3200400"/>
            <a:ext cx="36576" cy="640080"/>
          </a:xfrm>
          <a:prstGeom prst="rect">
            <a:avLst/>
          </a:prstGeom>
          <a:solidFill>
            <a:srgbClr val="005B96"/>
          </a:solidFill>
          <a:ln/>
        </p:spPr>
      </p:sp>
      <p:sp>
        <p:nvSpPr>
          <p:cNvPr id="12" name="Text 7"/>
          <p:cNvSpPr/>
          <p:nvPr/>
        </p:nvSpPr>
        <p:spPr>
          <a:xfrm>
            <a:off x="384048" y="3200400"/>
            <a:ext cx="39319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002B49"/>
                </a:solidFill>
              </a:rPr>
              <a:t>PROGRAM ANALYSIS</a:t>
            </a:r>
            <a:endParaRPr lang="en-US" sz="700" dirty="0"/>
          </a:p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Top 3 programs (Titan, Orbit, Summit) = 47.9 FTE or 20% of total. FTE is well-distributed — no single program exceeds 7.2% of total. Portfolio allocation is balanced across all 4 portfolios (~60 FTE each).</a:t>
            </a:r>
            <a:endParaRPr lang="en-US" sz="700" dirty="0"/>
          </a:p>
        </p:txBody>
      </p:sp>
      <p:sp>
        <p:nvSpPr>
          <p:cNvPr id="13" name="Shape 8"/>
          <p:cNvSpPr/>
          <p:nvPr/>
        </p:nvSpPr>
        <p:spPr>
          <a:xfrm>
            <a:off x="4754880" y="3703320"/>
            <a:ext cx="4114800" cy="640080"/>
          </a:xfrm>
          <a:prstGeom prst="rect">
            <a:avLst/>
          </a:prstGeom>
          <a:solidFill>
            <a:srgbClr val="F0F2F5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4754880" y="3703320"/>
            <a:ext cx="36576" cy="640080"/>
          </a:xfrm>
          <a:prstGeom prst="rect">
            <a:avLst/>
          </a:prstGeom>
          <a:solidFill>
            <a:srgbClr val="005B96"/>
          </a:solidFill>
          <a:ln/>
        </p:spPr>
      </p:sp>
      <p:sp>
        <p:nvSpPr>
          <p:cNvPr id="15" name="Text 10"/>
          <p:cNvSpPr/>
          <p:nvPr/>
        </p:nvSpPr>
        <p:spPr>
          <a:xfrm>
            <a:off x="4864608" y="3703320"/>
            <a:ext cx="39319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002B49"/>
                </a:solidFill>
              </a:rPr>
              <a:t>MOMENTUM ANALYSIS</a:t>
            </a:r>
            <a:endParaRPr lang="en-US" sz="700" dirty="0"/>
          </a:p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Growth leaders: Summit BI (+26.9% YoY) and Zenith Reporting (+23.2%) both in Data &amp; Analytics. Declining: Vertex ML (-23.1%) and Meridian API (-18.0%) — verify if planned.</a:t>
            </a:r>
            <a:endParaRPr lang="en-US" sz="700" dirty="0"/>
          </a:p>
        </p:txBody>
      </p:sp>
      <p:sp>
        <p:nvSpPr>
          <p:cNvPr id="16" name="Shape 11"/>
          <p:cNvSpPr/>
          <p:nvPr/>
        </p:nvSpPr>
        <p:spPr>
          <a:xfrm>
            <a:off x="274320" y="3977640"/>
            <a:ext cx="4114800" cy="594360"/>
          </a:xfrm>
          <a:prstGeom prst="rect">
            <a:avLst/>
          </a:prstGeom>
          <a:solidFill>
            <a:srgbClr val="F0F2F5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74320" y="3977640"/>
            <a:ext cx="36576" cy="594360"/>
          </a:xfrm>
          <a:prstGeom prst="rect">
            <a:avLst/>
          </a:prstGeom>
          <a:solidFill>
            <a:srgbClr val="005B96"/>
          </a:solidFill>
          <a:ln/>
        </p:spPr>
      </p:sp>
      <p:sp>
        <p:nvSpPr>
          <p:cNvPr id="18" name="Text 13"/>
          <p:cNvSpPr/>
          <p:nvPr/>
        </p:nvSpPr>
        <p:spPr>
          <a:xfrm>
            <a:off x="384048" y="3977640"/>
            <a:ext cx="39319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002B49"/>
                </a:solidFill>
              </a:rPr>
              <a:t>PORTFOLIO INSIGHT</a:t>
            </a:r>
            <a:endParaRPr lang="en-US" sz="700" dirty="0"/>
          </a:p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All 4 portfolios hover around 58-61 FTE in Dec 2024 — unusually even distribution that reduces concentration risk and supports parallel strategic initiatives.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2B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9144000" cy="27432"/>
          </a:xfrm>
          <a:prstGeom prst="rect">
            <a:avLst/>
          </a:prstGeom>
          <a:solidFill>
            <a:srgbClr val="EE312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0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PMR DASHBOARD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0" y="6400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ANALYSIS — DECEMBER 2024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594360"/>
          <a:ext cx="45720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5029200" y="594360"/>
          <a:ext cx="384048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2788920"/>
            <a:ext cx="4114800" cy="548640"/>
          </a:xfrm>
          <a:prstGeom prst="rect">
            <a:avLst/>
          </a:prstGeom>
          <a:solidFill>
            <a:srgbClr val="F0F2F5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274320" y="2788920"/>
            <a:ext cx="36576" cy="548640"/>
          </a:xfrm>
          <a:prstGeom prst="rect">
            <a:avLst/>
          </a:prstGeom>
          <a:solidFill>
            <a:srgbClr val="005B96"/>
          </a:solidFill>
          <a:ln/>
        </p:spPr>
      </p:sp>
      <p:sp>
        <p:nvSpPr>
          <p:cNvPr id="10" name="Text 6"/>
          <p:cNvSpPr/>
          <p:nvPr/>
        </p:nvSpPr>
        <p:spPr>
          <a:xfrm>
            <a:off x="384048" y="2788920"/>
            <a:ext cx="3931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002B49"/>
                </a:solidFill>
              </a:rPr>
              <a:t>VENDOR CONCENTRATION</a:t>
            </a:r>
            <a:endParaRPr lang="en-US" sz="700" dirty="0"/>
          </a:p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InnoSphere (19.5 FTE) is the top vendor at 12% of consultant FTE. Top 3 vendors = 33% — moderate concentration risk. BrightPath is most offshore-heavy (67.7%).</a:t>
            </a:r>
            <a:endParaRPr lang="en-US" sz="700" dirty="0"/>
          </a:p>
        </p:txBody>
      </p:sp>
      <p:sp>
        <p:nvSpPr>
          <p:cNvPr id="11" name="Shape 7"/>
          <p:cNvSpPr/>
          <p:nvPr/>
        </p:nvSpPr>
        <p:spPr>
          <a:xfrm>
            <a:off x="4754880" y="2788920"/>
            <a:ext cx="4114800" cy="548640"/>
          </a:xfrm>
          <a:prstGeom prst="rect">
            <a:avLst/>
          </a:prstGeom>
          <a:solidFill>
            <a:srgbClr val="F0F2F5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754880" y="2788920"/>
            <a:ext cx="36576" cy="548640"/>
          </a:xfrm>
          <a:prstGeom prst="rect">
            <a:avLst/>
          </a:prstGeom>
          <a:solidFill>
            <a:srgbClr val="005B96"/>
          </a:solidFill>
          <a:ln/>
        </p:spPr>
      </p:sp>
      <p:sp>
        <p:nvSpPr>
          <p:cNvPr id="13" name="Text 9"/>
          <p:cNvSpPr/>
          <p:nvPr/>
        </p:nvSpPr>
        <p:spPr>
          <a:xfrm>
            <a:off x="4864608" y="2788920"/>
            <a:ext cx="3931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002B49"/>
                </a:solidFill>
              </a:rPr>
              <a:t>VENDOR RISK ASSESSMENT</a:t>
            </a:r>
            <a:endParaRPr lang="en-US" sz="700" dirty="0"/>
          </a:p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Apex Solutions has best onsite/offshore balance (43.7% onsite). DataBridge and LogicNest are heavily offshore-leaning (&gt;58% offshore). Recommend vendor-program alignment review.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274320" y="345643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× VENDOR MATRIX (Top 5 Programs)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657600"/>
          <a:ext cx="85953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566928"/>
                <a:gridCol w="566928"/>
                <a:gridCol w="566928"/>
                <a:gridCol w="566928"/>
                <a:gridCol w="566928"/>
                <a:gridCol w="566928"/>
                <a:gridCol w="566928"/>
                <a:gridCol w="566928"/>
                <a:gridCol w="566928"/>
                <a:gridCol w="566928"/>
                <a:gridCol w="566928"/>
                <a:gridCol w="530352"/>
              </a:tblGrid>
              <a:tr h="1280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002B49"/>
                          </a:solidFill>
                        </a:rPr>
                        <a:t>Program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2B49"/>
                          </a:solidFill>
                        </a:rPr>
                        <a:t>Inno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2B49"/>
                          </a:solidFill>
                        </a:rPr>
                        <a:t>Horizon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2B49"/>
                          </a:solidFill>
                        </a:rPr>
                        <a:t>Key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2B49"/>
                          </a:solidFill>
                        </a:rPr>
                        <a:t>Data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2B49"/>
                          </a:solidFill>
                        </a:rPr>
                        <a:t>Bright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2B49"/>
                          </a:solidFill>
                        </a:rPr>
                        <a:t>Grid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2B49"/>
                          </a:solidFill>
                        </a:rPr>
                        <a:t>Apex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2B49"/>
                          </a:solidFill>
                        </a:rPr>
                        <a:t>Core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2B49"/>
                          </a:solidFill>
                        </a:rPr>
                        <a:t>Logic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2B49"/>
                          </a:solidFill>
                        </a:rPr>
                        <a:t>Fusion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2B49"/>
                          </a:solidFill>
                        </a:rPr>
                        <a:t>Elev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002B49"/>
                          </a:solidFill>
                        </a:rPr>
                        <a:t>Total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Titan Network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2B49"/>
                          </a:solidFill>
                        </a:rPr>
                        <a:t>2.8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2B49"/>
                          </a:solidFill>
                        </a:rPr>
                        <a:t>2.1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2B49"/>
                          </a:solidFill>
                        </a:rPr>
                        <a:t>1.6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B7280"/>
                          </a:solidFill>
                        </a:rPr>
                        <a:t>1.5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B7280"/>
                          </a:solidFill>
                        </a:rPr>
                        <a:t>1.3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B7280"/>
                          </a:solidFill>
                        </a:rPr>
                        <a:t>1.2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B7280"/>
                          </a:solidFill>
                        </a:rPr>
                        <a:t>1.1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B7280"/>
                          </a:solidFill>
                        </a:rPr>
                        <a:t>0.9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B7280"/>
                          </a:solidFill>
                        </a:rPr>
                        <a:t>0.8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B7280"/>
                          </a:solidFill>
                        </a:rPr>
                        <a:t>0.4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B7280"/>
                          </a:solidFill>
                        </a:rPr>
                        <a:t>0.2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002B49"/>
                          </a:solidFill>
                        </a:rPr>
                        <a:t>13.9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Orbit Feedback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B7280"/>
                          </a:solidFill>
                        </a:rPr>
                        <a:t>1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B7280"/>
                          </a:solidFill>
                        </a:rPr>
                        <a:t>0.6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B7280"/>
                          </a:solidFill>
                        </a:rPr>
                        <a:t>0.4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B7280"/>
                          </a:solidFill>
                        </a:rPr>
                        <a:t>1.4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B7280"/>
                          </a:solidFill>
                        </a:rPr>
                        <a:t>0.5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B7280"/>
                          </a:solidFill>
                        </a:rPr>
                        <a:t>0.5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2B49"/>
                          </a:solidFill>
                        </a:rPr>
                        <a:t>1.6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B7280"/>
                          </a:solidFill>
                        </a:rPr>
                        <a:t>1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B7280"/>
                          </a:solidFill>
                        </a:rPr>
                        <a:t>0.9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B7280"/>
                          </a:solidFill>
                        </a:rPr>
                        <a:t>1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B7280"/>
                          </a:solidFill>
                        </a:rPr>
                        <a:t>0.6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002B49"/>
                          </a:solidFill>
                        </a:rPr>
                        <a:t>9.5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Summit BI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B7280"/>
                          </a:solidFill>
                        </a:rPr>
                        <a:t>1.5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B7280"/>
                          </a:solidFill>
                        </a:rPr>
                        <a:t>0.7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B7280"/>
                          </a:solidFill>
                        </a:rPr>
                        <a:t>1.2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B7280"/>
                          </a:solidFill>
                        </a:rPr>
                        <a:t>1.3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2B49"/>
                          </a:solidFill>
                        </a:rPr>
                        <a:t>2.3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2B49"/>
                          </a:solidFill>
                        </a:rPr>
                        <a:t>1.7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B7280"/>
                          </a:solidFill>
                        </a:rPr>
                        <a:t>0.5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B7280"/>
                          </a:solidFill>
                        </a:rPr>
                        <a:t>0.9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B7280"/>
                          </a:solidFill>
                        </a:rPr>
                        <a:t>0.6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B7280"/>
                          </a:solidFill>
                        </a:rPr>
                        <a:t>0.1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B7280"/>
                          </a:solidFill>
                        </a:rPr>
                        <a:t>0.2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002B49"/>
                          </a:solidFill>
                        </a:rPr>
                        <a:t>11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Fortress Sec.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B7280"/>
                          </a:solidFill>
                        </a:rPr>
                        <a:t>0.6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B7280"/>
                          </a:solidFill>
                        </a:rPr>
                        <a:t>1.1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B7280"/>
                          </a:solidFill>
                        </a:rPr>
                        <a:t>1.5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B7280"/>
                          </a:solidFill>
                        </a:rPr>
                        <a:t>0.3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B7280"/>
                          </a:solidFill>
                        </a:rPr>
                        <a:t>1.3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B7280"/>
                          </a:solidFill>
                        </a:rPr>
                        <a:t>0.8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B7280"/>
                          </a:solidFill>
                        </a:rPr>
                        <a:t>0.8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B7280"/>
                          </a:solidFill>
                        </a:rPr>
                        <a:t>0.4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B7280"/>
                          </a:solidFill>
                        </a:rPr>
                        <a:t>1.4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2B49"/>
                          </a:solidFill>
                        </a:rPr>
                        <a:t>2.3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E5E7EB"/>
                          </a:solidFill>
                        </a:rPr>
                        <a:t>-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002B49"/>
                          </a:solidFill>
                        </a:rPr>
                        <a:t>10.5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Prism Portal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B7280"/>
                          </a:solidFill>
                        </a:rPr>
                        <a:t>1.4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B7280"/>
                          </a:solidFill>
                        </a:rPr>
                        <a:t>1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B7280"/>
                          </a:solidFill>
                        </a:rPr>
                        <a:t>0.7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B7280"/>
                          </a:solidFill>
                        </a:rPr>
                        <a:t>1.5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B7280"/>
                          </a:solidFill>
                        </a:rPr>
                        <a:t>1.3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2B49"/>
                          </a:solidFill>
                        </a:rPr>
                        <a:t>1.6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B7280"/>
                          </a:solidFill>
                        </a:rPr>
                        <a:t>0.8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B7280"/>
                          </a:solidFill>
                        </a:rPr>
                        <a:t>0.2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B7280"/>
                          </a:solidFill>
                        </a:rPr>
                        <a:t>0.9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B7280"/>
                          </a:solidFill>
                        </a:rPr>
                        <a:t>0.5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B7280"/>
                          </a:solidFill>
                        </a:rPr>
                        <a:t>0.3</a:t>
                      </a:r>
                      <a:endParaRPr lang="en-US" sz="5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002B49"/>
                          </a:solidFill>
                        </a:rPr>
                        <a:t>10.2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2B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9144000" cy="27432"/>
          </a:xfrm>
          <a:prstGeom prst="rect">
            <a:avLst/>
          </a:prstGeom>
          <a:solidFill>
            <a:srgbClr val="EE312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0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PMR DASHBOARD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0" y="6400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ANALYSIS — DECEMBER 2024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594360"/>
          <a:ext cx="45720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5029200" y="594360"/>
          <a:ext cx="38404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274320" y="269748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DETAIL TABLE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880360"/>
          <a:ext cx="8595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731520"/>
                <a:gridCol w="731520"/>
                <a:gridCol w="822960"/>
                <a:gridCol w="822960"/>
                <a:gridCol w="731520"/>
                <a:gridCol w="822960"/>
                <a:gridCol w="640080"/>
              </a:tblGrid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Department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Total FTE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Onsite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Nearshore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Offshore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Onsite %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Offshore %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Risk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Data Services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34.7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6.5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8.8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19.4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18.7%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E65100"/>
                          </a:solidFill>
                        </a:rPr>
                        <a:t>55.9%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E65100"/>
                          </a:solidFill>
                        </a:rPr>
                        <a:t>MED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Quality Assurance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27.3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7.7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9.2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10.4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28.2%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2E7D32"/>
                          </a:solidFill>
                        </a:rPr>
                        <a:t>38.1%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E7D32"/>
                          </a:solidFill>
                        </a:rPr>
                        <a:t>LOW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Asia Pacific Delivery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26.2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6.7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7.4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12.1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25.6%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2E7D32"/>
                          </a:solidFill>
                        </a:rPr>
                        <a:t>46.2%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E7D32"/>
                          </a:solidFill>
                        </a:rPr>
                        <a:t>LOW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Process Automation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23.6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6.7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4.3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12.6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28.4%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E65100"/>
                          </a:solidFill>
                        </a:rPr>
                        <a:t>53.4%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E65100"/>
                          </a:solidFill>
                        </a:rPr>
                        <a:t>MED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Application Engineering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22.3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4.6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4.5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13.2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20.6%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E65100"/>
                          </a:solidFill>
                        </a:rPr>
                        <a:t>59.2%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E65100"/>
                          </a:solidFill>
                        </a:rPr>
                        <a:t>MED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EMEA Delivery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21.5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4.6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4.1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12.8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21.4%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E65100"/>
                          </a:solidFill>
                        </a:rPr>
                        <a:t>59.5%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E65100"/>
                          </a:solidFill>
                        </a:rPr>
                        <a:t>MED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Enterprise IT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21.5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3.7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7.5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10.3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17.2%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2E7D32"/>
                          </a:solidFill>
                        </a:rPr>
                        <a:t>47.9%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E7D32"/>
                          </a:solidFill>
                        </a:rPr>
                        <a:t>LOW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Digital Strategy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21.4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4.4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4.1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12.9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20.6%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EE3124"/>
                          </a:solidFill>
                        </a:rPr>
                        <a:t>60.3%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EE3124"/>
                          </a:solidFill>
                        </a:rPr>
                        <a:t>HIGH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Cloud Operations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21.4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5.8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6.6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9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27.1%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2E7D32"/>
                          </a:solidFill>
                        </a:rPr>
                        <a:t>42.1%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E7D32"/>
                          </a:solidFill>
                        </a:rPr>
                        <a:t>LOW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Platform Core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20.2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3.8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4.8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11.6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18.8%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E65100"/>
                          </a:solidFill>
                        </a:rPr>
                        <a:t>57.4%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E65100"/>
                          </a:solidFill>
                        </a:rPr>
                        <a:t>MED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2B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9144000" cy="27432"/>
          </a:xfrm>
          <a:prstGeom prst="rect">
            <a:avLst/>
          </a:prstGeom>
          <a:solidFill>
            <a:srgbClr val="EE312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0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PMR DASHBOARD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0" y="6400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RECOMMENDATIONS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51560"/>
            <a:ext cx="45720" cy="960120"/>
          </a:xfrm>
          <a:prstGeom prst="rect">
            <a:avLst/>
          </a:prstGeom>
          <a:solidFill>
            <a:srgbClr val="002B49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1064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Workforce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32588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D3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240.1 FTE maintained in a tight 225-248 band over 36 months, demonstrating disciplined capacity planning. No unplanned growth or sharp declines.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51560"/>
            <a:ext cx="45720" cy="960120"/>
          </a:xfrm>
          <a:prstGeom prst="rect">
            <a:avLst/>
          </a:prstGeom>
          <a:solidFill>
            <a:srgbClr val="EE3124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1064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Offshore Dominance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92040" y="132588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D3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51.8% offshore ratio is the highest of 2024 (Dec spike to 124.3 FTE). 7 programs exceed 55% offshore — monitor for response time and coordination risks.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57200" y="214884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148840"/>
            <a:ext cx="45720" cy="9601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2037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in Analytics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242316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D3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Summit BI (+26.9% YoY) and Zenith Reporting (+23.2%) lead growth, both in Data &amp; Analytics. Investment thesis in analytics capability is validated.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754880" y="214884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148840"/>
            <a:ext cx="45720" cy="96012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2037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Portfolios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242316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D3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4 portfolios hover at ~60 FTE each — unusually even distribution that reduces concentration risk and supports parallel strategic execution.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" y="324612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246120"/>
            <a:ext cx="45720" cy="96012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3009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Diversification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352044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D3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active vendors with top 3 representing 33% of consultant FTE. Healthy diversification but watch single-program vendor dependencies.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754880" y="324612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3246120"/>
            <a:ext cx="45720" cy="9601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33009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Overhead Watch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352044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D3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13.0% admin is manageable, but Echo Data Lake (26.3%) and Phoenix Cloud Migration (24.6%) have excessive admin — investigate inefficiencies.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57200" y="4389120"/>
            <a:ext cx="8229600" cy="27432"/>
          </a:xfrm>
          <a:prstGeom prst="rect">
            <a:avLst/>
          </a:prstGeom>
          <a:solidFill>
            <a:srgbClr val="EE3124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4622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645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Rebalance programs &gt;65% offshore with nearshore resources  (2) Investigate admin overhead in Echo Data Lake and Phoenix  (3) Validate Vertex ML and Meridian API contractions are planned  (4) Establish 50% offshore cap for production-critical systems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91501FD4DDC148AD1E3FAF4074DBCB" ma:contentTypeVersion="10" ma:contentTypeDescription="Create a new document." ma:contentTypeScope="" ma:versionID="23307c1766f35e1813edc1f238b31f69">
  <xsd:schema xmlns:xsd="http://www.w3.org/2001/XMLSchema" xmlns:xs="http://www.w3.org/2001/XMLSchema" xmlns:p="http://schemas.microsoft.com/office/2006/metadata/properties" xmlns:ns2="1d2cd3fc-951f-4e4c-8f77-1331cffdf41d" xmlns:ns3="34e7643f-2a9f-4a64-a4ba-836cf78c5c76" targetNamespace="http://schemas.microsoft.com/office/2006/metadata/properties" ma:root="true" ma:fieldsID="36ef4bd80d09d7a3142c5bd9cda6c92f" ns2:_="" ns3:_="">
    <xsd:import namespace="1d2cd3fc-951f-4e4c-8f77-1331cffdf41d"/>
    <xsd:import namespace="34e7643f-2a9f-4a64-a4ba-836cf78c5c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2cd3fc-951f-4e4c-8f77-1331cffdf4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908c4cd-8667-446b-b651-bab9ad4462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e7643f-2a9f-4a64-a4ba-836cf78c5c7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157cb98-881d-40df-bd60-f2fdacd5fef4}" ma:internalName="TaxCatchAll" ma:showField="CatchAllData" ma:web="34e7643f-2a9f-4a64-a4ba-836cf78c5c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4e7643f-2a9f-4a64-a4ba-836cf78c5c76" xsi:nil="true"/>
    <lcf76f155ced4ddcb4097134ff3c332f xmlns="1d2cd3fc-951f-4e4c-8f77-1331cffdf41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32F6A6C-9515-42FE-BA4F-CD8A8876473A}"/>
</file>

<file path=customXml/itemProps2.xml><?xml version="1.0" encoding="utf-8"?>
<ds:datastoreItem xmlns:ds="http://schemas.openxmlformats.org/officeDocument/2006/customXml" ds:itemID="{C0476D1C-5E20-42CC-A03C-E3547AAE04EE}"/>
</file>

<file path=customXml/itemProps3.xml><?xml version="1.0" encoding="utf-8"?>
<ds:datastoreItem xmlns:ds="http://schemas.openxmlformats.org/officeDocument/2006/customXml" ds:itemID="{63B12109-C2FE-47BA-B2B0-09B8AF12B6DC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 Management Review - December 2024</dc:title>
  <dc:subject>PptxGenJS Presentation</dc:subject>
  <dc:creator>PMR Dashboard</dc:creator>
  <cp:lastModifiedBy>PMR Dashboard</cp:lastModifiedBy>
  <cp:revision>1</cp:revision>
  <dcterms:created xsi:type="dcterms:W3CDTF">2026-03-10T05:12:04Z</dcterms:created>
  <dcterms:modified xsi:type="dcterms:W3CDTF">2026-03-10T05:12:04Z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0x0101008B91501FD4DDC148AD1E3FAF4074DBCB</vt:lpwstr>
  </property>
</Properties>
</file>