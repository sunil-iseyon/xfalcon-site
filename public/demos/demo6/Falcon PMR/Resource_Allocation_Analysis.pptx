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FTE by Service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Service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7BF7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 Development</c:v>
                </c:pt>
                <c:pt idx="1">
                  <c:v>System Support</c:v>
                </c:pt>
                <c:pt idx="2">
                  <c:v>Admin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4687.4</c:v>
                </c:pt>
                <c:pt idx="1">
                  <c:v>2949.5</c:v>
                </c:pt>
                <c:pt idx="2">
                  <c:v>862.5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FTE by Location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bubble3D val="0"/>
            <c:spPr>
              <a:solidFill>
                <a:srgbClr val="FB92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Offshore</c:v>
                </c:pt>
                <c:pt idx="1">
                  <c:v>Nearshore</c:v>
                </c:pt>
                <c:pt idx="2">
                  <c:v>Onsite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4239.8</c:v>
                </c:pt>
                <c:pt idx="1">
                  <c:v>2242.3</c:v>
                </c:pt>
                <c:pt idx="2">
                  <c:v>2017.3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FTE by Portfolio (3-Year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FTE</c:v>
                </c:pt>
              </c:strCache>
            </c:strRef>
          </c:tx>
          <c:spPr>
            <a:solidFill>
              <a:srgbClr val="4A7B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Digital
Transformation</c:v>
                  </c:pt>
                  <c:pt idx="1">
                    <c:v>Customer
Experience</c:v>
                  </c:pt>
                  <c:pt idx="2">
                    <c:v>Enterprise
Infrastructure</c:v>
                  </c:pt>
                  <c:pt idx="3">
                    <c:v>Data &amp;
Analytics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2242.3</c:v>
                </c:pt>
                <c:pt idx="1">
                  <c:v>2122</c:v>
                </c:pt>
                <c:pt idx="2">
                  <c:v>2089.7</c:v>
                </c:pt>
                <c:pt idx="3">
                  <c:v>2045.4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FTE</c:v>
                </c:pt>
              </c:strCache>
            </c:strRef>
          </c:tx>
          <c:spPr>
            <a:solidFill>
              <a:srgbClr val="4A7BF7"/>
            </a:solidFill>
            <a:ln w="25400" cap="flat">
              <a:solidFill>
                <a:srgbClr val="4A7B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BF7"/>
              </a:solidFill>
              <a:ln w="9525" cap="flat">
                <a:solidFill>
                  <a:srgbClr val="4A7B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Jan'22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Jan'23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Jan'24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247.7</c:v>
                </c:pt>
                <c:pt idx="1">
                  <c:v>240.6</c:v>
                </c:pt>
                <c:pt idx="2">
                  <c:v>241.2</c:v>
                </c:pt>
                <c:pt idx="3">
                  <c:v>245.2</c:v>
                </c:pt>
                <c:pt idx="4">
                  <c:v>225.9</c:v>
                </c:pt>
                <c:pt idx="5">
                  <c:v>239.2</c:v>
                </c:pt>
                <c:pt idx="6">
                  <c:v>236.1</c:v>
                </c:pt>
                <c:pt idx="7">
                  <c:v>233.8</c:v>
                </c:pt>
                <c:pt idx="8">
                  <c:v>224.1</c:v>
                </c:pt>
                <c:pt idx="9">
                  <c:v>241.2</c:v>
                </c:pt>
                <c:pt idx="10">
                  <c:v>233.4</c:v>
                </c:pt>
                <c:pt idx="11">
                  <c:v>235.7</c:v>
                </c:pt>
                <c:pt idx="12">
                  <c:v>236.5</c:v>
                </c:pt>
                <c:pt idx="13">
                  <c:v>239.4</c:v>
                </c:pt>
                <c:pt idx="14">
                  <c:v>232.7</c:v>
                </c:pt>
                <c:pt idx="15">
                  <c:v>238.2</c:v>
                </c:pt>
                <c:pt idx="16">
                  <c:v>235.6</c:v>
                </c:pt>
                <c:pt idx="17">
                  <c:v>227.6</c:v>
                </c:pt>
                <c:pt idx="18">
                  <c:v>227.9</c:v>
                </c:pt>
                <c:pt idx="19">
                  <c:v>241.8</c:v>
                </c:pt>
                <c:pt idx="20">
                  <c:v>236.6</c:v>
                </c:pt>
                <c:pt idx="21">
                  <c:v>238.2</c:v>
                </c:pt>
                <c:pt idx="22">
                  <c:v>232.6</c:v>
                </c:pt>
                <c:pt idx="23">
                  <c:v>246.3</c:v>
                </c:pt>
                <c:pt idx="24">
                  <c:v>240.5</c:v>
                </c:pt>
                <c:pt idx="25">
                  <c:v>234.3</c:v>
                </c:pt>
                <c:pt idx="26">
                  <c:v>229.3</c:v>
                </c:pt>
                <c:pt idx="27">
                  <c:v>229.6</c:v>
                </c:pt>
                <c:pt idx="28">
                  <c:v>228.6</c:v>
                </c:pt>
                <c:pt idx="29">
                  <c:v>239.7</c:v>
                </c:pt>
                <c:pt idx="30">
                  <c:v>239.8</c:v>
                </c:pt>
                <c:pt idx="31">
                  <c:v>232.5</c:v>
                </c:pt>
                <c:pt idx="32">
                  <c:v>241.7</c:v>
                </c:pt>
                <c:pt idx="33">
                  <c:v>226.6</c:v>
                </c:pt>
                <c:pt idx="34">
                  <c:v>239.2</c:v>
                </c:pt>
                <c:pt idx="35">
                  <c:v>240.1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2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FTE</c:v>
                </c:pt>
              </c:strCache>
            </c:strRef>
          </c:tx>
          <c:spPr>
            <a:solidFill>
              <a:srgbClr val="4A7B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BrightPath</c:v>
                  </c:pt>
                  <c:pt idx="2">
                    <c:v>KeyNode</c:v>
                  </c:pt>
                  <c:pt idx="3">
                    <c:v>HorizonLabs</c:v>
                  </c:pt>
                  <c:pt idx="4">
                    <c:v>GridStone</c:v>
                  </c:pt>
                  <c:pt idx="5">
                    <c:v>Apex Sol.</c:v>
                  </c:pt>
                  <c:pt idx="6">
                    <c:v>DataBridge</c:v>
                  </c:pt>
                  <c:pt idx="7">
                    <c:v>CoreWave</c:v>
                  </c:pt>
                  <c:pt idx="8">
                    <c:v>FusionPt</c:v>
                  </c:pt>
                  <c:pt idx="9">
                    <c:v>LogicNest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722.8</c:v>
                </c:pt>
                <c:pt idx="1">
                  <c:v>705.4</c:v>
                </c:pt>
                <c:pt idx="2">
                  <c:v>630.2</c:v>
                </c:pt>
                <c:pt idx="3">
                  <c:v>579.4</c:v>
                </c:pt>
                <c:pt idx="4">
                  <c:v>559.6</c:v>
                </c:pt>
                <c:pt idx="5">
                  <c:v>526.6</c:v>
                </c:pt>
                <c:pt idx="6">
                  <c:v>508.2</c:v>
                </c:pt>
                <c:pt idx="7">
                  <c:v>450.4</c:v>
                </c:pt>
                <c:pt idx="8">
                  <c:v>420.3</c:v>
                </c:pt>
                <c:pt idx="9">
                  <c:v>377.1</c:v>
                </c:pt>
                <c:pt idx="10">
                  <c:v>293.1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FTE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Services</c:v>
                  </c:pt>
                  <c:pt idx="1">
                    <c:v>Quality Assurance</c:v>
                  </c:pt>
                  <c:pt idx="2">
                    <c:v>Platform Core</c:v>
                  </c:pt>
                  <c:pt idx="3">
                    <c:v>Asia Pacific Del.</c:v>
                  </c:pt>
                  <c:pt idx="4">
                    <c:v>Digital Strategy</c:v>
                  </c:pt>
                  <c:pt idx="5">
                    <c:v>Enterprise IT</c:v>
                  </c:pt>
                  <c:pt idx="6">
                    <c:v>Process Auto.</c:v>
                  </c:pt>
                  <c:pt idx="7">
                    <c:v>EMEA Delivery</c:v>
                  </c:pt>
                  <c:pt idx="8">
                    <c:v>Cloud Ops</c:v>
                  </c:pt>
                  <c:pt idx="9">
                    <c:v>App Engineering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1264.6</c:v>
                </c:pt>
                <c:pt idx="1">
                  <c:v>942.6</c:v>
                </c:pt>
                <c:pt idx="2">
                  <c:v>857.7</c:v>
                </c:pt>
                <c:pt idx="3">
                  <c:v>847.4</c:v>
                </c:pt>
                <c:pt idx="4">
                  <c:v>802.5</c:v>
                </c:pt>
                <c:pt idx="5">
                  <c:v>782.1</c:v>
                </c:pt>
                <c:pt idx="6">
                  <c:v>765.9</c:v>
                </c:pt>
                <c:pt idx="7">
                  <c:v>763.1</c:v>
                </c:pt>
                <c:pt idx="8">
                  <c:v>744.3</c:v>
                </c:pt>
                <c:pt idx="9">
                  <c:v>729.2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4A7B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 Development</c:v>
                  </c:pt>
                  <c:pt idx="1">
                    <c:v>System Support</c:v>
                  </c:pt>
                  <c:pt idx="2">
                    <c:v>Admin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1566.5</c:v>
                </c:pt>
                <c:pt idx="1">
                  <c:v>984.7</c:v>
                </c:pt>
                <c:pt idx="2">
                  <c:v>292.9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 Development</c:v>
                  </c:pt>
                  <c:pt idx="1">
                    <c:v>System Support</c:v>
                  </c:pt>
                  <c:pt idx="2">
                    <c:v>Admin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1572.4</c:v>
                </c:pt>
                <c:pt idx="1">
                  <c:v>970</c:v>
                </c:pt>
                <c:pt idx="2">
                  <c:v>291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 Development</c:v>
                  </c:pt>
                  <c:pt idx="1">
                    <c:v>System Support</c:v>
                  </c:pt>
                  <c:pt idx="2">
                    <c:v>Admin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1548.5</c:v>
                </c:pt>
                <c:pt idx="1">
                  <c:v>994.8</c:v>
                </c:pt>
                <c:pt idx="2">
                  <c:v>278.6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FTE distribution, vendor performance, and staffing optimization opportunities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Dec 2024  |  300 Resources  |  20 Programs  |  11 Vendors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overview of resource allocation across portfolios, vendors, and service types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187452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8,499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36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463040"/>
            <a:ext cx="18745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FTE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224–248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63040"/>
            <a:ext cx="18745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Resources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11 vendors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463040"/>
            <a:ext cx="1874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463040"/>
            <a:ext cx="187452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5800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Programs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every month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57600"/>
            <a:ext cx="64008" cy="1188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trajectory: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growth or decline in FTE over 3 years — allocation is static.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portfolio split: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portfolios get ~25% each — potential lack of strategic prioritization.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Over-allocation risk: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resources consistently exceed 1.0 FTE/month across multiple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Type &amp; Location Mix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FTE dedicated to New Development  |  50% of workforce is offshore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&amp; Program Distribution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100584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Programs by FTE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Avg/Mo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Titan Network Upgrade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567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Prism Customer Portal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Fortress Security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Echo Data Lake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Keystone Config Mgmt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13.9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Orbit Feedback Engine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13.7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Horizon Disaster Rec.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13.4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" y="4251960"/>
            <a:ext cx="64008" cy="6400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4297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are almost perfectly equal (~25% each). The top 3 programs consume 19.5% of all FTE — consider whether this reflects strategic intent or inertia.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FTE Trend (2022–2024)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4297680"/>
            <a:ext cx="64008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343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trajectory: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oscillates between 224–248/month with no structural growth or decline. All 20 programs remained active every month — no new launches or sunsets in 3 years.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Landscape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8595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Vendor Trend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Vendor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InnoSphere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-5.1%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BrightPath Tech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-4.5%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KeyNode Services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-2.8%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HorizonLabs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+0.6%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GridStone Partners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184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-4.2%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Breakdown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 leads at 14.9% of total FTE.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9 departments are tightly clustered between 8.6%–11.1%, indicating a distributed staffing model with no dominant consumer.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Over-Allocated Resources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consistently exceeding 1.0 FTE/month — spread across multiple programs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457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resources regularly exceed 1.0 FTE — indicating multi-program context switching and potential burnout risk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97280"/>
                <a:gridCol w="3931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FTE/Mo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Programs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Primary Program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oakley.oliver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1.81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Pulse Notification System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jaden.chase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1.69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Relay ETL Pipeline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harper.trent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1.61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Zenith Reporting Engine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zane.nash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923C"/>
                          </a:solidFill>
                        </a:rPr>
                        <a:t>1.60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Vertex ML Platform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cameron.keane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923C"/>
                          </a:solidFill>
                        </a:rPr>
                        <a:t>1.60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Sentinel Monitoring Suite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remy.young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923C"/>
                          </a:solidFill>
                        </a:rPr>
                        <a:t>1.54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Keystone Config Mgmt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sawyer.silva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B923C"/>
                          </a:solidFill>
                        </a:rPr>
                        <a:t>1.53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Compass Loyalty Program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marlow.hart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1.45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Catalyst Process Automation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oakley.oliver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over-allocated at 1.81 FTE/month across 8 programs.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jaden.chase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the most programs (9) — highest context-switching burden.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Vendor-Portfolio Allocation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distribution showing vendor concentration across portfolios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08760"/>
                <a:gridCol w="150876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Vendor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Digital Trans.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Cust. Exp.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Enterprise Inf.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Data &amp; Analytics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InnoSphere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173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BrightPath Tech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KeyNode Services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HorizonLabs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GridStone Partners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Apex Solutions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173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DataBridge Corp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CoreWave Systems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FusionPoint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LogicNest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Elevate 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4434840"/>
            <a:ext cx="64008" cy="5029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622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InnoSphere and HorizonLabs skew heavily toward Digital Transformation. KeyNode and BrightPath lean toward Data &amp; Analytics and Enterprise Infrastructure. Consider if vendor specialization aligns with portfolio needs.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Type Year-over-Year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 mix is essentially frozen — New Development dominates at ~55% with no shift over 3 years.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6400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the 25/25/25/25 Split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whether equal portfolio allocation reflects strategic priorities. Consider shifting FTE toward the highest-value initiatives.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74520"/>
            <a:ext cx="64008" cy="6400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Over-Allocated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305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resources consistently exceed 1.0 FTE. Consolidate assignments for oakley.oliver (1.81 FTE, 8 programs) and jaden.chase (9 programs) to reduce context switching.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651760"/>
            <a:ext cx="64008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Vendor Specialization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077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vendors show natural portfolio affinity (e.g., InnoSphere → Digital Transformation). Formalizing specialization could improve delivery quality.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429000"/>
            <a:ext cx="64008" cy="6400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429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Static Program Portfolio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85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programs ran continuously for 36 months with no additions or sunsets. Introduce a periodic program lifecycle review.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06240"/>
            <a:ext cx="64008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Offshore/Onsite Ratio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462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offshore is healthy, but validate whether the onsite 24% is optimized — could nearshore absorb some onsite roles for cost savings?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D270D1E-EAEA-4A10-AA87-93AAA63C5409}"/>
</file>

<file path=customXml/itemProps2.xml><?xml version="1.0" encoding="utf-8"?>
<ds:datastoreItem xmlns:ds="http://schemas.openxmlformats.org/officeDocument/2006/customXml" ds:itemID="{726E9443-FC14-4BFC-A866-88632C71361F}"/>
</file>

<file path=customXml/itemProps3.xml><?xml version="1.0" encoding="utf-8"?>
<ds:datastoreItem xmlns:ds="http://schemas.openxmlformats.org/officeDocument/2006/customXml" ds:itemID="{4CE5631A-ECF8-44CF-BE9E-68F30B829B5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Resource Allocation Analysis</dc:title>
  <dc:subject>PptxGenJS Presentation</dc:subject>
  <dc:creator>IDA Analytics</dc:creator>
  <cp:lastModifiedBy>IDA Analytics</cp:lastModifiedBy>
  <cp:revision>1</cp:revision>
  <dcterms:created xsi:type="dcterms:W3CDTF">2026-03-11T16:03:46Z</dcterms:created>
  <dcterms:modified xsi:type="dcterms:W3CDTF">2026-03-11T16:03:46Z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