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1A2E"/>
                </a:solidFill>
                <a:latin typeface="Arial"/>
              </a:rPr>
              <a:t>36-Month Workforce Trend (Jan 2022 — Dec 2024)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FTE</c:v>
                </c:pt>
              </c:strCache>
            </c:strRef>
          </c:tx>
          <c:spPr>
            <a:solidFill>
              <a:srgbClr val="002B49"/>
            </a:solidFill>
            <a:ln w="25400" cap="flat">
              <a:solidFill>
                <a:srgbClr val="002B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2B49"/>
              </a:solidFill>
              <a:ln w="9525" cap="flat">
                <a:solidFill>
                  <a:srgbClr val="002B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Jan'22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May</c:v>
                  </c:pt>
                  <c:pt idx="5">
                    <c:v/>
                  </c:pt>
                  <c:pt idx="6">
                    <c:v>Jul</c:v>
                  </c:pt>
                  <c:pt idx="7">
                    <c:v/>
                  </c:pt>
                  <c:pt idx="8">
                    <c:v/>
                  </c:pt>
                  <c:pt idx="9">
                    <c:v>Oct</c:v>
                  </c:pt>
                  <c:pt idx="10">
                    <c:v/>
                  </c:pt>
                  <c:pt idx="11">
                    <c:v>Dec</c:v>
                  </c:pt>
                  <c:pt idx="12">
                    <c:v>Jan'23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May</c:v>
                  </c:pt>
                  <c:pt idx="17">
                    <c:v/>
                  </c:pt>
                  <c:pt idx="18">
                    <c:v>Jul</c:v>
                  </c:pt>
                  <c:pt idx="19">
                    <c:v/>
                  </c:pt>
                  <c:pt idx="20">
                    <c:v/>
                  </c:pt>
                  <c:pt idx="21">
                    <c:v>Oct</c:v>
                  </c:pt>
                  <c:pt idx="22">
                    <c:v/>
                  </c:pt>
                  <c:pt idx="23">
                    <c:v>Dec</c:v>
                  </c:pt>
                  <c:pt idx="24">
                    <c:v>Jan'24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May</c:v>
                  </c:pt>
                  <c:pt idx="29">
                    <c:v/>
                  </c:pt>
                  <c:pt idx="30">
                    <c:v>Jul</c:v>
                  </c:pt>
                  <c:pt idx="31">
                    <c:v/>
                  </c:pt>
                  <c:pt idx="32">
                    <c:v/>
                  </c:pt>
                  <c:pt idx="33">
                    <c:v>Oct</c:v>
                  </c:pt>
                  <c:pt idx="34">
                    <c:v/>
                  </c:pt>
                  <c:pt idx="35">
                    <c:v>Dec'24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247.7</c:v>
                </c:pt>
                <c:pt idx="1">
                  <c:v>240.6</c:v>
                </c:pt>
                <c:pt idx="2">
                  <c:v>241.2</c:v>
                </c:pt>
                <c:pt idx="3">
                  <c:v>245.2</c:v>
                </c:pt>
                <c:pt idx="4">
                  <c:v>225.9</c:v>
                </c:pt>
                <c:pt idx="5">
                  <c:v>239.2</c:v>
                </c:pt>
                <c:pt idx="6">
                  <c:v>236.1</c:v>
                </c:pt>
                <c:pt idx="7">
                  <c:v>233.8</c:v>
                </c:pt>
                <c:pt idx="8">
                  <c:v>224.1</c:v>
                </c:pt>
                <c:pt idx="9">
                  <c:v>241.2</c:v>
                </c:pt>
                <c:pt idx="10">
                  <c:v>233.4</c:v>
                </c:pt>
                <c:pt idx="11">
                  <c:v>235.7</c:v>
                </c:pt>
                <c:pt idx="12">
                  <c:v>236.5</c:v>
                </c:pt>
                <c:pt idx="13">
                  <c:v>239.4</c:v>
                </c:pt>
                <c:pt idx="14">
                  <c:v>232.7</c:v>
                </c:pt>
                <c:pt idx="15">
                  <c:v>238.2</c:v>
                </c:pt>
                <c:pt idx="16">
                  <c:v>235.6</c:v>
                </c:pt>
                <c:pt idx="17">
                  <c:v>227.6</c:v>
                </c:pt>
                <c:pt idx="18">
                  <c:v>227.9</c:v>
                </c:pt>
                <c:pt idx="19">
                  <c:v>241.8</c:v>
                </c:pt>
                <c:pt idx="20">
                  <c:v>236.6</c:v>
                </c:pt>
                <c:pt idx="21">
                  <c:v>238.2</c:v>
                </c:pt>
                <c:pt idx="22">
                  <c:v>232.6</c:v>
                </c:pt>
                <c:pt idx="23">
                  <c:v>246.3</c:v>
                </c:pt>
                <c:pt idx="24">
                  <c:v>240.5</c:v>
                </c:pt>
                <c:pt idx="25">
                  <c:v>234.3</c:v>
                </c:pt>
                <c:pt idx="26">
                  <c:v>229.3</c:v>
                </c:pt>
                <c:pt idx="27">
                  <c:v>229.6</c:v>
                </c:pt>
                <c:pt idx="28">
                  <c:v>228.6</c:v>
                </c:pt>
                <c:pt idx="29">
                  <c:v>239.7</c:v>
                </c:pt>
                <c:pt idx="30">
                  <c:v>239.8</c:v>
                </c:pt>
                <c:pt idx="31">
                  <c:v>232.5</c:v>
                </c:pt>
                <c:pt idx="32">
                  <c:v>241.7</c:v>
                </c:pt>
                <c:pt idx="33">
                  <c:v>226.6</c:v>
                </c:pt>
                <c:pt idx="34">
                  <c:v>239.2</c:v>
                </c:pt>
                <c:pt idx="35">
                  <c:v>240.1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EE3124"/>
            </a:solidFill>
            <a:ln w="25400" cap="flat">
              <a:solidFill>
                <a:srgbClr val="EE31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3124"/>
              </a:solidFill>
              <a:ln w="9525" cap="flat">
                <a:solidFill>
                  <a:srgbClr val="EE31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Jan'22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May</c:v>
                  </c:pt>
                  <c:pt idx="5">
                    <c:v/>
                  </c:pt>
                  <c:pt idx="6">
                    <c:v>Jul</c:v>
                  </c:pt>
                  <c:pt idx="7">
                    <c:v/>
                  </c:pt>
                  <c:pt idx="8">
                    <c:v/>
                  </c:pt>
                  <c:pt idx="9">
                    <c:v>Oct</c:v>
                  </c:pt>
                  <c:pt idx="10">
                    <c:v/>
                  </c:pt>
                  <c:pt idx="11">
                    <c:v>Dec</c:v>
                  </c:pt>
                  <c:pt idx="12">
                    <c:v>Jan'23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May</c:v>
                  </c:pt>
                  <c:pt idx="17">
                    <c:v/>
                  </c:pt>
                  <c:pt idx="18">
                    <c:v>Jul</c:v>
                  </c:pt>
                  <c:pt idx="19">
                    <c:v/>
                  </c:pt>
                  <c:pt idx="20">
                    <c:v/>
                  </c:pt>
                  <c:pt idx="21">
                    <c:v>Oct</c:v>
                  </c:pt>
                  <c:pt idx="22">
                    <c:v/>
                  </c:pt>
                  <c:pt idx="23">
                    <c:v>Dec</c:v>
                  </c:pt>
                  <c:pt idx="24">
                    <c:v>Jan'24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May</c:v>
                  </c:pt>
                  <c:pt idx="29">
                    <c:v/>
                  </c:pt>
                  <c:pt idx="30">
                    <c:v>Jul</c:v>
                  </c:pt>
                  <c:pt idx="31">
                    <c:v/>
                  </c:pt>
                  <c:pt idx="32">
                    <c:v/>
                  </c:pt>
                  <c:pt idx="33">
                    <c:v>Oct</c:v>
                  </c:pt>
                  <c:pt idx="34">
                    <c:v/>
                  </c:pt>
                  <c:pt idx="35">
                    <c:v>Dec'24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127.5</c:v>
                </c:pt>
                <c:pt idx="1">
                  <c:v>118.5</c:v>
                </c:pt>
                <c:pt idx="2">
                  <c:v>120.3</c:v>
                </c:pt>
                <c:pt idx="3">
                  <c:v>121.8</c:v>
                </c:pt>
                <c:pt idx="4">
                  <c:v>111.4</c:v>
                </c:pt>
                <c:pt idx="5">
                  <c:v>118.3</c:v>
                </c:pt>
                <c:pt idx="6">
                  <c:v>120.3</c:v>
                </c:pt>
                <c:pt idx="7">
                  <c:v>118.5</c:v>
                </c:pt>
                <c:pt idx="8">
                  <c:v>108.1</c:v>
                </c:pt>
                <c:pt idx="9">
                  <c:v>121.3</c:v>
                </c:pt>
                <c:pt idx="10">
                  <c:v>118.8</c:v>
                </c:pt>
                <c:pt idx="11">
                  <c:v>117.7</c:v>
                </c:pt>
                <c:pt idx="12">
                  <c:v>116</c:v>
                </c:pt>
                <c:pt idx="13">
                  <c:v>121.2</c:v>
                </c:pt>
                <c:pt idx="14">
                  <c:v>117</c:v>
                </c:pt>
                <c:pt idx="15">
                  <c:v>116.3</c:v>
                </c:pt>
                <c:pt idx="16">
                  <c:v>119.1</c:v>
                </c:pt>
                <c:pt idx="17">
                  <c:v>108.6</c:v>
                </c:pt>
                <c:pt idx="18">
                  <c:v>109.4</c:v>
                </c:pt>
                <c:pt idx="19">
                  <c:v>121</c:v>
                </c:pt>
                <c:pt idx="20">
                  <c:v>119.3</c:v>
                </c:pt>
                <c:pt idx="21">
                  <c:v>119</c:v>
                </c:pt>
                <c:pt idx="22">
                  <c:v>113.5</c:v>
                </c:pt>
                <c:pt idx="23">
                  <c:v>123.4</c:v>
                </c:pt>
                <c:pt idx="24">
                  <c:v>120.6</c:v>
                </c:pt>
                <c:pt idx="25">
                  <c:v>117.1</c:v>
                </c:pt>
                <c:pt idx="26">
                  <c:v>113.6</c:v>
                </c:pt>
                <c:pt idx="27">
                  <c:v>112.2</c:v>
                </c:pt>
                <c:pt idx="28">
                  <c:v>112.9</c:v>
                </c:pt>
                <c:pt idx="29">
                  <c:v>121.3</c:v>
                </c:pt>
                <c:pt idx="30">
                  <c:v>121.2</c:v>
                </c:pt>
                <c:pt idx="31">
                  <c:v>116.7</c:v>
                </c:pt>
                <c:pt idx="32">
                  <c:v>118.7</c:v>
                </c:pt>
                <c:pt idx="33">
                  <c:v>117</c:v>
                </c:pt>
                <c:pt idx="34">
                  <c:v>117.9</c:v>
                </c:pt>
                <c:pt idx="35">
                  <c:v>124.3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Jan'22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May</c:v>
                  </c:pt>
                  <c:pt idx="5">
                    <c:v/>
                  </c:pt>
                  <c:pt idx="6">
                    <c:v>Jul</c:v>
                  </c:pt>
                  <c:pt idx="7">
                    <c:v/>
                  </c:pt>
                  <c:pt idx="8">
                    <c:v/>
                  </c:pt>
                  <c:pt idx="9">
                    <c:v>Oct</c:v>
                  </c:pt>
                  <c:pt idx="10">
                    <c:v/>
                  </c:pt>
                  <c:pt idx="11">
                    <c:v>Dec</c:v>
                  </c:pt>
                  <c:pt idx="12">
                    <c:v>Jan'23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May</c:v>
                  </c:pt>
                  <c:pt idx="17">
                    <c:v/>
                  </c:pt>
                  <c:pt idx="18">
                    <c:v>Jul</c:v>
                  </c:pt>
                  <c:pt idx="19">
                    <c:v/>
                  </c:pt>
                  <c:pt idx="20">
                    <c:v/>
                  </c:pt>
                  <c:pt idx="21">
                    <c:v>Oct</c:v>
                  </c:pt>
                  <c:pt idx="22">
                    <c:v/>
                  </c:pt>
                  <c:pt idx="23">
                    <c:v>Dec</c:v>
                  </c:pt>
                  <c:pt idx="24">
                    <c:v>Jan'24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May</c:v>
                  </c:pt>
                  <c:pt idx="29">
                    <c:v/>
                  </c:pt>
                  <c:pt idx="30">
                    <c:v>Jul</c:v>
                  </c:pt>
                  <c:pt idx="31">
                    <c:v/>
                  </c:pt>
                  <c:pt idx="32">
                    <c:v/>
                  </c:pt>
                  <c:pt idx="33">
                    <c:v>Oct</c:v>
                  </c:pt>
                  <c:pt idx="34">
                    <c:v/>
                  </c:pt>
                  <c:pt idx="35">
                    <c:v>Dec'24</c:v>
                  </c:pt>
                </c:lvl>
              </c:multiLvlStrCache>
            </c:multiLvlStrRef>
          </c:cat>
          <c:val>
            <c:numRef>
              <c:f>Sheet1!$D$2:$D$37</c:f>
              <c:numCache>
                <c:formatCode>General</c:formatCode>
                <c:ptCount val="36"/>
                <c:pt idx="0">
                  <c:v>79.4</c:v>
                </c:pt>
                <c:pt idx="1">
                  <c:v>71.9</c:v>
                </c:pt>
                <c:pt idx="2">
                  <c:v>81.3</c:v>
                </c:pt>
                <c:pt idx="3">
                  <c:v>76.7</c:v>
                </c:pt>
                <c:pt idx="4">
                  <c:v>72.9</c:v>
                </c:pt>
                <c:pt idx="5">
                  <c:v>78.2</c:v>
                </c:pt>
                <c:pt idx="6">
                  <c:v>74.6</c:v>
                </c:pt>
                <c:pt idx="7">
                  <c:v>73.9</c:v>
                </c:pt>
                <c:pt idx="8">
                  <c:v>70.1</c:v>
                </c:pt>
                <c:pt idx="9">
                  <c:v>73.9</c:v>
                </c:pt>
                <c:pt idx="10">
                  <c:v>78</c:v>
                </c:pt>
                <c:pt idx="11">
                  <c:v>75.7</c:v>
                </c:pt>
                <c:pt idx="12">
                  <c:v>73.5</c:v>
                </c:pt>
                <c:pt idx="13">
                  <c:v>79.9</c:v>
                </c:pt>
                <c:pt idx="14">
                  <c:v>76</c:v>
                </c:pt>
                <c:pt idx="15">
                  <c:v>78.5</c:v>
                </c:pt>
                <c:pt idx="16">
                  <c:v>79.1</c:v>
                </c:pt>
                <c:pt idx="17">
                  <c:v>73.9</c:v>
                </c:pt>
                <c:pt idx="18">
                  <c:v>72.6</c:v>
                </c:pt>
                <c:pt idx="19">
                  <c:v>74.4</c:v>
                </c:pt>
                <c:pt idx="20">
                  <c:v>73.2</c:v>
                </c:pt>
                <c:pt idx="21">
                  <c:v>76.3</c:v>
                </c:pt>
                <c:pt idx="22">
                  <c:v>70.6</c:v>
                </c:pt>
                <c:pt idx="23">
                  <c:v>80.7</c:v>
                </c:pt>
                <c:pt idx="24">
                  <c:v>77.5</c:v>
                </c:pt>
                <c:pt idx="25">
                  <c:v>71</c:v>
                </c:pt>
                <c:pt idx="26">
                  <c:v>74.7</c:v>
                </c:pt>
                <c:pt idx="27">
                  <c:v>74.1</c:v>
                </c:pt>
                <c:pt idx="28">
                  <c:v>71.7</c:v>
                </c:pt>
                <c:pt idx="29">
                  <c:v>77.7</c:v>
                </c:pt>
                <c:pt idx="30">
                  <c:v>80</c:v>
                </c:pt>
                <c:pt idx="31">
                  <c:v>78.7</c:v>
                </c:pt>
                <c:pt idx="32">
                  <c:v>72.8</c:v>
                </c:pt>
                <c:pt idx="33">
                  <c:v>72.9</c:v>
                </c:pt>
                <c:pt idx="34">
                  <c:v>82.1</c:v>
                </c:pt>
                <c:pt idx="35">
                  <c:v>77.8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Portfolio FTE Trend — 2024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CX Platform</c:v>
                </c:pt>
              </c:strCache>
            </c:strRef>
          </c:tx>
          <c:spPr>
            <a:solidFill>
              <a:srgbClr val="005B96"/>
            </a:solidFill>
            <a:ln w="19050" cap="flat">
              <a:solidFill>
                <a:srgbClr val="005B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5B96"/>
              </a:solidFill>
              <a:ln w="9525" cap="flat">
                <a:solidFill>
                  <a:srgbClr val="005B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60.1</c:v>
                </c:pt>
                <c:pt idx="1">
                  <c:v>53.7</c:v>
                </c:pt>
                <c:pt idx="2">
                  <c:v>53.9</c:v>
                </c:pt>
                <c:pt idx="3">
                  <c:v>56.2</c:v>
                </c:pt>
                <c:pt idx="4">
                  <c:v>56.6</c:v>
                </c:pt>
                <c:pt idx="5">
                  <c:v>62.7</c:v>
                </c:pt>
                <c:pt idx="6">
                  <c:v>64.1</c:v>
                </c:pt>
                <c:pt idx="7">
                  <c:v>59</c:v>
                </c:pt>
                <c:pt idx="8">
                  <c:v>58.8</c:v>
                </c:pt>
                <c:pt idx="9">
                  <c:v>56.8</c:v>
                </c:pt>
                <c:pt idx="10">
                  <c:v>59.8</c:v>
                </c:pt>
                <c:pt idx="11">
                  <c:v>61.3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&amp; Analytics</c:v>
                </c:pt>
              </c:strCache>
            </c:strRef>
          </c:tx>
          <c:spPr>
            <a:solidFill>
              <a:srgbClr val="EE3124"/>
            </a:solidFill>
            <a:ln w="19050" cap="flat">
              <a:solidFill>
                <a:srgbClr val="EE31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E3124"/>
              </a:solidFill>
              <a:ln w="9525" cap="flat">
                <a:solidFill>
                  <a:srgbClr val="EE31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63.7</c:v>
                </c:pt>
                <c:pt idx="1">
                  <c:v>57.5</c:v>
                </c:pt>
                <c:pt idx="2">
                  <c:v>56.4</c:v>
                </c:pt>
                <c:pt idx="3">
                  <c:v>55.6</c:v>
                </c:pt>
                <c:pt idx="4">
                  <c:v>54.7</c:v>
                </c:pt>
                <c:pt idx="5">
                  <c:v>61.6</c:v>
                </c:pt>
                <c:pt idx="6">
                  <c:v>57.1</c:v>
                </c:pt>
                <c:pt idx="7">
                  <c:v>52.6</c:v>
                </c:pt>
                <c:pt idx="8">
                  <c:v>61.3</c:v>
                </c:pt>
                <c:pt idx="9">
                  <c:v>55</c:v>
                </c:pt>
                <c:pt idx="10">
                  <c:v>57</c:v>
                </c:pt>
                <c:pt idx="11">
                  <c:v>59.5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Digital Transform</c:v>
                </c:pt>
              </c:strCache>
            </c:strRef>
          </c:tx>
          <c:spPr>
            <a:solidFill>
              <a:srgbClr val="2E7D32"/>
            </a:solidFill>
            <a:ln w="1905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57.8</c:v>
                </c:pt>
                <c:pt idx="1">
                  <c:v>62</c:v>
                </c:pt>
                <c:pt idx="2">
                  <c:v>64.3</c:v>
                </c:pt>
                <c:pt idx="3">
                  <c:v>62.7</c:v>
                </c:pt>
                <c:pt idx="4">
                  <c:v>61.8</c:v>
                </c:pt>
                <c:pt idx="5">
                  <c:v>62.1</c:v>
                </c:pt>
                <c:pt idx="6">
                  <c:v>61.1</c:v>
                </c:pt>
                <c:pt idx="7">
                  <c:v>64.8</c:v>
                </c:pt>
                <c:pt idx="8">
                  <c:v>63.8</c:v>
                </c:pt>
                <c:pt idx="9">
                  <c:v>57.9</c:v>
                </c:pt>
                <c:pt idx="10">
                  <c:v>65.8</c:v>
                </c:pt>
                <c:pt idx="11">
                  <c:v>58.5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Enterprise Infra</c:v>
                </c:pt>
              </c:strCache>
            </c:strRef>
          </c:tx>
          <c:spPr>
            <a:solidFill>
              <a:srgbClr val="6A1B9A"/>
            </a:solidFill>
            <a:ln w="19050" cap="flat">
              <a:solidFill>
                <a:srgbClr val="6A1B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58.9</c:v>
                </c:pt>
                <c:pt idx="1">
                  <c:v>61.1</c:v>
                </c:pt>
                <c:pt idx="2">
                  <c:v>54.7</c:v>
                </c:pt>
                <c:pt idx="3">
                  <c:v>55.1</c:v>
                </c:pt>
                <c:pt idx="4">
                  <c:v>55.5</c:v>
                </c:pt>
                <c:pt idx="5">
                  <c:v>53.3</c:v>
                </c:pt>
                <c:pt idx="6">
                  <c:v>57.5</c:v>
                </c:pt>
                <c:pt idx="7">
                  <c:v>56.1</c:v>
                </c:pt>
                <c:pt idx="8">
                  <c:v>57.8</c:v>
                </c:pt>
                <c:pt idx="9">
                  <c:v>56.9</c:v>
                </c:pt>
                <c:pt idx="10">
                  <c:v>56.6</c:v>
                </c:pt>
                <c:pt idx="11">
                  <c:v>60.8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Employee vs Consultant Mix by Portfolio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CX Platform</c:v>
                  </c:pt>
                  <c:pt idx="1">
                    <c:v>Data &amp; Analytics</c:v>
                  </c:pt>
                  <c:pt idx="2">
                    <c:v>Digital Transform</c:v>
                  </c:pt>
                  <c:pt idx="3">
                    <c:v>Enterprise Infra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23.4</c:v>
                </c:pt>
                <c:pt idx="1">
                  <c:v>17.3</c:v>
                </c:pt>
                <c:pt idx="2">
                  <c:v>20.2</c:v>
                </c:pt>
                <c:pt idx="3">
                  <c:v>16.9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Consultant</c:v>
                </c:pt>
              </c:strCache>
            </c:strRef>
          </c:tx>
          <c:spPr>
            <a:solidFill>
              <a:srgbClr val="F57F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CX Platform</c:v>
                  </c:pt>
                  <c:pt idx="1">
                    <c:v>Data &amp; Analytics</c:v>
                  </c:pt>
                  <c:pt idx="2">
                    <c:v>Digital Transform</c:v>
                  </c:pt>
                  <c:pt idx="3">
                    <c:v>Enterprise Infra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37.9</c:v>
                </c:pt>
                <c:pt idx="1">
                  <c:v>42.2</c:v>
                </c:pt>
                <c:pt idx="2">
                  <c:v>38.3</c:v>
                </c:pt>
                <c:pt idx="3">
                  <c:v>43.9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Department FTE by Location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Onsite</c:v>
                </c:pt>
              </c:strCache>
            </c:strRef>
          </c:tx>
          <c:spPr>
            <a:solidFill>
              <a:srgbClr val="005B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Svc</c:v>
                  </c:pt>
                  <c:pt idx="1">
                    <c:v>QA</c:v>
                  </c:pt>
                  <c:pt idx="2">
                    <c:v>Asia Pac</c:v>
                  </c:pt>
                  <c:pt idx="3">
                    <c:v>Process Auto</c:v>
                  </c:pt>
                  <c:pt idx="4">
                    <c:v>App Eng</c:v>
                  </c:pt>
                  <c:pt idx="5">
                    <c:v>EMEA Del</c:v>
                  </c:pt>
                  <c:pt idx="6">
                    <c:v>Enterprise IT</c:v>
                  </c:pt>
                  <c:pt idx="7">
                    <c:v>Digital Strat</c:v>
                  </c:pt>
                  <c:pt idx="8">
                    <c:v>Cloud Ops</c:v>
                  </c:pt>
                  <c:pt idx="9">
                    <c:v>Platform Core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6.5</c:v>
                </c:pt>
                <c:pt idx="1">
                  <c:v>7.7</c:v>
                </c:pt>
                <c:pt idx="2">
                  <c:v>6.7</c:v>
                </c:pt>
                <c:pt idx="3">
                  <c:v>6.7</c:v>
                </c:pt>
                <c:pt idx="4">
                  <c:v>4.6</c:v>
                </c:pt>
                <c:pt idx="5">
                  <c:v>4.6</c:v>
                </c:pt>
                <c:pt idx="6">
                  <c:v>3.7</c:v>
                </c:pt>
                <c:pt idx="7">
                  <c:v>4.4</c:v>
                </c:pt>
                <c:pt idx="8">
                  <c:v>5.8</c:v>
                </c:pt>
                <c:pt idx="9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Nearshore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Svc</c:v>
                  </c:pt>
                  <c:pt idx="1">
                    <c:v>QA</c:v>
                  </c:pt>
                  <c:pt idx="2">
                    <c:v>Asia Pac</c:v>
                  </c:pt>
                  <c:pt idx="3">
                    <c:v>Process Auto</c:v>
                  </c:pt>
                  <c:pt idx="4">
                    <c:v>App Eng</c:v>
                  </c:pt>
                  <c:pt idx="5">
                    <c:v>EMEA Del</c:v>
                  </c:pt>
                  <c:pt idx="6">
                    <c:v>Enterprise IT</c:v>
                  </c:pt>
                  <c:pt idx="7">
                    <c:v>Digital Strat</c:v>
                  </c:pt>
                  <c:pt idx="8">
                    <c:v>Cloud Ops</c:v>
                  </c:pt>
                  <c:pt idx="9">
                    <c:v>Platform Core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8.8</c:v>
                </c:pt>
                <c:pt idx="1">
                  <c:v>9.2</c:v>
                </c:pt>
                <c:pt idx="2">
                  <c:v>7.4</c:v>
                </c:pt>
                <c:pt idx="3">
                  <c:v>4.3</c:v>
                </c:pt>
                <c:pt idx="4">
                  <c:v>4.5</c:v>
                </c:pt>
                <c:pt idx="5">
                  <c:v>4.1</c:v>
                </c:pt>
                <c:pt idx="6">
                  <c:v>7.5</c:v>
                </c:pt>
                <c:pt idx="7">
                  <c:v>4.1</c:v>
                </c:pt>
                <c:pt idx="8">
                  <c:v>6.6</c:v>
                </c:pt>
                <c:pt idx="9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Offshore</c:v>
                </c:pt>
              </c:strCache>
            </c:strRef>
          </c:tx>
          <c:spPr>
            <a:solidFill>
              <a:srgbClr val="EE31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Data Svc</c:v>
                  </c:pt>
                  <c:pt idx="1">
                    <c:v>QA</c:v>
                  </c:pt>
                  <c:pt idx="2">
                    <c:v>Asia Pac</c:v>
                  </c:pt>
                  <c:pt idx="3">
                    <c:v>Process Auto</c:v>
                  </c:pt>
                  <c:pt idx="4">
                    <c:v>App Eng</c:v>
                  </c:pt>
                  <c:pt idx="5">
                    <c:v>EMEA Del</c:v>
                  </c:pt>
                  <c:pt idx="6">
                    <c:v>Enterprise IT</c:v>
                  </c:pt>
                  <c:pt idx="7">
                    <c:v>Digital Strat</c:v>
                  </c:pt>
                  <c:pt idx="8">
                    <c:v>Cloud Ops</c:v>
                  </c:pt>
                  <c:pt idx="9">
                    <c:v>Platform Core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19.4</c:v>
                </c:pt>
                <c:pt idx="1">
                  <c:v>10.4</c:v>
                </c:pt>
                <c:pt idx="2">
                  <c:v>12.1</c:v>
                </c:pt>
                <c:pt idx="3">
                  <c:v>12.6</c:v>
                </c:pt>
                <c:pt idx="4">
                  <c:v>13.2</c:v>
                </c:pt>
                <c:pt idx="5">
                  <c:v>12.8</c:v>
                </c:pt>
                <c:pt idx="6">
                  <c:v>10.3</c:v>
                </c:pt>
                <c:pt idx="7">
                  <c:v>12.9</c:v>
                </c:pt>
                <c:pt idx="8">
                  <c:v>9</c:v>
                </c:pt>
                <c:pt idx="9">
                  <c:v>11.6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Resource Mix: Employee vs Consultant by Location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Onsite</c:v>
                  </c:pt>
                  <c:pt idx="1">
                    <c:v>Nearshore</c:v>
                  </c:pt>
                  <c:pt idx="2">
                    <c:v>Offshore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17.8</c:v>
                </c:pt>
                <c:pt idx="1">
                  <c:v>25.1</c:v>
                </c:pt>
                <c:pt idx="2">
                  <c:v>34.9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Consultant</c:v>
                </c:pt>
              </c:strCache>
            </c:strRef>
          </c:tx>
          <c:spPr>
            <a:solidFill>
              <a:srgbClr val="F57F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Onsite</c:v>
                  </c:pt>
                  <c:pt idx="1">
                    <c:v>Nearshore</c:v>
                  </c:pt>
                  <c:pt idx="2">
                    <c:v>Offshore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36.7</c:v>
                </c:pt>
                <c:pt idx="1">
                  <c:v>36.2</c:v>
                </c:pt>
                <c:pt idx="2">
                  <c:v>89.4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Vendor FTE Distribution (11 Active Vendors)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005B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3D3D5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InnoSphere</c:v>
                  </c:pt>
                  <c:pt idx="1">
                    <c:v>HorizonLabs</c:v>
                  </c:pt>
                  <c:pt idx="2">
                    <c:v>KeyNode</c:v>
                  </c:pt>
                  <c:pt idx="3">
                    <c:v>DataBridge</c:v>
                  </c:pt>
                  <c:pt idx="4">
                    <c:v>BrightPath</c:v>
                  </c:pt>
                  <c:pt idx="5">
                    <c:v>GridStone</c:v>
                  </c:pt>
                  <c:pt idx="6">
                    <c:v>Apex Sol.</c:v>
                  </c:pt>
                  <c:pt idx="7">
                    <c:v>CoreWave</c:v>
                  </c:pt>
                  <c:pt idx="8">
                    <c:v>LogicNest</c:v>
                  </c:pt>
                  <c:pt idx="9">
                    <c:v>FusionPoint</c:v>
                  </c:pt>
                  <c:pt idx="10">
                    <c:v>Elevate IT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19.5</c:v>
                </c:pt>
                <c:pt idx="1">
                  <c:v>17.4</c:v>
                </c:pt>
                <c:pt idx="2">
                  <c:v>16.8</c:v>
                </c:pt>
                <c:pt idx="3">
                  <c:v>16.5</c:v>
                </c:pt>
                <c:pt idx="4">
                  <c:v>16.4</c:v>
                </c:pt>
                <c:pt idx="5">
                  <c:v>16.3</c:v>
                </c:pt>
                <c:pt idx="6">
                  <c:v>14.2</c:v>
                </c:pt>
                <c:pt idx="7">
                  <c:v>12.7</c:v>
                </c:pt>
                <c:pt idx="8">
                  <c:v>12.3</c:v>
                </c:pt>
                <c:pt idx="9">
                  <c:v>11.3</c:v>
                </c:pt>
                <c:pt idx="10">
                  <c:v>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3D3D5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800" b="0" i="0" u="none" strike="noStrike">
                <a:solidFill>
                  <a:srgbClr val="1A1A2E"/>
                </a:solidFill>
                <a:latin typeface="Arial"/>
              </a:rPr>
              <a:t>Service Type Allocation — Where FTE Goes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2B49"/>
              </a:solidFill>
              <a:effectLst/>
            </c:spPr>
          </c:dPt>
          <c:dPt>
            <c:idx val="1"/>
            <c:bubble3D val="0"/>
            <c:spPr>
              <a:solidFill>
                <a:srgbClr val="005B96"/>
              </a:solidFill>
              <a:effectLst/>
            </c:spPr>
          </c:dPt>
          <c:dPt>
            <c:idx val="2"/>
            <c:bubble3D val="0"/>
            <c:spPr>
              <a:solidFill>
                <a:srgbClr val="00796B"/>
              </a:solidFill>
              <a:effectLst/>
            </c:spPr>
          </c:dPt>
          <c:dPt>
            <c:idx val="3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bubble3D val="0"/>
            <c:spPr>
              <a:solidFill>
                <a:srgbClr val="2E7D32"/>
              </a:solidFill>
              <a:effectLst/>
            </c:spPr>
          </c:dPt>
          <c:dPt>
            <c:idx val="5"/>
            <c:bubble3D val="0"/>
            <c:spPr>
              <a:solidFill>
                <a:srgbClr val="F57F1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Platform Migration</c:v>
                </c:pt>
                <c:pt idx="1">
                  <c:v>Greenfield Build</c:v>
                </c:pt>
                <c:pt idx="2">
                  <c:v>Minor Enhance</c:v>
                </c:pt>
                <c:pt idx="3">
                  <c:v>Admin</c:v>
                </c:pt>
                <c:pt idx="4">
                  <c:v>Break-Fix</c:v>
                </c:pt>
                <c:pt idx="5">
                  <c:v>Feasibility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65</c:v>
                </c:pt>
                <c:pt idx="1">
                  <c:v>62.6</c:v>
                </c:pt>
                <c:pt idx="2">
                  <c:v>34</c:v>
                </c:pt>
                <c:pt idx="3">
                  <c:v>30</c:v>
                </c:pt>
                <c:pt idx="4">
                  <c:v>26.3</c:v>
                </c:pt>
                <c:pt idx="5">
                  <c:v>22.2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3D3D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BRIEFING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Management Review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Analysis: Portfolio — Program — Department — Resource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2024  |  Confidential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280160" cy="640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240.1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FTE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74520" y="2926080"/>
            <a:ext cx="1280160" cy="640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7452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1280160" cy="640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1280160" cy="640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0916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1280160" cy="640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543800" y="2926080"/>
            <a:ext cx="1280160" cy="640080"/>
          </a:xfrm>
          <a:prstGeom prst="rect">
            <a:avLst/>
          </a:prstGeom>
          <a:solidFill>
            <a:srgbClr val="F0F2F5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43800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54380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S&amp;P Global  |  Data as of December 2024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2B4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630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FTE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74320" y="740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240.1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014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463040" y="5943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630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463040" y="740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1014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651760" y="5943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630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651760" y="740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651760" y="1014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67.6%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840480" y="5943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630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840480" y="740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40480" y="1014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029200" y="5943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630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NEARSHORE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029200" y="740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0" y="1014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25.5%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6217920" y="5943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630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OFFSHORE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217920" y="740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124.3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17920" y="1014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51.8%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7406640" y="5943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06640" y="6309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DEV %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406640" y="7406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53.1%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06640" y="1014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mode</a:t>
            </a:r>
            <a:endParaRPr lang="en-US" sz="6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274320" y="1325880"/>
          <a:ext cx="8595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274320" y="3474720"/>
            <a:ext cx="2743200" cy="59436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274320" y="3474720"/>
            <a:ext cx="36576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Text 34"/>
          <p:cNvSpPr/>
          <p:nvPr/>
        </p:nvSpPr>
        <p:spPr>
          <a:xfrm>
            <a:off x="384048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</a:rPr>
              <a:t>WHAT'S WORKING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Total FTE maintained in a tight 224-248 band over 36 months — strong capacity discipline. No unplanned surges or alarming drops.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154680" y="3474720"/>
            <a:ext cx="2880360" cy="59436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3154680" y="3474720"/>
            <a:ext cx="36576" cy="594360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0" name="Text 37"/>
          <p:cNvSpPr/>
          <p:nvPr/>
        </p:nvSpPr>
        <p:spPr>
          <a:xfrm>
            <a:off x="3264408" y="3474720"/>
            <a:ext cx="26974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E3124"/>
                </a:solidFill>
              </a:rPr>
              <a:t>CONCERN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Offshore hit 124.3 FTE (51.8%) in Dec — highest in 3 years. Consultant ratio at 2.1:1 creates knowledge retention risk.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6172200" y="3474720"/>
            <a:ext cx="2697480" cy="59436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172200" y="3474720"/>
            <a:ext cx="36576" cy="59436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43" name="Text 40"/>
          <p:cNvSpPr/>
          <p:nvPr/>
        </p:nvSpPr>
        <p:spPr>
          <a:xfrm>
            <a:off x="6281928" y="3474720"/>
            <a:ext cx="2514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</a:rPr>
              <a:t>RECOMMENDATION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Cap offshore at 50% for production-critical programs. Establish knowledge transfer cadence for consultant-heavy teams.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VERDICT: Workforce is stable and disciplined, but offshore concentration and consultant dependency warrant CFO attention.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ANALYSIS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SCORECARD — December 2024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95528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731520"/>
                <a:gridCol w="640080"/>
                <a:gridCol w="731520"/>
                <a:gridCol w="731520"/>
                <a:gridCol w="731520"/>
                <a:gridCol w="731520"/>
                <a:gridCol w="640080"/>
                <a:gridCol w="64008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Portfolio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Programs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Total FTE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Emp FTE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Cons FTE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Avg Off 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New Dev 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Admin 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YoY 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Health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D3D56"/>
                          </a:solidFill>
                        </a:rPr>
                        <a:t>CX Platform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61.3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23.4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37.9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53.0%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60.2%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11.9%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-1.6%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GOOD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D3D56"/>
                          </a:solidFill>
                        </a:rPr>
                        <a:t>Enterprise Infra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60.8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16.9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43.9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46.9%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50.5%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8.9%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-2.3%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57F17"/>
                          </a:solidFill>
                        </a:rPr>
                        <a:t>WATCH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D3D56"/>
                          </a:solidFill>
                        </a:rPr>
                        <a:t>Data &amp; Analytics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59.5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17.3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42.2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53.6%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57.7%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17.4%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+5.5%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FLAG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D3D56"/>
                          </a:solidFill>
                        </a:rPr>
                        <a:t>Digital Transform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58.5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20.2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38.3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51.6%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45.9%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13.6%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-3.4%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FLAG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274320" y="1965960"/>
          <a:ext cx="45720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029200" y="1965960"/>
          <a:ext cx="38404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5"/>
          <p:cNvSpPr/>
          <p:nvPr/>
        </p:nvSpPr>
        <p:spPr>
          <a:xfrm>
            <a:off x="274320" y="3749040"/>
            <a:ext cx="274320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4320" y="3749040"/>
            <a:ext cx="3657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7"/>
          <p:cNvSpPr/>
          <p:nvPr/>
        </p:nvSpPr>
        <p:spPr>
          <a:xfrm>
            <a:off x="384048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</a:rPr>
              <a:t>POSITIVE: Data &amp; Analytics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Only portfolio with positive YoY growth (+5.5%). Summit BI (+26.9%) and Zenith Reporting (+23.2%) driving analytics investment thesis.</a:t>
            </a:r>
            <a:endParaRPr lang="en-US" sz="700" dirty="0"/>
          </a:p>
        </p:txBody>
      </p:sp>
      <p:sp>
        <p:nvSpPr>
          <p:cNvPr id="13" name="Shape 8"/>
          <p:cNvSpPr/>
          <p:nvPr/>
        </p:nvSpPr>
        <p:spPr>
          <a:xfrm>
            <a:off x="3154680" y="3749040"/>
            <a:ext cx="288036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154680" y="3749040"/>
            <a:ext cx="36576" cy="548640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15" name="Text 10"/>
          <p:cNvSpPr/>
          <p:nvPr/>
        </p:nvSpPr>
        <p:spPr>
          <a:xfrm>
            <a:off x="3264408" y="3749040"/>
            <a:ext cx="2697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E3124"/>
                </a:solidFill>
              </a:rPr>
              <a:t>RISK: Digital Transformation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Worst YoY decline (-3.4%) despite having 6 programs. Meridian API (-18%) and Nexus Identity (-5.9%) contracting. Admin at 13.6%.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6172200" y="3749040"/>
            <a:ext cx="269748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172200" y="3749040"/>
            <a:ext cx="36576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3"/>
          <p:cNvSpPr/>
          <p:nvPr/>
        </p:nvSpPr>
        <p:spPr>
          <a:xfrm>
            <a:off x="6281928" y="3749040"/>
            <a:ext cx="2514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</a:rPr>
              <a:t>RISK: Data &amp; Analytics Admin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Admin overhead at 17.4% — highest of all portfolios. Echo Data Lake (26.3%) and Relay ETL (23.6%) are main contributors.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274320" y="43891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VERDICT: Only Data &amp; Analytics is growing. Digital Transformation needs strategic review. Admin overhead in D&amp;A erodes investment gains.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ANALYSIS — TOP &amp; BOTTOM PERFORMERS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20 PROGRAMS — December 2024 (Ranked by FTE)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457200"/>
                <a:gridCol w="457200"/>
                <a:gridCol w="457200"/>
                <a:gridCol w="548640"/>
                <a:gridCol w="502920"/>
                <a:gridCol w="594360"/>
                <a:gridCol w="640080"/>
                <a:gridCol w="594360"/>
                <a:gridCol w="502920"/>
              </a:tblGrid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Program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Portfolio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FTE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Emp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Cons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Off 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MoM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YoY 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NewDev%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Admin%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Signal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Titan Network Upgrade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Ent Infra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17.2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13.9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45.9%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-0.2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-2.3%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58.7%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10.5%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5B96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Orbit Feedback Engine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CX Platform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15.6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9.5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57.1%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+1.9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-1.3%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57.7%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14.1%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57F17"/>
                          </a:solidFill>
                        </a:rPr>
                        <a:t>WATCH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Summit BI Dashboard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D&amp;A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15.1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11.0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48.3%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+5.4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+26.9%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49.0%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15.9%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STAR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Fortress Security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Ent Infra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14.8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10.5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31.1%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-0.1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-15.9%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38.5%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RISK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Prism Customer Portal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CX Platform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14.6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10.2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56.2%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+0.8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-5.8%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56.8%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5B96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Keystone Config Mgmt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Ent Infra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14.5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5.6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8.9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55.2%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+2.0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-8.2%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53.8%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57F17"/>
                          </a:solidFill>
                        </a:rPr>
                        <a:t>WATCH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Horizon Disaster Recovery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Ent Infra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14.3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3.7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10.6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55.2%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+2.5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+17.2%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51.0%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12.6%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796B"/>
                          </a:solidFill>
                        </a:rPr>
                        <a:t>GOOD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Echo Data Lake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D&amp;A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13.3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9.8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59.4%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-0.8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-14.7%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45.9%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26.3%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RISK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Pulse Notification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CX Platform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13.2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7.4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5.8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54.5%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-2.1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-12.0%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72.0%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15.2%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RISK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Relay ETL Pipeline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D&amp;A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12.3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2.6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9.7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64.2%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-1.2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+15.0%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48.0%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23.6%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FLAG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Phoenix Cloud Migr.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Dig Trans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11.4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43.9%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+0.3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-1.7%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46.5%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24.6%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FLAG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Atlas Data Platform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Dig Trans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10.4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67.3%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-0.9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-4.6%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55.8%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6.7%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RISK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Vertex ML Platform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D&amp;A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10.3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3.3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7.0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58.3%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-1.0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-23.1%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63.1%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RISK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Sentinel Monitoring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Dig Trans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10.1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2.9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7.2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48.5%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-2.7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-1.9%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56.4%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16.8%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57F17"/>
                          </a:solidFill>
                        </a:rPr>
                        <a:t>WATCH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Compass Loyalty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CX Platform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9.5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1.6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7.9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65.3%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+1.4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-8.7%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42.1%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17.9%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RISK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Catalyst Process Auto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Dig Trans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9.5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7.6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50.5%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+1.4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+11.8%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25.3%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10.5%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5B96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Meridian API Gateway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Dig Trans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9.1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2.2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70.3%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-2.4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-18.0%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36.3%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RISK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Zenith Reporting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D&amp;A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8.5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3.8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4.7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37.6%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2E7D32"/>
                          </a:solidFill>
                        </a:rPr>
                        <a:t>+0.1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+23.2%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82.4%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0.0%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STAR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Beacon Self-Service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CX Platform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8.4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3.9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4.5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32.1%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-0.5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+20.0%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72.6%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6.0%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STAR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Nexus Identity Mgmt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dirty="0">
                          <a:solidFill>
                            <a:srgbClr val="6B7280"/>
                          </a:solidFill>
                        </a:rPr>
                        <a:t>Dig Trans</a:t>
                      </a:r>
                      <a:endParaRPr lang="en-US" sz="5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002B49"/>
                          </a:solidFill>
                        </a:rPr>
                        <a:t>8.0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3.0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2E7D32"/>
                          </a:solidFill>
                        </a:rPr>
                        <a:t>28.8%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EE3124"/>
                          </a:solidFill>
                        </a:rPr>
                        <a:t>-3.0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E3124"/>
                          </a:solidFill>
                        </a:rPr>
                        <a:t>-5.9%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3D3D56"/>
                          </a:solidFill>
                        </a:rPr>
                        <a:t>55.0%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E65100"/>
                          </a:solidFill>
                        </a:rPr>
                        <a:t>17.5%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F57F17"/>
                          </a:solidFill>
                        </a:rPr>
                        <a:t>WATCH</a:t>
                      </a:r>
                      <a:endParaRPr lang="en-US" sz="6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950208"/>
            <a:ext cx="2743200" cy="475488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3950208"/>
            <a:ext cx="36576" cy="47548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3950208"/>
            <a:ext cx="25603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</a:rPr>
              <a:t>3 STARS (Growing + Healthy)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Summit BI (+26.9%), Zenith Reporting (+23.2%), Beacon Hub (+20.0%) — all have low offshore, high new development.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154680" y="3950208"/>
            <a:ext cx="2880360" cy="475488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3950208"/>
            <a:ext cx="36576" cy="475488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13" name="Text 10"/>
          <p:cNvSpPr/>
          <p:nvPr/>
        </p:nvSpPr>
        <p:spPr>
          <a:xfrm>
            <a:off x="3264408" y="3950208"/>
            <a:ext cx="26974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E3124"/>
                </a:solidFill>
              </a:rPr>
              <a:t>6 RISK PROGRAMS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Vertex ML (-23.1%), Meridian API (-18.0%), Fortress (-15.9%), Echo DL (-14.7%), Pulse (-12.0%), Atlas (67% offshore).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172200" y="3950208"/>
            <a:ext cx="2697480" cy="475488"/>
          </a:xfrm>
          <a:prstGeom prst="rect">
            <a:avLst/>
          </a:prstGeom>
          <a:solidFill>
            <a:srgbClr val="F0F2F5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3950208"/>
            <a:ext cx="36576" cy="47548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6" name="Text 13"/>
          <p:cNvSpPr/>
          <p:nvPr/>
        </p:nvSpPr>
        <p:spPr>
          <a:xfrm>
            <a:off x="6281928" y="3950208"/>
            <a:ext cx="2514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</a:rPr>
              <a:t>3 HIGH-ADMIN FLAGS</a:t>
            </a:r>
            <a:endParaRPr lang="en-US" sz="700" dirty="0"/>
          </a:p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</a:rPr>
              <a:t>Echo Data Lake (26.3%), Phoenix Cloud (24.6%), Relay ETL (23.6%) — admin overhead exceeding 20% is wasteful.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RESOURCE ANALYSIS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566928"/>
          <a:ext cx="43891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846320" y="566928"/>
          <a:ext cx="4023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24871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DETAIL — Headcount, FTE, Offshore Risk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"/>
                <a:gridCol w="731520"/>
                <a:gridCol w="731520"/>
                <a:gridCol w="822960"/>
                <a:gridCol w="822960"/>
                <a:gridCol w="731520"/>
                <a:gridCol w="548640"/>
              </a:tblGrid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Department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HC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Total FTE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Onsite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Nearshore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Offshore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Off 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Risk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Data Services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34.7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19.4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55.9%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Quality Assurance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27.3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9.2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10.4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38.1%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Asia Pacific Delivery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26.2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46.2%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Process Automation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23.6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53.4%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Application Engineering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22.3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13.2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59.2%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E3124"/>
                          </a:solidFill>
                        </a:rPr>
                        <a:t>HIGH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EMEA Delivery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59.5%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E3124"/>
                          </a:solidFill>
                        </a:rPr>
                        <a:t>HIGH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Enterprise IT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7.5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10.3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47.9%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Digital Strategy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60.3%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E3124"/>
                          </a:solidFill>
                        </a:rPr>
                        <a:t>HIGH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Cloud Operations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21.4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9.0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42.1%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Platform Core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20.2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11.6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57.4%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11" name="Text 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Data Services (56% offshore) and Digital Strategy (60% offshore) are highest risk. QA (38% offshore) is the model for other teams.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&amp; COST STRUCTURE ANALYSIS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566928"/>
          <a:ext cx="43891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846320" y="566928"/>
          <a:ext cx="4023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248716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SCORECARD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"/>
                <a:gridCol w="640080"/>
                <a:gridCol w="640080"/>
                <a:gridCol w="731520"/>
                <a:gridCol w="640080"/>
                <a:gridCol w="731520"/>
                <a:gridCol w="548640"/>
              </a:tblGrid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Vendor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HC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FTE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Onsite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Offshore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Off 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Programs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Risk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InnoSphere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19.5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12.4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64%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HorizonLabs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17.4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51%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KeyNode Services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16.8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52%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DataBridge Corp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16.5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9.6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58%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BrightPath Tech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16.4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11.1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68%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E3124"/>
                          </a:solidFill>
                        </a:rPr>
                        <a:t>HIGH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GridStone Partners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16.3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9.6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59%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Apex Solutions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14.2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6.2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5.6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39%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CoreWave Systems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15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12.7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4.7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37%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LogicNest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12.3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1.9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8.4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E3124"/>
                          </a:solidFill>
                        </a:rPr>
                        <a:t>68%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E3124"/>
                          </a:solidFill>
                        </a:rPr>
                        <a:t>HIGH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FusionPoint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14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11.3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2.7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6.7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E65100"/>
                          </a:solidFill>
                        </a:rPr>
                        <a:t>59%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E65100"/>
                          </a:solidFill>
                        </a:rPr>
                        <a:t>MED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1325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Elevate IT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10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002B49"/>
                          </a:solidFill>
                        </a:rPr>
                        <a:t>8.9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1.6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3.8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2E7D32"/>
                          </a:solidFill>
                        </a:rPr>
                        <a:t>43%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D3D56"/>
                          </a:solidFill>
                        </a:rPr>
                        <a:t>11</a:t>
                      </a: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2E7D32"/>
                          </a:solidFill>
                        </a:rPr>
                        <a:t>LOW</a:t>
                      </a:r>
                      <a:endParaRPr lang="en-US" sz="6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11" name="Text 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Healthy diversification (11 vendors, top 3 = 33%). BrightPath (68% offshore) and DataBridge (58%) most offshore-heavy. Apex best balance (39%).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 &amp; RED FLAGS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Requiring CFO Attention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5720" cy="960120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996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ML 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996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-23.1% YoY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" y="116128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02336" y="12893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YoY decline across all programs. Dropping from 13.4 to 10.3 FTE. High offshore (58.3%). If this contraction is unplanned, it signals a failing initiative.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45720" cy="960120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15" name="Text 13"/>
          <p:cNvSpPr/>
          <p:nvPr/>
        </p:nvSpPr>
        <p:spPr>
          <a:xfrm>
            <a:off x="4837176" y="9966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API Gateway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35240" y="9966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70.3% Offshore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37176" y="116128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837176" y="12893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offshore concentration of all 20 programs (70.3%). Only 0.4 FTE onsite. Combined with -18% YoY decline — this program is both shrinking and poorly positioned.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74320" y="20574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057400"/>
            <a:ext cx="45720" cy="9601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2093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Data Lake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20939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Admin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" y="225856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02336" y="23865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admin overhead in the portfolio. For every 4 FTE doing productive work, 1 is on admin. Down 14.7% YoY. This program is shrinking while burning resources on overhead.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709160" y="20574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057400"/>
            <a:ext cx="45720" cy="9601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4837176" y="20939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Cloud Migration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20939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 Admin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37176" y="225856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Transformation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837176" y="238658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Second-highest admin overhead. A cloud migration should be in execution mode, not admin mode. 43.9% offshore is acceptable but admin ratio suggests process issues.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74320" y="31546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154680"/>
            <a:ext cx="45720" cy="960120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" y="31912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Security Hardening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0" y="3191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-15.9% YoY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2336" y="335584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Infrastructure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02336" y="34838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Third-largest decline. Security programs should not be contracting given the threat landscape. Only 38.5% new dev — mostly in maintenance mode. Needs strategic review.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709160" y="31546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154680"/>
            <a:ext cx="45720" cy="960120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39" name="Text 37"/>
          <p:cNvSpPr/>
          <p:nvPr/>
        </p:nvSpPr>
        <p:spPr>
          <a:xfrm>
            <a:off x="4837176" y="31912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Dependency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35240" y="3191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2.1:1 Ratio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37176" y="3355848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Organization-wide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837176" y="34838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162.3 consultants vs 77.8 employees (67.6% consultant). Knowledge retention risk is high. If key vendors exit, institutional knowledge leaves with them.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74320" y="42976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SUMMARY: 6 of 20 programs (30%) have significant risk signals. Combined they represent 67.6 FTE — 28% of the workforce requires remediation or strategic decision.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PMR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6400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 for CFO Review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5720" cy="4846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320040" cy="16459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789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22960" y="104241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Declining Programs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234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ML (-23.1%), Meridian API (-18.0%), Fortress Security (-15.9%) — confirm whether these contractions are planned wind-downs or unintended attrition requiring intervention. Decision needed by Q1.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74320" y="1581912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581912"/>
            <a:ext cx="45720" cy="4846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1655064"/>
            <a:ext cx="320040" cy="16459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6550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2960" y="161848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3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Admin Overhead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181051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Data Lake (26.3%), Phoenix Cloud (24.6%), Relay ETL (23.6%) — audit admin processes. Target: bring all programs under 15% admin by Q2. Estimated savings: 8-10 FTE redirected to productive work.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157984"/>
            <a:ext cx="45720" cy="4846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" y="2231136"/>
            <a:ext cx="320040" cy="16459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2311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22960" y="21945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Rebalance Offshore Concentration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23865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programs exceed 55% offshore. Meridian (70.3%) and Atlas (67.3%) are critical. Establish 55% offshore cap for client-facing programs. Shift excess to nearshore where timezone overlap is needed.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74320" y="2734056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734056"/>
            <a:ext cx="45720" cy="4846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2807208"/>
            <a:ext cx="320040" cy="16459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28072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22960" y="277063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Consultant Dependency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2962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2.1:1 consultant-to-employee ratio. Identify 10-15 critical consultant roles for conversion to employee. Establish knowledge transfer plans for vendor-dependent programs. Reduce ratio to 1.8:1 by end of 2025.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274320" y="3310128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310128"/>
            <a:ext cx="45720" cy="4846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Shape 31"/>
          <p:cNvSpPr/>
          <p:nvPr/>
        </p:nvSpPr>
        <p:spPr>
          <a:xfrm>
            <a:off x="411480" y="3383280"/>
            <a:ext cx="320040" cy="1645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38328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22960" y="3346704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Analytics Investment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" y="35387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 is the only growing portfolio (+5.5% YoY). Summit BI and Zenith Reporting are star performers. Recommend allocating additional 5-8 FTE to accelerate these programs.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74320" y="3886200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886200"/>
            <a:ext cx="45720" cy="48463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9" name="Shape 37"/>
          <p:cNvSpPr/>
          <p:nvPr/>
        </p:nvSpPr>
        <p:spPr>
          <a:xfrm>
            <a:off x="411480" y="3959352"/>
            <a:ext cx="320040" cy="164592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39593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22960" y="392277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QA's Location Model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41148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3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 has the healthiest location mix (28% onsite, 34% nearshore, 38% offshore). Use this as the benchmark model for other departments. Six departments currently exceed 50% offshore.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74320" y="4526280"/>
            <a:ext cx="8595360" cy="27432"/>
          </a:xfrm>
          <a:prstGeom prst="rect">
            <a:avLst/>
          </a:prstGeom>
          <a:solidFill>
            <a:srgbClr val="EE3124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The portfolio is stable but not optimizing. 30% of programs show risk signals, admin overhead is eroding investment returns, and offshore concentration creates operational fragility. Addressing P1 items alone could redirect 8-10 FTE to productive work — equivalent to ~$800K-$1M in annual value recovery.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714C1F2-6D91-48CB-A3AF-F1648E11BB46}"/>
</file>

<file path=customXml/itemProps2.xml><?xml version="1.0" encoding="utf-8"?>
<ds:datastoreItem xmlns:ds="http://schemas.openxmlformats.org/officeDocument/2006/customXml" ds:itemID="{8C4863D3-F342-471C-A735-19472DA8C650}"/>
</file>

<file path=customXml/itemProps3.xml><?xml version="1.0" encoding="utf-8"?>
<ds:datastoreItem xmlns:ds="http://schemas.openxmlformats.org/officeDocument/2006/customXml" ds:itemID="{A2066C95-D069-42EC-8E50-5DAC4B30258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CFO Briefing - Program Management Review December 2024</dc:title>
  <dc:subject>PptxGenJS Presentation</dc:subject>
  <dc:creator>PMR Dashboard</dc:creator>
  <cp:lastModifiedBy>PMR Dashboard</cp:lastModifiedBy>
  <cp:revision>1</cp:revision>
  <dcterms:created xsi:type="dcterms:W3CDTF">2026-03-10T14:34:56Z</dcterms:created>
  <dcterms:modified xsi:type="dcterms:W3CDTF">2026-03-10T14:34:56Z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