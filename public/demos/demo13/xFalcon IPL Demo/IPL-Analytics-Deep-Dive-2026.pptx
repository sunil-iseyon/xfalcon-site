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Runs/Match</c:v>
                </c:pt>
              </c:strCache>
            </c:strRef>
          </c:tx>
          <c:spPr>
            <a:solidFill>
              <a:srgbClr val="4ECDC4"/>
            </a:solidFill>
            <a:ln w="38100" cap="flat">
              <a:solidFill>
                <a:srgbClr val="4ECDC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ECDC4"/>
              </a:solidFill>
              <a:ln w="9525" cap="flat">
                <a:solidFill>
                  <a:srgbClr val="4ECDC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Sheet1!$A$2:$A$19</c:f>
              <c:multiLvlStrCache>
                <c:ptCount val="18"/>
                <c:lvl>
                  <c:pt idx="0">
                    <c:v>08</c:v>
                  </c:pt>
                  <c:pt idx="1">
                    <c:v>09</c:v>
                  </c:pt>
                  <c:pt idx="2">
                    <c:v>10</c:v>
                  </c:pt>
                  <c:pt idx="3">
                    <c:v>11</c:v>
                  </c:pt>
                  <c:pt idx="4">
                    <c:v>12</c:v>
                  </c:pt>
                  <c:pt idx="5">
                    <c:v>13</c:v>
                  </c:pt>
                  <c:pt idx="6">
                    <c:v>14</c:v>
                  </c:pt>
                  <c:pt idx="7">
                    <c:v>15</c:v>
                  </c:pt>
                  <c:pt idx="8">
                    <c:v>16</c:v>
                  </c:pt>
                  <c:pt idx="9">
                    <c:v>17</c:v>
                  </c:pt>
                  <c:pt idx="10">
                    <c:v>18</c:v>
                  </c:pt>
                  <c:pt idx="11">
                    <c:v>19</c:v>
                  </c:pt>
                  <c:pt idx="12">
                    <c:v>20</c:v>
                  </c:pt>
                  <c:pt idx="13">
                    <c:v>21</c:v>
                  </c:pt>
                  <c:pt idx="14">
                    <c:v>22</c:v>
                  </c:pt>
                  <c:pt idx="15">
                    <c:v>23</c:v>
                  </c:pt>
                  <c:pt idx="16">
                    <c:v>24</c:v>
                  </c:pt>
                  <c:pt idx="17">
                    <c:v>25</c:v>
                  </c:pt>
                </c:lvl>
              </c:multiLvlStrCache>
            </c:multiLvl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310</c:v>
                </c:pt>
                <c:pt idx="1">
                  <c:v>286</c:v>
                </c:pt>
                <c:pt idx="2">
                  <c:v>318</c:v>
                </c:pt>
                <c:pt idx="3">
                  <c:v>293</c:v>
                </c:pt>
                <c:pt idx="4">
                  <c:v>302</c:v>
                </c:pt>
                <c:pt idx="5">
                  <c:v>297</c:v>
                </c:pt>
                <c:pt idx="6">
                  <c:v>311</c:v>
                </c:pt>
                <c:pt idx="7">
                  <c:v>310</c:v>
                </c:pt>
                <c:pt idx="8">
                  <c:v>313</c:v>
                </c:pt>
                <c:pt idx="9">
                  <c:v>324</c:v>
                </c:pt>
                <c:pt idx="10">
                  <c:v>332</c:v>
                </c:pt>
                <c:pt idx="11">
                  <c:v>325</c:v>
                </c:pt>
                <c:pt idx="12">
                  <c:v>326</c:v>
                </c:pt>
                <c:pt idx="13">
                  <c:v>316</c:v>
                </c:pt>
                <c:pt idx="14">
                  <c:v>327</c:v>
                </c:pt>
                <c:pt idx="15">
                  <c:v>344</c:v>
                </c:pt>
                <c:pt idx="16">
                  <c:v>369</c:v>
                </c:pt>
                <c:pt idx="17">
                  <c:v>353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 %</c:v>
                </c:pt>
              </c:strCache>
            </c:strRef>
          </c:tx>
          <c:spPr>
            <a:solidFill>
              <a:srgbClr val="4ECD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GT</c:v>
                  </c:pt>
                  <c:pt idx="1">
                    <c:v>CSK</c:v>
                  </c:pt>
                  <c:pt idx="2">
                    <c:v>MI</c:v>
                  </c:pt>
                  <c:pt idx="3">
                    <c:v>LSG</c:v>
                  </c:pt>
                  <c:pt idx="4">
                    <c:v>KKR</c:v>
                  </c:pt>
                  <c:pt idx="5">
                    <c:v>RCB</c:v>
                  </c:pt>
                  <c:pt idx="6">
                    <c:v>RR</c:v>
                  </c:pt>
                  <c:pt idx="7">
                    <c:v>SRH</c:v>
                  </c:pt>
                  <c:pt idx="8">
                    <c:v>PBKS</c:v>
                  </c:pt>
                  <c:pt idx="9">
                    <c:v>DC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61.7</c:v>
                </c:pt>
                <c:pt idx="1">
                  <c:v>56.8</c:v>
                </c:pt>
                <c:pt idx="2">
                  <c:v>55.3</c:v>
                </c:pt>
                <c:pt idx="3">
                  <c:v>53.6</c:v>
                </c:pt>
                <c:pt idx="4">
                  <c:v>52.1</c:v>
                </c:pt>
                <c:pt idx="5">
                  <c:v>50</c:v>
                </c:pt>
                <c:pt idx="6">
                  <c:v>49.8</c:v>
                </c:pt>
                <c:pt idx="7">
                  <c:v>48.7</c:v>
                </c:pt>
                <c:pt idx="8">
                  <c:v>45.9</c:v>
                </c:pt>
                <c:pt idx="9">
                  <c:v>45.7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</c:v>
                </c:pt>
              </c:strCache>
            </c:strRef>
          </c:tx>
          <c:spPr>
            <a:solidFill>
              <a:srgbClr val="F794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CSK</c:v>
                  </c:pt>
                  <c:pt idx="1">
                    <c:v>MI</c:v>
                  </c:pt>
                  <c:pt idx="2">
                    <c:v>KKR</c:v>
                  </c:pt>
                  <c:pt idx="3">
                    <c:v>RR</c:v>
                  </c:pt>
                  <c:pt idx="4">
                    <c:v>SRH</c:v>
                  </c:pt>
                  <c:pt idx="5">
                    <c:v>GT</c:v>
                  </c:pt>
                  <c:pt idx="6">
                    <c:v>RCB</c:v>
                  </c:pt>
                  <c:pt idx="7">
                    <c:v>DC</c:v>
                  </c:pt>
                  <c:pt idx="8">
                    <c:v>PBKS</c:v>
                  </c:pt>
                  <c:pt idx="9">
                    <c:v>LSG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</c:v>
                </c:pt>
                <c:pt idx="1">
                  <c:v>5</c:v>
                </c:pt>
                <c:pt idx="2">
                  <c:v>3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Runs</c:v>
                </c:pt>
              </c:strCache>
            </c:strRef>
          </c:tx>
          <c:spPr>
            <a:solidFill>
              <a:srgbClr val="E2B9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Sudharsan
(GT)</c:v>
                  </c:pt>
                  <c:pt idx="1">
                    <c:v>SKY
(MI)</c:v>
                  </c:pt>
                  <c:pt idx="2">
                    <c:v>Kohli
(RCB)</c:v>
                  </c:pt>
                  <c:pt idx="3">
                    <c:v>Gill
(GT)</c:v>
                  </c:pt>
                  <c:pt idx="4">
                    <c:v>Marsh
(LSG)</c:v>
                  </c:pt>
                  <c:pt idx="5">
                    <c:v>Iyer
(PBKS)</c:v>
                  </c:pt>
                  <c:pt idx="6">
                    <c:v>P.Arya
(PBKS)</c:v>
                  </c:pt>
                  <c:pt idx="7">
                    <c:v>Jaiswal
(RR)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759</c:v>
                </c:pt>
                <c:pt idx="1">
                  <c:v>717</c:v>
                </c:pt>
                <c:pt idx="2">
                  <c:v>657</c:v>
                </c:pt>
                <c:pt idx="3">
                  <c:v>650</c:v>
                </c:pt>
                <c:pt idx="4">
                  <c:v>627</c:v>
                </c:pt>
                <c:pt idx="5">
                  <c:v>604</c:v>
                </c:pt>
                <c:pt idx="6">
                  <c:v>599</c:v>
                </c:pt>
                <c:pt idx="7">
                  <c:v>559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Wickets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P.Krishna
(GT)</c:v>
                  </c:pt>
                  <c:pt idx="1">
                    <c:v>Noor
(CSK)</c:v>
                  </c:pt>
                  <c:pt idx="2">
                    <c:v>Hazlewood
(RCB)</c:v>
                  </c:pt>
                  <c:pt idx="3">
                    <c:v>Boult
(MI)</c:v>
                  </c:pt>
                  <c:pt idx="4">
                    <c:v>Arshdeep
(PBKS)</c:v>
                  </c:pt>
                  <c:pt idx="5">
                    <c:v>Sai Kishore
(GT)</c:v>
                  </c:pt>
                  <c:pt idx="6">
                    <c:v>Bumrah
(MI)</c:v>
                  </c:pt>
                  <c:pt idx="7">
                    <c:v>K.Pandya
(RCB)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25</c:v>
                </c:pt>
                <c:pt idx="1">
                  <c:v>24</c:v>
                </c:pt>
                <c:pt idx="2">
                  <c:v>22</c:v>
                </c:pt>
                <c:pt idx="3">
                  <c:v>22</c:v>
                </c:pt>
                <c:pt idx="4">
                  <c:v>21</c:v>
                </c:pt>
                <c:pt idx="5">
                  <c:v>19</c:v>
                </c:pt>
                <c:pt idx="6">
                  <c:v>18</c:v>
                </c:pt>
                <c:pt idx="7">
                  <c:v>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Spend (₹ Cr)</c:v>
                </c:pt>
              </c:strCache>
            </c:strRef>
          </c:tx>
          <c:spPr>
            <a:solidFill>
              <a:srgbClr val="4ECD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Sheet1!$A$2:$A$19</c:f>
              <c:multiLvlStrCache>
                <c:ptCount val="18"/>
                <c:lvl>
                  <c:pt idx="0">
                    <c:v>08</c:v>
                  </c:pt>
                  <c:pt idx="1">
                    <c:v>09</c:v>
                  </c:pt>
                  <c:pt idx="2">
                    <c:v>10</c:v>
                  </c:pt>
                  <c:pt idx="3">
                    <c:v>11</c:v>
                  </c:pt>
                  <c:pt idx="4">
                    <c:v>12</c:v>
                  </c:pt>
                  <c:pt idx="5">
                    <c:v>13</c:v>
                  </c:pt>
                  <c:pt idx="6">
                    <c:v>14</c:v>
                  </c:pt>
                  <c:pt idx="7">
                    <c:v>15</c:v>
                  </c:pt>
                  <c:pt idx="8">
                    <c:v>16</c:v>
                  </c:pt>
                  <c:pt idx="9">
                    <c:v>17</c:v>
                  </c:pt>
                  <c:pt idx="10">
                    <c:v>18</c:v>
                  </c:pt>
                  <c:pt idx="11">
                    <c:v>19</c:v>
                  </c:pt>
                  <c:pt idx="12">
                    <c:v>20</c:v>
                  </c:pt>
                  <c:pt idx="13">
                    <c:v>21</c:v>
                  </c:pt>
                  <c:pt idx="14">
                    <c:v>22</c:v>
                  </c:pt>
                  <c:pt idx="15">
                    <c:v>23</c:v>
                  </c:pt>
                  <c:pt idx="16">
                    <c:v>24</c:v>
                  </c:pt>
                  <c:pt idx="17">
                    <c:v>25</c:v>
                  </c:pt>
                </c:lvl>
              </c:multiLvlStrCache>
            </c:multiLvl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450</c:v>
                </c:pt>
                <c:pt idx="1">
                  <c:v>480</c:v>
                </c:pt>
                <c:pt idx="2">
                  <c:v>500</c:v>
                </c:pt>
                <c:pt idx="3">
                  <c:v>600</c:v>
                </c:pt>
                <c:pt idx="4">
                  <c:v>700</c:v>
                </c:pt>
                <c:pt idx="5">
                  <c:v>750</c:v>
                </c:pt>
                <c:pt idx="6">
                  <c:v>800</c:v>
                </c:pt>
                <c:pt idx="7">
                  <c:v>850</c:v>
                </c:pt>
                <c:pt idx="8">
                  <c:v>900</c:v>
                </c:pt>
                <c:pt idx="9">
                  <c:v>950</c:v>
                </c:pt>
                <c:pt idx="10">
                  <c:v>1000</c:v>
                </c:pt>
                <c:pt idx="11">
                  <c:v>1050</c:v>
                </c:pt>
                <c:pt idx="12">
                  <c:v>1080</c:v>
                </c:pt>
                <c:pt idx="13">
                  <c:v>1100</c:v>
                </c:pt>
                <c:pt idx="14">
                  <c:v>5100</c:v>
                </c:pt>
                <c:pt idx="15">
                  <c:v>2100</c:v>
                </c:pt>
                <c:pt idx="16">
                  <c:v>1870</c:v>
                </c:pt>
                <c:pt idx="17">
                  <c:v>2350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Sponsor Value (₹ Cr)</c:v>
                </c:pt>
              </c:strCache>
            </c:strRef>
          </c:tx>
          <c:spPr>
            <a:solidFill>
              <a:srgbClr val="4ECDC4"/>
            </a:solidFill>
            <a:ln w="38100" cap="flat">
              <a:solidFill>
                <a:srgbClr val="4ECDC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ECDC4"/>
              </a:solidFill>
              <a:ln w="9525" cap="flat">
                <a:solidFill>
                  <a:srgbClr val="4ECDC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</c:f>
              <c:multiLvlStrCache>
                <c:ptCount val="19"/>
                <c:lvl>
                  <c:pt idx="0">
                    <c:v>08</c:v>
                  </c:pt>
                  <c:pt idx="1">
                    <c:v>09</c:v>
                  </c:pt>
                  <c:pt idx="2">
                    <c:v>10</c:v>
                  </c:pt>
                  <c:pt idx="3">
                    <c:v>11</c:v>
                  </c:pt>
                  <c:pt idx="4">
                    <c:v>12</c:v>
                  </c:pt>
                  <c:pt idx="5">
                    <c:v>13</c:v>
                  </c:pt>
                  <c:pt idx="6">
                    <c:v>14</c:v>
                  </c:pt>
                  <c:pt idx="7">
                    <c:v>15</c:v>
                  </c:pt>
                  <c:pt idx="8">
                    <c:v>16</c:v>
                  </c:pt>
                  <c:pt idx="9">
                    <c:v>17</c:v>
                  </c:pt>
                  <c:pt idx="10">
                    <c:v>18</c:v>
                  </c:pt>
                  <c:pt idx="11">
                    <c:v>19</c:v>
                  </c:pt>
                  <c:pt idx="12">
                    <c:v>20</c:v>
                  </c:pt>
                  <c:pt idx="13">
                    <c:v>21</c:v>
                  </c:pt>
                  <c:pt idx="14">
                    <c:v>22</c:v>
                  </c:pt>
                  <c:pt idx="15">
                    <c:v>23</c:v>
                  </c:pt>
                  <c:pt idx="16">
                    <c:v>24</c:v>
                  </c:pt>
                  <c:pt idx="17">
                    <c:v>25</c:v>
                  </c:pt>
                  <c:pt idx="18">
                    <c:v>26</c:v>
                  </c:pt>
                </c:lvl>
              </c:multiLvlStrCache>
            </c:multiLvl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40</c:v>
                </c:pt>
                <c:pt idx="1">
                  <c:v>40</c:v>
                </c:pt>
                <c:pt idx="2">
                  <c:v>40</c:v>
                </c:pt>
                <c:pt idx="3">
                  <c:v>40</c:v>
                </c:pt>
                <c:pt idx="4">
                  <c:v>40</c:v>
                </c:pt>
                <c:pt idx="5">
                  <c:v>80</c:v>
                </c:pt>
                <c:pt idx="6">
                  <c:v>80</c:v>
                </c:pt>
                <c:pt idx="7">
                  <c:v>80</c:v>
                </c:pt>
                <c:pt idx="8">
                  <c:v>220</c:v>
                </c:pt>
                <c:pt idx="9">
                  <c:v>220</c:v>
                </c:pt>
                <c:pt idx="10">
                  <c:v>220</c:v>
                </c:pt>
                <c:pt idx="11">
                  <c:v>220</c:v>
                </c:pt>
                <c:pt idx="12">
                  <c:v>222</c:v>
                </c:pt>
                <c:pt idx="13">
                  <c:v>440</c:v>
                </c:pt>
                <c:pt idx="14">
                  <c:v>340</c:v>
                </c:pt>
                <c:pt idx="15">
                  <c:v>340</c:v>
                </c:pt>
                <c:pt idx="16">
                  <c:v>340</c:v>
                </c:pt>
                <c:pt idx="17">
                  <c:v>340</c:v>
                </c:pt>
                <c:pt idx="18">
                  <c:v>400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Prize Pool (₹ Cr)</c:v>
                </c:pt>
              </c:strCache>
            </c:strRef>
          </c:tx>
          <c:spPr>
            <a:solidFill>
              <a:srgbClr val="F7946B"/>
            </a:solidFill>
            <a:ln w="38100" cap="flat">
              <a:solidFill>
                <a:srgbClr val="F7946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7946B"/>
              </a:solidFill>
              <a:ln w="9525" cap="flat">
                <a:solidFill>
                  <a:srgbClr val="F794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</c:f>
              <c:multiLvlStrCache>
                <c:ptCount val="19"/>
                <c:lvl>
                  <c:pt idx="0">
                    <c:v>08</c:v>
                  </c:pt>
                  <c:pt idx="1">
                    <c:v>09</c:v>
                  </c:pt>
                  <c:pt idx="2">
                    <c:v>10</c:v>
                  </c:pt>
                  <c:pt idx="3">
                    <c:v>11</c:v>
                  </c:pt>
                  <c:pt idx="4">
                    <c:v>12</c:v>
                  </c:pt>
                  <c:pt idx="5">
                    <c:v>13</c:v>
                  </c:pt>
                  <c:pt idx="6">
                    <c:v>14</c:v>
                  </c:pt>
                  <c:pt idx="7">
                    <c:v>15</c:v>
                  </c:pt>
                  <c:pt idx="8">
                    <c:v>16</c:v>
                  </c:pt>
                  <c:pt idx="9">
                    <c:v>17</c:v>
                  </c:pt>
                  <c:pt idx="10">
                    <c:v>18</c:v>
                  </c:pt>
                  <c:pt idx="11">
                    <c:v>19</c:v>
                  </c:pt>
                  <c:pt idx="12">
                    <c:v>20</c:v>
                  </c:pt>
                  <c:pt idx="13">
                    <c:v>21</c:v>
                  </c:pt>
                  <c:pt idx="14">
                    <c:v>22</c:v>
                  </c:pt>
                  <c:pt idx="15">
                    <c:v>23</c:v>
                  </c:pt>
                  <c:pt idx="16">
                    <c:v>24</c:v>
                  </c:pt>
                  <c:pt idx="17">
                    <c:v>25</c:v>
                  </c:pt>
                  <c:pt idx="18">
                    <c:v>26</c:v>
                  </c:pt>
                </c:lvl>
              </c:multiLvlStrCache>
            </c:multiLvl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7</c:v>
                </c:pt>
                <c:pt idx="4">
                  <c:v>7</c:v>
                </c:pt>
                <c:pt idx="5">
                  <c:v>8</c:v>
                </c:pt>
                <c:pt idx="6">
                  <c:v>9</c:v>
                </c:pt>
                <c:pt idx="7">
                  <c:v>10</c:v>
                </c:pt>
                <c:pt idx="8">
                  <c:v>11</c:v>
                </c:pt>
                <c:pt idx="9">
                  <c:v>12</c:v>
                </c:pt>
                <c:pt idx="10">
                  <c:v>15</c:v>
                </c:pt>
                <c:pt idx="11">
                  <c:v>20</c:v>
                </c:pt>
                <c:pt idx="12">
                  <c:v>20</c:v>
                </c:pt>
                <c:pt idx="13">
                  <c:v>20</c:v>
                </c:pt>
                <c:pt idx="14">
                  <c:v>48</c:v>
                </c:pt>
                <c:pt idx="15">
                  <c:v>50</c:v>
                </c:pt>
                <c:pt idx="16">
                  <c:v>50</c:v>
                </c:pt>
                <c:pt idx="17">
                  <c:v>50</c:v>
                </c:pt>
                <c:pt idx="18">
                  <c:v>50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Social Mentions (Millions)</c:v>
                </c:pt>
              </c:strCache>
            </c:strRef>
          </c:tx>
          <c:spPr>
            <a:solidFill>
              <a:srgbClr val="4ECD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MI</c:v>
                  </c:pt>
                  <c:pt idx="1">
                    <c:v>RCB</c:v>
                  </c:pt>
                  <c:pt idx="2">
                    <c:v>CSK</c:v>
                  </c:pt>
                  <c:pt idx="3">
                    <c:v>KKR</c:v>
                  </c:pt>
                  <c:pt idx="4">
                    <c:v>DC</c:v>
                  </c:pt>
                  <c:pt idx="5">
                    <c:v>RR</c:v>
                  </c:pt>
                  <c:pt idx="6">
                    <c:v>SRH</c:v>
                  </c:pt>
                  <c:pt idx="7">
                    <c:v>PBKS</c:v>
                  </c:pt>
                  <c:pt idx="8">
                    <c:v>GT</c:v>
                  </c:pt>
                  <c:pt idx="9">
                    <c:v>LSG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423</c:v>
                </c:pt>
                <c:pt idx="1">
                  <c:v>345</c:v>
                </c:pt>
                <c:pt idx="2">
                  <c:v>306</c:v>
                </c:pt>
                <c:pt idx="3">
                  <c:v>285</c:v>
                </c:pt>
                <c:pt idx="4">
                  <c:v>169</c:v>
                </c:pt>
                <c:pt idx="5">
                  <c:v>130</c:v>
                </c:pt>
                <c:pt idx="6">
                  <c:v>119</c:v>
                </c:pt>
                <c:pt idx="7">
                  <c:v>111</c:v>
                </c:pt>
                <c:pt idx="8">
                  <c:v>16</c:v>
                </c:pt>
                <c:pt idx="9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1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Merchandise Units Sold</c:v>
                </c:pt>
              </c:strCache>
            </c:strRef>
          </c:tx>
          <c:spPr>
            <a:solidFill>
              <a:srgbClr val="F794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MI</c:v>
                  </c:pt>
                  <c:pt idx="1">
                    <c:v>RCB</c:v>
                  </c:pt>
                  <c:pt idx="2">
                    <c:v>CSK</c:v>
                  </c:pt>
                  <c:pt idx="3">
                    <c:v>KKR</c:v>
                  </c:pt>
                  <c:pt idx="4">
                    <c:v>DC</c:v>
                  </c:pt>
                  <c:pt idx="5">
                    <c:v>RR</c:v>
                  </c:pt>
                  <c:pt idx="6">
                    <c:v>SRH</c:v>
                  </c:pt>
                  <c:pt idx="7">
                    <c:v>PBKS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705127</c:v>
                </c:pt>
                <c:pt idx="1">
                  <c:v>587987</c:v>
                </c:pt>
                <c:pt idx="2">
                  <c:v>517922</c:v>
                </c:pt>
                <c:pt idx="3">
                  <c:v>473431</c:v>
                </c:pt>
                <c:pt idx="4">
                  <c:v>276230</c:v>
                </c:pt>
                <c:pt idx="5">
                  <c:v>214193</c:v>
                </c:pt>
                <c:pt idx="6">
                  <c:v>197396</c:v>
                </c:pt>
                <c:pt idx="7">
                  <c:v>181834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 Probability %</c:v>
                </c:pt>
              </c:strCache>
            </c:strRef>
          </c:tx>
          <c:spPr>
            <a:solidFill>
              <a:srgbClr val="4ECD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RCB</c:v>
                  </c:pt>
                  <c:pt idx="1">
                    <c:v>MI</c:v>
                  </c:pt>
                  <c:pt idx="2">
                    <c:v>SRH</c:v>
                  </c:pt>
                  <c:pt idx="3">
                    <c:v>PBKS</c:v>
                  </c:pt>
                  <c:pt idx="4">
                    <c:v>DC</c:v>
                  </c:pt>
                  <c:pt idx="5">
                    <c:v>RR</c:v>
                  </c:pt>
                  <c:pt idx="6">
                    <c:v>CSK</c:v>
                  </c:pt>
                  <c:pt idx="7">
                    <c:v>KKR</c:v>
                  </c:pt>
                  <c:pt idx="8">
                    <c:v>LSG</c:v>
                  </c:pt>
                  <c:pt idx="9">
                    <c:v>GT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13.8</c:v>
                </c:pt>
                <c:pt idx="1">
                  <c:v>12.4</c:v>
                </c:pt>
                <c:pt idx="2">
                  <c:v>11.6</c:v>
                </c:pt>
                <c:pt idx="3">
                  <c:v>11.2</c:v>
                </c:pt>
                <c:pt idx="4">
                  <c:v>9.2</c:v>
                </c:pt>
                <c:pt idx="5">
                  <c:v>10.2</c:v>
                </c:pt>
                <c:pt idx="6">
                  <c:v>10</c:v>
                </c:pt>
                <c:pt idx="7">
                  <c:v>7.5</c:v>
                </c:pt>
                <c:pt idx="8">
                  <c:v>7.3</c:v>
                </c:pt>
                <c:pt idx="9">
                  <c:v>6.8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1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Champion Accuracy</c:v>
                </c:pt>
              </c:strCache>
            </c:strRef>
          </c:tx>
          <c:spPr>
            <a:solidFill>
              <a:srgbClr val="4ECD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WCI</c:v>
                  </c:pt>
                  <c:pt idx="1">
                    <c:v>ELO</c:v>
                  </c:pt>
                  <c:pt idx="2">
                    <c:v>Logistic</c:v>
                  </c:pt>
                  <c:pt idx="3">
                    <c:v>Momentum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20</c:v>
                </c:pt>
                <c:pt idx="2">
                  <c:v>20</c:v>
                </c:pt>
                <c:pt idx="3">
                  <c:v>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Top-4 Accuracy</c:v>
                </c:pt>
              </c:strCache>
            </c:strRef>
          </c:tx>
          <c:spPr>
            <a:solidFill>
              <a:srgbClr val="F794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WCI</c:v>
                  </c:pt>
                  <c:pt idx="1">
                    <c:v>ELO</c:v>
                  </c:pt>
                  <c:pt idx="2">
                    <c:v>Logistic</c:v>
                  </c:pt>
                  <c:pt idx="3">
                    <c:v>Momentum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78</c:v>
                </c:pt>
                <c:pt idx="1">
                  <c:v>80</c:v>
                </c:pt>
                <c:pt idx="2">
                  <c:v>70</c:v>
                </c:pt>
                <c:pt idx="3">
                  <c:v>65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Finalist Hit Rate</c:v>
                </c:pt>
              </c:strCache>
            </c:strRef>
          </c:tx>
          <c:spPr>
            <a:solidFill>
              <a:srgbClr val="E2B9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WCI</c:v>
                  </c:pt>
                  <c:pt idx="1">
                    <c:v>ELO</c:v>
                  </c:pt>
                  <c:pt idx="2">
                    <c:v>Logistic</c:v>
                  </c:pt>
                  <c:pt idx="3">
                    <c:v>Momentum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83</c:v>
                </c:pt>
                <c:pt idx="1">
                  <c:v>80</c:v>
                </c:pt>
                <c:pt idx="2">
                  <c:v>67</c:v>
                </c:pt>
                <c:pt idx="3">
                  <c:v>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Ensemble Weight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ECDC4"/>
              </a:solidFill>
              <a:effectLst/>
            </c:spPr>
          </c:dPt>
          <c:dPt>
            <c:idx val="1"/>
            <c:bubble3D val="0"/>
            <c:spPr>
              <a:solidFill>
                <a:srgbClr val="E2B93B"/>
              </a:solidFill>
              <a:effectLst/>
            </c:spPr>
          </c:dPt>
          <c:dPt>
            <c:idx val="2"/>
            <c:bubble3D val="0"/>
            <c:spPr>
              <a:solidFill>
                <a:srgbClr val="F7946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WCI (50%)</c:v>
                </c:pt>
                <c:pt idx="1">
                  <c:v>Momentum (30%)</c:v>
                </c:pt>
                <c:pt idx="2">
                  <c:v>ELO (20%)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45920"/>
            <a:ext cx="109728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6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IPL ANALYTICS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400" kern="0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DIVE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Seasons  |  1,171 Matches  |  10 Franchises  |  2008 - 2026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79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Insights &amp; Business Analytics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xFalcon AnalyticsPro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0" y="4572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960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9326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IPL Story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0" y="9326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years of growth, records, and transformation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80467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1508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1481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Performance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14813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rates, dynasties, and franchise rankings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011680"/>
            <a:ext cx="80467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2057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20299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Analytics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20299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&amp; Purple Cap, MVPs, and emerging talent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560320"/>
            <a:ext cx="80467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2606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25786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 Economics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25786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₹450 Cr to ₹5,100 Cr — the money revolution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" y="3154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31272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Engagement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31272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423M+ social mentions, merchandise, and sentiment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657600"/>
            <a:ext cx="80467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3703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80160" y="36758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Season Predictions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0" y="36758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WCI model, ELO, and live match tracking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85800" y="4251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80160" y="42245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0" y="42245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models backtested across 5 seasons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xFalcon AnalyticsPro | IPL Analytics Deep Dive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IPL STORY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2194560"/>
            <a:ext cx="9144000" cy="3658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317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years that transformed world cricket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IPL at a Glance — The Numbers That Matter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828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868680"/>
            <a:ext cx="54864" cy="100584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1,171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Played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868680"/>
            <a:ext cx="1828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06040" y="868680"/>
            <a:ext cx="54864" cy="1005840"/>
          </a:xfrm>
          <a:prstGeom prst="rect">
            <a:avLst/>
          </a:prstGeom>
          <a:solidFill>
            <a:srgbClr val="F7946B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9144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94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743200" y="14630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868680"/>
            <a:ext cx="1828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868680"/>
            <a:ext cx="54864" cy="1005840"/>
          </a:xfrm>
          <a:prstGeom prst="rect">
            <a:avLst/>
          </a:prstGeom>
          <a:solidFill>
            <a:srgbClr val="E2B93B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9144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B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800600" y="14630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20840" y="86868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20840" y="868680"/>
            <a:ext cx="54864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9144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58000" y="1463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Franchises (All-Time)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2103120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2103120"/>
            <a:ext cx="54864" cy="100584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21488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₹2,350 Cr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85800" y="26974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Auction Spend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29000" y="2103120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29000" y="2103120"/>
            <a:ext cx="54864" cy="1005840"/>
          </a:xfrm>
          <a:prstGeom prst="rect">
            <a:avLst/>
          </a:prstGeom>
          <a:solidFill>
            <a:srgbClr val="F7946B"/>
          </a:solidFill>
          <a:ln/>
        </p:spPr>
      </p:sp>
      <p:sp>
        <p:nvSpPr>
          <p:cNvPr id="26" name="Text 24"/>
          <p:cNvSpPr/>
          <p:nvPr/>
        </p:nvSpPr>
        <p:spPr>
          <a:xfrm>
            <a:off x="3566160" y="21488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94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₹27.0 Cr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566160" y="26974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Bid (Pant 2025)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09360" y="2103120"/>
            <a:ext cx="23774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09360" y="2103120"/>
            <a:ext cx="54864" cy="1005840"/>
          </a:xfrm>
          <a:prstGeom prst="rect">
            <a:avLst/>
          </a:prstGeom>
          <a:solidFill>
            <a:srgbClr val="E2B93B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21488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B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6,818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446520" y="26974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Auctioned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3383280"/>
            <a:ext cx="80467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31520" y="34747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IPL has grown from a ₹450 Cr experiment in 2008 to the world's richest cricket league, with ₹5,100 Cr spent in the 2022 mega auction alone. Average match scores have risen from 310 (2008) to 369 (2024), reflecting the explosive batting revolution.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xFalcon AnalyticsPro | IPL Analytics Deep Dive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Scoring Evolution — Avg Runs Per Match (2008-2025)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914400"/>
          <a:ext cx="80467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79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saw the highest-ever average at 369 runs per match — Impact Player rule fueled batting aggression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xFalcon AnalyticsPro | IPL Analytics Deep Dive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Championship Roll of Honor (2008-2025)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22960"/>
          <a:ext cx="80467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463040"/>
                <a:gridCol w="1280160"/>
                <a:gridCol w="731520"/>
                <a:gridCol w="1463040"/>
                <a:gridCol w="12801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Year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Champion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Runner-Up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Year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Champion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Runner-Up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2008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ECDC4"/>
                          </a:solidFill>
                        </a:rPr>
                        <a:t>RR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2017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ECDC4"/>
                          </a:solidFill>
                        </a:rPr>
                        <a:t>MI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RPS*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2009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ECDC4"/>
                          </a:solidFill>
                        </a:rPr>
                        <a:t>DC*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RCB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2018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ECDC4"/>
                          </a:solidFill>
                        </a:rPr>
                        <a:t>CSK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SRH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2010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ECDC4"/>
                          </a:solidFill>
                        </a:rPr>
                        <a:t>CSK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2019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ECDC4"/>
                          </a:solidFill>
                        </a:rPr>
                        <a:t>MI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2011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ECDC4"/>
                          </a:solidFill>
                        </a:rPr>
                        <a:t>CSK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RCB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2020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ECDC4"/>
                          </a:solidFill>
                        </a:rPr>
                        <a:t>MI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2012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ECDC4"/>
                          </a:solidFill>
                        </a:rPr>
                        <a:t>KKR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2021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ECDC4"/>
                          </a:solidFill>
                        </a:rPr>
                        <a:t>CSK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KKR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2013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ECDC4"/>
                          </a:solidFill>
                        </a:rPr>
                        <a:t>MI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2022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ECDC4"/>
                          </a:solidFill>
                        </a:rPr>
                        <a:t>GT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2014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ECDC4"/>
                          </a:solidFill>
                        </a:rPr>
                        <a:t>KKR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PBKS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2023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ECDC4"/>
                          </a:solidFill>
                        </a:rPr>
                        <a:t>CSK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2015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ECDC4"/>
                          </a:solidFill>
                        </a:rPr>
                        <a:t>MI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2024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ECDC4"/>
                          </a:solidFill>
                        </a:rPr>
                        <a:t>KKR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SRH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2016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ECDC4"/>
                          </a:solidFill>
                        </a:rPr>
                        <a:t>SRH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RCB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ECDC4"/>
                          </a:solidFill>
                        </a:rPr>
                        <a:t>RCB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PBKS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04164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DC* = Deccan Chargers (defunct)  |  RPS* = Rising Pune Supergiant (defunct)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48640" y="4251960"/>
            <a:ext cx="80467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" y="4297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DC4"/>
                </a:solidFill>
              </a:rPr>
              <a:t>CSK &amp; MI = 10 of 18 titles (56%)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   |   </a:t>
            </a:r>
            <a:pPr indent="0" marL="0">
              <a:buNone/>
            </a:pPr>
            <a:r>
              <a:rPr lang="en-US" sz="1100" b="1" dirty="0">
                <a:solidFill>
                  <a:srgbClr val="F7946B"/>
                </a:solidFill>
              </a:rPr>
              <a:t>4 different champions in the last 4 years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   |   </a:t>
            </a:r>
            <a:pPr indent="0" marL="0">
              <a:buNone/>
            </a:pPr>
            <a:r>
              <a:rPr lang="en-US" sz="1100" b="1" dirty="0">
                <a:solidFill>
                  <a:srgbClr val="E2B93B"/>
                </a:solidFill>
              </a:rPr>
              <a:t>RCB 2025: First title after 17 years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xFalcon AnalyticsPro | IPL Analytics Deep Dive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PERFORMANCE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2194560"/>
            <a:ext cx="9144000" cy="3658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317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rates, dynasties, and franchise rankings across 18 seasons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All-Time Win Rate — Franchise Rankings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914400"/>
          <a:ext cx="80467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lead with 61.7% despite only 3 seasons — small sample but dominant. CSK and MI are the true dynasty teams at 56-57%.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xFalcon AnalyticsPro | IPL Analytics Deep Dive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Title Count — The Championship Race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914400"/>
          <a:ext cx="80467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40480"/>
            <a:ext cx="3840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39319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CSK + MI = 10 of 18 titles (56%)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The two most dominant franchises in cricket history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754880" y="3840480"/>
            <a:ext cx="3840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892040" y="39319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946B"/>
                </a:solidFill>
              </a:rPr>
              <a:t>RCB won their FIRST title in 2025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Ended 17 years of heartbreak — the IPL's biggest fairy tale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xFalcon AnalyticsPro | IPL Analytics Deep Dive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Active Franchises — Key Facts</a:t>
            </a:r>
            <a:endParaRPr lang="en-US" sz="2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22960"/>
          <a:ext cx="80467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560320"/>
                <a:gridCol w="1463040"/>
                <a:gridCol w="64008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Code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Franchise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Captain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Titles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ECDC4"/>
                          </a:solidFill>
                        </a:rPr>
                        <a:t>MI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Mumbai Indians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Rohit Sharma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Reliance Industries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ECDC4"/>
                          </a:solidFill>
                        </a:rPr>
                        <a:t>CSK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Chennai Super Kings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MS Dhoni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India Cements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ECDC4"/>
                          </a:solidFill>
                        </a:rPr>
                        <a:t>KKR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Kolkata Knight Riders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Shreyas Iyer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Red Chillies Ent.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ECDC4"/>
                          </a:solidFill>
                        </a:rPr>
                        <a:t>RCB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Royal Challengers Bangalore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Faf du Plessis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United Spirits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ECDC4"/>
                          </a:solidFill>
                        </a:rPr>
                        <a:t>GT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Gujarat Titans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Shubman Gill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CVC Capital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ECDC4"/>
                          </a:solidFill>
                        </a:rPr>
                        <a:t>RR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Rajasthan Royals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Sanju Samson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Emerging Media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ECDC4"/>
                          </a:solidFill>
                        </a:rPr>
                        <a:t>SRH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Sunrisers Hyderabad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Pat Cummins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Sun TV Network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ECDC4"/>
                          </a:solidFill>
                        </a:rPr>
                        <a:t>PBKS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Punjab Kings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Shikhar Dhawan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Preity Zinta Group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ECDC4"/>
                          </a:solidFill>
                        </a:rPr>
                        <a:t>DC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Delhi Capitals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David Warner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JSW Group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ECDC4"/>
                          </a:solidFill>
                        </a:rPr>
                        <a:t>LSG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Lucknow Super Giants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KL Rahul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RPSG Group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0233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40690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DC4"/>
                </a:solidFill>
              </a:rPr>
              <a:t>10 Active Franchises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5 defunct teams (DEC, GL, PWI, RPS, KTK) no longer compete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754880" y="40233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892040" y="40690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946B"/>
                </a:solidFill>
              </a:rPr>
              <a:t>Combined Investment: ₹16,000+ Cr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Across all franchise acquisitions and operating costs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xFalcon AnalyticsPro | IPL Analytics Deep Dive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PLAYER ANALYTICS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2194560"/>
            <a:ext cx="9144000" cy="3658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317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Cap, Purple Cap, and the stars who define the IPL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2025 Orange Cap Race — Top Run Scorers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914400"/>
          <a:ext cx="80467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023360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4023360"/>
            <a:ext cx="54864" cy="1005840"/>
          </a:xfrm>
          <a:prstGeom prst="rect">
            <a:avLst/>
          </a:prstGeom>
          <a:solidFill>
            <a:srgbClr val="E2B93B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40690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B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759 runs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85800" y="46177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Sudharsan (Orange Cap)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29000" y="4023360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29000" y="4023360"/>
            <a:ext cx="54864" cy="1005840"/>
          </a:xfrm>
          <a:prstGeom prst="rect">
            <a:avLst/>
          </a:prstGeom>
          <a:solidFill>
            <a:srgbClr val="F7946B"/>
          </a:solidFill>
          <a:ln/>
        </p:spPr>
      </p:sp>
      <p:sp>
        <p:nvSpPr>
          <p:cNvPr id="11" name="Text 8"/>
          <p:cNvSpPr/>
          <p:nvPr/>
        </p:nvSpPr>
        <p:spPr>
          <a:xfrm>
            <a:off x="3566160" y="40690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94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SR 167.9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3566160" y="46177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Suryakumar Yadav (Best SR)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309360" y="4023360"/>
            <a:ext cx="23774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09360" y="4023360"/>
            <a:ext cx="54864" cy="100584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5" name="Text 12"/>
          <p:cNvSpPr/>
          <p:nvPr/>
        </p:nvSpPr>
        <p:spPr>
          <a:xfrm>
            <a:off x="6446520" y="4069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39 sixes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6446520" y="46177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Shreyas Iyer (Most Sixes)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2025 Purple Cap Race — Top Wicket Takers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914400"/>
          <a:ext cx="80467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023360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4023360"/>
            <a:ext cx="54864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40690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 wkts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85800" y="46177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Prasidh Krishna (Purple Cap)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29000" y="4023360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29000" y="4023360"/>
            <a:ext cx="54864" cy="100584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1" name="Text 8"/>
          <p:cNvSpPr/>
          <p:nvPr/>
        </p:nvSpPr>
        <p:spPr>
          <a:xfrm>
            <a:off x="3566160" y="40690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 6.68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3566160" y="46177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Bumrah (Best Economy)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309360" y="4023360"/>
            <a:ext cx="23774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09360" y="4023360"/>
            <a:ext cx="54864" cy="1005840"/>
          </a:xfrm>
          <a:prstGeom prst="rect">
            <a:avLst/>
          </a:prstGeom>
          <a:solidFill>
            <a:srgbClr val="F7946B"/>
          </a:solidFill>
          <a:ln/>
        </p:spPr>
      </p:sp>
      <p:sp>
        <p:nvSpPr>
          <p:cNvPr id="15" name="Text 12"/>
          <p:cNvSpPr/>
          <p:nvPr/>
        </p:nvSpPr>
        <p:spPr>
          <a:xfrm>
            <a:off x="6446520" y="4069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94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4/18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6446520" y="46177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Noor Ahmad (Best Figures)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2025 Season — MVP &amp; Key Performers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914400"/>
            <a:ext cx="256032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51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MVP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Virat Kohli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965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657 runs, led title win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91440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914400"/>
            <a:ext cx="2560320" cy="54864"/>
          </a:xfrm>
          <a:prstGeom prst="rect">
            <a:avLst/>
          </a:prstGeom>
          <a:solidFill>
            <a:srgbClr val="E2B93B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051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2B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CAP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52044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Sai Sudharsan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20440" y="1691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0440" y="1965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759 runs, SR 156.2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91440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914400"/>
            <a:ext cx="25603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1051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 CAP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35508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Prasidh Krishna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55080" y="1691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55080" y="1965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wickets, Avg 19.5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283464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2834640"/>
            <a:ext cx="2560320" cy="54864"/>
          </a:xfrm>
          <a:prstGeom prst="rect">
            <a:avLst/>
          </a:prstGeom>
          <a:solidFill>
            <a:srgbClr val="F7946B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2971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79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PLAYER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5800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Priyansh Arya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800" y="3611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" y="3886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599 runs, SR 161.9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83280" y="283464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83280" y="2834640"/>
            <a:ext cx="256032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0" name="Text 28"/>
          <p:cNvSpPr/>
          <p:nvPr/>
        </p:nvSpPr>
        <p:spPr>
          <a:xfrm>
            <a:off x="3520440" y="2971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ECONOMY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520440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Jasprit Bumrah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520440" y="3611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520440" y="3886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wkts, Eco 6.68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283464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17920" y="2834640"/>
            <a:ext cx="2560320" cy="54864"/>
          </a:xfrm>
          <a:prstGeom prst="rect">
            <a:avLst/>
          </a:prstGeom>
          <a:solidFill>
            <a:srgbClr val="E2B93B"/>
          </a:solidFill>
          <a:ln/>
        </p:spPr>
      </p:sp>
      <p:sp>
        <p:nvSpPr>
          <p:cNvPr id="36" name="Text 34"/>
          <p:cNvSpPr/>
          <p:nvPr/>
        </p:nvSpPr>
        <p:spPr>
          <a:xfrm>
            <a:off x="6355080" y="2971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2B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SR (TOP 5)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355080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Suryakumar Yadav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55080" y="3611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55080" y="3886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717 runs, SR 167.9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xFalcon AnalyticsPro | IPL Analytics Deep Dive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AUCTION ECONOMICS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2194560"/>
            <a:ext cx="9144000" cy="3658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317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money revolution that made IPL the world's richest T20 league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Auction Spend Growth (2008-2025)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914400"/>
          <a:ext cx="80467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023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mega-auction: ₹5,100 Cr — 10x the original 2008 spend. The 2025 mega-auction hit ₹2,350 Cr with Rishabh Pant's record ₹27 Cr bid.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xFalcon AnalyticsPro | IPL Analytics Deep Dive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Record-Breaking Bids Through the Years</a:t>
            </a:r>
            <a:endParaRPr lang="en-US" sz="2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822960"/>
          <a:ext cx="69494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560320"/>
                <a:gridCol w="146304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Year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Player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Team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2008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MS Dhoni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ECDC4"/>
                          </a:solidFill>
                        </a:rPr>
                        <a:t>₹9.5 Cr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CSK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2011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Gautam Gambhir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ECDC4"/>
                          </a:solidFill>
                        </a:rPr>
                        <a:t>₹14.9 Cr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KKR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2014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Yuvraj Singh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ECDC4"/>
                          </a:solidFill>
                        </a:rPr>
                        <a:t>₹14.0 Cr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RCB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2017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Ben Stokes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ECDC4"/>
                          </a:solidFill>
                        </a:rPr>
                        <a:t>₹14.5 Cr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RPS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2021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Chris Morris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ECDC4"/>
                          </a:solidFill>
                        </a:rPr>
                        <a:t>₹16.3 Cr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RR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2023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Sam Curran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ECDC4"/>
                          </a:solidFill>
                        </a:rPr>
                        <a:t>₹18.5 Cr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PBKS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2024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Mitchell Starc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ECDC4"/>
                          </a:solidFill>
                        </a:rPr>
                        <a:t>₹24.8 Cr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KKR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2025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7946B"/>
                          </a:solidFill>
                        </a:rPr>
                        <a:t>Rishabh Pant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7946B"/>
                          </a:solidFill>
                        </a:rPr>
                        <a:t>₹27.0 Cr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LSG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74720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3474720"/>
            <a:ext cx="54864" cy="1005840"/>
          </a:xfrm>
          <a:prstGeom prst="rect">
            <a:avLst/>
          </a:prstGeom>
          <a:solidFill>
            <a:srgbClr val="F7946B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35204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94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₹27.0 Cr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85800" y="40690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All-Time Record (Pant 2025)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29000" y="3474720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29000" y="3474720"/>
            <a:ext cx="54864" cy="100584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1" name="Text 8"/>
          <p:cNvSpPr/>
          <p:nvPr/>
        </p:nvSpPr>
        <p:spPr>
          <a:xfrm>
            <a:off x="3566160" y="35204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184% Growth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3566160" y="40690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bid grew from ₹9.5 to ₹27 Cr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309360" y="3474720"/>
            <a:ext cx="23774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09360" y="3474720"/>
            <a:ext cx="54864" cy="1005840"/>
          </a:xfrm>
          <a:prstGeom prst="rect">
            <a:avLst/>
          </a:prstGeom>
          <a:solidFill>
            <a:srgbClr val="E2B93B"/>
          </a:solidFill>
          <a:ln/>
        </p:spPr>
      </p:sp>
      <p:sp>
        <p:nvSpPr>
          <p:cNvPr id="15" name="Text 12"/>
          <p:cNvSpPr/>
          <p:nvPr/>
        </p:nvSpPr>
        <p:spPr>
          <a:xfrm>
            <a:off x="6446520" y="35204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B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Records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6446520" y="40690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just 18 seasons of auctions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8640" y="4572000"/>
            <a:ext cx="8046720" cy="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xFalcon AnalyticsPro | IPL Analytics Deep Dive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Title Sponsorship &amp; Prize Pool Growth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914400"/>
          <a:ext cx="80467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DLF (08-12) → Pepsi (13-15) → VIVO (16-21) → Tata (22-26): Title sponsorship value grew 10x in 18 years.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xFalcon AnalyticsPro | IPL Analytics Deep Dive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FAN ENGAGEMENT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2194560"/>
            <a:ext cx="9144000" cy="3658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317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423M+ social mentions, merchandise, and the digital ecosystem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Social Media Mentions — All-Time Fan Following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914400"/>
          <a:ext cx="80467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023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dominate social media with 423M mentions — nearly 25% more than RCB. Newer franchises GT and LSG are still building their digital footprint.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xFalcon AnalyticsPro | IPL Analytics Deep Dive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Merchandise Sales &amp; Fan Sentiment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9144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394960" y="914400"/>
            <a:ext cx="32004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577840" y="1005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INSIGHTS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577840" y="1371600"/>
            <a:ext cx="2834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705K+ units</a:t>
            </a:r>
            <a:endParaRPr lang="en-US" sz="2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MI merchandise sold (all-time leader)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rgbClr val="4ECDC4"/>
                </a:solidFill>
              </a:rPr>
              <a:t>0.63 avg sentiment</a:t>
            </a:r>
            <a:endParaRPr lang="en-US" sz="2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Remarkably consistent across all franchises — fans love their teams equally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7946B"/>
                </a:solidFill>
              </a:rPr>
              <a:t>MI + RCB + CSK = 58%</a:t>
            </a:r>
            <a:endParaRPr lang="en-US" sz="2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of all merchandise sales — the "Big 3" of fan commerce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score averages 0.63 across all teams — IPL fans are remarkably loyal regardless of on-field results.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xFalcon AnalyticsPro | IPL Analytics Deep Dive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 SEASON PREDICTIONS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2194560"/>
            <a:ext cx="9144000" cy="3658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317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WCI model forecasts, live match tracking, and early form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WCI Prediction Model — How It Works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914400"/>
            <a:ext cx="54864" cy="54864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601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960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Form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566160" y="960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victories over 6 seasons with exponential recency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554480"/>
            <a:ext cx="54864" cy="548640"/>
          </a:xfrm>
          <a:prstGeom prst="rect">
            <a:avLst/>
          </a:prstGeom>
          <a:solidFill>
            <a:srgbClr val="F7946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600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94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1600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Pedigree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1600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Championship wins and final appearances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194560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194560"/>
            <a:ext cx="54864" cy="548640"/>
          </a:xfrm>
          <a:prstGeom prst="rect">
            <a:avLst/>
          </a:prstGeom>
          <a:solidFill>
            <a:srgbClr val="E2B93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2402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B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2240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Dominance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6616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ground advantage trends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834640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2834640"/>
            <a:ext cx="54864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2880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10%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63040" y="2880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Strength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66160" y="2880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investment via salary &amp; auction spend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474720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3474720"/>
            <a:ext cx="54864" cy="5486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5204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63040" y="3520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Momentum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566160" y="3520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and social media growth as energy proxy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4114800"/>
            <a:ext cx="54864" cy="5486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4160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15%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463040" y="4160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Depth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566160" y="4160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Run-scoring depth and wicket-taking capability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Backtest Confidence: 72.3% (2020-2025) — Predicted 4/6 semifinalists, 2/6 champions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 Championship Probability — After 6 Matches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914400"/>
          <a:ext cx="80467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40480"/>
            <a:ext cx="20116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3840480"/>
            <a:ext cx="54864" cy="100584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38862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RCB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85800" y="44348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Champion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788920" y="3840480"/>
            <a:ext cx="20116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88920" y="3840480"/>
            <a:ext cx="54864" cy="1005840"/>
          </a:xfrm>
          <a:prstGeom prst="rect">
            <a:avLst/>
          </a:prstGeom>
          <a:solidFill>
            <a:srgbClr val="F7946B"/>
          </a:solidFill>
          <a:ln/>
        </p:spPr>
      </p:sp>
      <p:sp>
        <p:nvSpPr>
          <p:cNvPr id="11" name="Text 8"/>
          <p:cNvSpPr/>
          <p:nvPr/>
        </p:nvSpPr>
        <p:spPr>
          <a:xfrm>
            <a:off x="2926080" y="38862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94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2926080" y="44348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Runner-Up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029200" y="3840480"/>
            <a:ext cx="1828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029200" y="3840480"/>
            <a:ext cx="54864" cy="1005840"/>
          </a:xfrm>
          <a:prstGeom prst="rect">
            <a:avLst/>
          </a:prstGeom>
          <a:solidFill>
            <a:srgbClr val="E2B93B"/>
          </a:solidFill>
          <a:ln/>
        </p:spPr>
      </p:sp>
      <p:sp>
        <p:nvSpPr>
          <p:cNvPr id="15" name="Text 12"/>
          <p:cNvSpPr/>
          <p:nvPr/>
        </p:nvSpPr>
        <p:spPr>
          <a:xfrm>
            <a:off x="5166360" y="38862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B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DC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5166360" y="44348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Horse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086600" y="3840480"/>
            <a:ext cx="16002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086600" y="3840480"/>
            <a:ext cx="54864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6"/>
          <p:cNvSpPr/>
          <p:nvPr/>
        </p:nvSpPr>
        <p:spPr>
          <a:xfrm>
            <a:off x="7223760" y="38862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67.8%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7223760" y="4434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Confidence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4864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xFalcon AnalyticsPro | IPL Analytics Deep Dive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Predicted League Standings — 2026 Season</a:t>
            </a:r>
            <a:endParaRPr lang="en-US" sz="2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22960"/>
          <a:ext cx="80467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097280"/>
                <a:gridCol w="548640"/>
                <a:gridCol w="548640"/>
                <a:gridCol w="548640"/>
                <a:gridCol w="822960"/>
                <a:gridCol w="16459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Pos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Team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NRR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Outcome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ECDC4"/>
                          </a:solidFill>
                        </a:rPr>
                        <a:t>RCB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+1.574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ECDC4"/>
                          </a:solidFill>
                        </a:rPr>
                        <a:t>Qualifier 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ECDC4"/>
                          </a:solidFill>
                        </a:rPr>
                        <a:t>MI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+1.120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ECDC4"/>
                          </a:solidFill>
                        </a:rPr>
                        <a:t>Qualifier 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ECDC4"/>
                          </a:solidFill>
                        </a:rPr>
                        <a:t>SRH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+0.920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ECDC4"/>
                          </a:solidFill>
                        </a:rPr>
                        <a:t>Eliminator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ECDC4"/>
                          </a:solidFill>
                        </a:rPr>
                        <a:t>PBKS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+0.808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ECDC4"/>
                          </a:solidFill>
                        </a:rPr>
                        <a:t>Eliminator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DC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+0.710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5th (Bubble)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RR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+0.630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6th (Bubble)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CSK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+0.415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Eliminated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KKR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-0.340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Eliminated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LSG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-0.290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Eliminated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GT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-0.547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Eliminated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06240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4251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DC4"/>
                </a:solidFill>
              </a:rPr>
              <a:t>Prediction: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RCB's title defense gives them momentum for a dominant 11-3 season. The real battle is for the 4th playoff spot — PBKS, DC, RR, and CSK are separated by just 2 points. GT and KKR face rebuilding seasons after squad overhauls.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xFalcon AnalyticsPro | IPL Analytics Deep Dive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 Early Results — Match-by-Match Tracking</a:t>
            </a:r>
            <a:endParaRPr lang="en-US" sz="2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0467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640080"/>
                <a:gridCol w="1188720"/>
                <a:gridCol w="822960"/>
                <a:gridCol w="731520"/>
                <a:gridCol w="54864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Date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Fixture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Predicted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Actual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Mar 28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RCB vs SRH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RCB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RCB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F46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RCB 203/4 beat SRH 201/9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Mar 29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MI vs KKR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MI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MI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F46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MI 224/4 beat KKR 220/4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Mar 30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RR vs CSK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CSK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RR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91B1B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RR 128/2 beat CSK 127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Mar 31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PBKS vs GT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PBKS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PBKS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F46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PBKS 165/7 beat GT 162/6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Apr 01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LSG vs DC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LSG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DC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91B1B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DC 145/4 beat LSG 141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Apr 02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KKR vs SRH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KKR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SRH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91B1B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SRH 226/8 beat KKR 161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291840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3291840"/>
            <a:ext cx="54864" cy="1005840"/>
          </a:xfrm>
          <a:prstGeom prst="rect">
            <a:avLst/>
          </a:prstGeom>
          <a:solidFill>
            <a:srgbClr val="F7946B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33375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94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of 6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85800" y="38862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Correct (50%)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29000" y="3291840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29000" y="3291840"/>
            <a:ext cx="54864" cy="100584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1" name="Text 8"/>
          <p:cNvSpPr/>
          <p:nvPr/>
        </p:nvSpPr>
        <p:spPr>
          <a:xfrm>
            <a:off x="3566160" y="33375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67.8%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3566160" y="38862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Confidence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309360" y="3291840"/>
            <a:ext cx="23774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09360" y="3291840"/>
            <a:ext cx="54864" cy="1005840"/>
          </a:xfrm>
          <a:prstGeom prst="rect">
            <a:avLst/>
          </a:prstGeom>
          <a:solidFill>
            <a:srgbClr val="E2B93B"/>
          </a:solidFill>
          <a:ln/>
        </p:spPr>
      </p:sp>
      <p:sp>
        <p:nvSpPr>
          <p:cNvPr id="15" name="Text 12"/>
          <p:cNvSpPr/>
          <p:nvPr/>
        </p:nvSpPr>
        <p:spPr>
          <a:xfrm>
            <a:off x="6446520" y="33375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B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Upsets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6446520" y="38862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 teams winning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85800" y="4526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Pattern: Home advantage is weaker than expected — 3 of 6 matches won by the away team (DC, RR, SRH). SRH's 226/8 away demolition of KKR was the biggest surprise.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4864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xFalcon AnalyticsPro | IPL Analytics Deep Dive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COMPARISON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2194560"/>
            <a:ext cx="9144000" cy="3658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317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prediction models backtested across 2021-2025 seasons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Prediction Models — Approaches Compared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914400"/>
            <a:ext cx="54864" cy="86868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60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WCI (Current)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0" y="96012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72.3%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12801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6-factor composite: Win Form (40%), Title Pedigree (15%), Home (10%), Financial (10%), Fan (10%), Squad (15%). Most comprehensive, best at Top-4 prediction.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920240"/>
            <a:ext cx="54864" cy="868680"/>
          </a:xfrm>
          <a:prstGeom prst="rect">
            <a:avLst/>
          </a:prstGeom>
          <a:solidFill>
            <a:srgbClr val="F7946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ELO Rating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0" y="196596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94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68.7%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" y="22860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rating system carried forward across seasons. Updates based on actual vs expected performance. Best at identifying sustained contenders.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926080"/>
            <a:ext cx="54864" cy="8686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Multi-Factor Logistic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32320" y="29718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63.2%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32918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regression: Prior Win Rate (40%), Home (25%), Titles (20%), Trend (15%). Most interpretable model with clear feature attribution.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931920"/>
            <a:ext cx="54864" cy="868680"/>
          </a:xfrm>
          <a:prstGeom prst="rect">
            <a:avLst/>
          </a:prstGeom>
          <a:solidFill>
            <a:srgbClr val="E2B93B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977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Momentum + Recency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32320" y="39776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2B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65.8%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31520" y="42976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season (60%) + N-1 (25%) + N-2 (15%) + momentum bonus. Best at capturing form shifts and emerging teams.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xFalcon AnalyticsPro | IPL Analytics Deep Dive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Backtest Results — Accuracy Comparison (2021-2025)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914400"/>
          <a:ext cx="80467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WCI leads on composite confidence (72.3%), but Momentum uniquely captures upset seasons (CSK 2021, RCB 2025). No model exceeds 40% for outright champion picks.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xFalcon AnalyticsPro | IPL Analytics Deep Dive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Year-by-Year Champion Predictions vs Actual</a:t>
            </a:r>
            <a:endParaRPr lang="en-US" sz="2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0467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Year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 Winner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ECDC4"/>
                          </a:solidFill>
                        </a:rPr>
                        <a:t>WCI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7946B"/>
                          </a:solidFill>
                        </a:rPr>
                        <a:t>ELO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C3AED"/>
                          </a:solidFill>
                        </a:rPr>
                        <a:t>Logistic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2B93B"/>
                          </a:solidFill>
                        </a:rPr>
                        <a:t>Momentum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2021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CSK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91B1B"/>
                          </a:solidFill>
                        </a:rPr>
                        <a:t>MI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91B1B"/>
                          </a:solidFill>
                        </a:rPr>
                        <a:t>MI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91B1B"/>
                          </a:solidFill>
                        </a:rPr>
                        <a:t>MI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5F46"/>
                          </a:solidFill>
                        </a:rPr>
                        <a:t>CSK 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2022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GT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91B1B"/>
                          </a:solidFill>
                        </a:rPr>
                        <a:t>CSK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91B1B"/>
                          </a:solidFill>
                        </a:rPr>
                        <a:t>CSK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91B1B"/>
                          </a:solidFill>
                        </a:rPr>
                        <a:t>MI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91B1B"/>
                          </a:solidFill>
                        </a:rPr>
                        <a:t>DC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2023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CSK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5F46"/>
                          </a:solidFill>
                        </a:rPr>
                        <a:t>CSK 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91B1B"/>
                          </a:solidFill>
                        </a:rPr>
                        <a:t>GT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91B1B"/>
                          </a:solidFill>
                        </a:rPr>
                        <a:t>GT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91B1B"/>
                          </a:solidFill>
                        </a:rPr>
                        <a:t>GT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2024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KKR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5F46"/>
                          </a:solidFill>
                        </a:rPr>
                        <a:t>KKR 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91B1B"/>
                          </a:solidFill>
                        </a:rPr>
                        <a:t>CSK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91B1B"/>
                          </a:solidFill>
                        </a:rPr>
                        <a:t>CSK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91B1B"/>
                          </a:solidFill>
                        </a:rPr>
                        <a:t>GT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2025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RCB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91B1B"/>
                          </a:solidFill>
                        </a:rPr>
                        <a:t>CSK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91B1B"/>
                          </a:solidFill>
                        </a:rPr>
                        <a:t>CSK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91B1B"/>
                          </a:solidFill>
                        </a:rPr>
                        <a:t>KKR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5F46"/>
                          </a:solidFill>
                        </a:rPr>
                        <a:t>RCB 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Accuracy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ECDC4"/>
                          </a:solidFill>
                        </a:rPr>
                        <a:t>2/5 (40%)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</a:rPr>
                        <a:t>0/5 (0%)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</a:rPr>
                        <a:t>0/5 (0%)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2B93B"/>
                          </a:solidFill>
                        </a:rPr>
                        <a:t>2/5 (40%)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74720"/>
            <a:ext cx="80467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35661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4ECDC4"/>
                </a:solidFill>
              </a:rPr>
              <a:t>Key Finding: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IPL champions are extremely hard to predict — the T20 format's variance means even the best models hover around 40% champion accuracy. WCI and Momentum tied at 2/5, but WCI significantly outperforms on Top-4 and Finalist prediction (78% and 83% respectively).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xFalcon AnalyticsPro | IPL Analytics Deep Dive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Ensemble Model — Blending for Better Predictions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73152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754880" y="91440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937760" y="1005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BLEND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937760" y="1371600"/>
            <a:ext cx="3474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~75.4% projected composite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4ECDC4"/>
                </a:solidFill>
              </a:rPr>
              <a:t>+3.1% over WCI alone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WCI (50%):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Best Top-4 and Finalist prediction — provides the stable foundation.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Momentum (30%):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Captures form shifts and emerging teams — caught CSK 2021, RCB 2025.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ELO (20%):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Best consistency score — smooths volatility and anchors long-term trends.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7946B"/>
                </a:solidFill>
              </a:rPr>
              <a:t>Limitation: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Mega-auction years (2022, 2025) reset squads and reduce all model accuracy.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xFalcon AnalyticsPro | IPL Analytics Deep Dive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594360"/>
          </a:xfrm>
          <a:prstGeom prst="rect">
            <a:avLst/>
          </a:prstGeom>
          <a:solidFill>
            <a:srgbClr val="0F1D3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44475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CSK + MI own 10 of 18 titles, but the league is becoming more competitive — 4 different champions in the last 4 years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084832"/>
            <a:ext cx="8046720" cy="594360"/>
          </a:xfrm>
          <a:prstGeom prst="rect">
            <a:avLst/>
          </a:prstGeom>
          <a:solidFill>
            <a:srgbClr val="0F1D3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57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94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215798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 economics exploded: ₹450 Cr (2008) → ₹5,100 Cr (2022). Player valuations grew 3x faster than league revenue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798064"/>
            <a:ext cx="8046720" cy="594360"/>
          </a:xfrm>
          <a:prstGeom prst="rect">
            <a:avLst/>
          </a:prstGeom>
          <a:solidFill>
            <a:srgbClr val="0F1D3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871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B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2871216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revolution: Average match runs rose from 310 (2008) to 369 (2024), driven by Impact Player and T20 evolution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511296"/>
            <a:ext cx="8046720" cy="594360"/>
          </a:xfrm>
          <a:prstGeom prst="rect">
            <a:avLst/>
          </a:prstGeom>
          <a:solidFill>
            <a:srgbClr val="0F1D3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3584448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dominate fan engagement (423M mentions, 705K merch units) but sentiment is uniform — fans are equally passionate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224528"/>
            <a:ext cx="8046720" cy="594360"/>
          </a:xfrm>
          <a:prstGeom prst="rect">
            <a:avLst/>
          </a:prstGeom>
          <a:solidFill>
            <a:srgbClr val="0F1D3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429768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early form shows away upsets rising — DC and SRH are the breakout stories. WCI + Momentum ensemble recommended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xFalcon AnalyticsPro | IPL Analytics Deep Dive |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3658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8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xFalcon AnalyticsPro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sourced from 18 seasons of IPL match results, player statistics, auction records,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engagement metrics, and broadcast data (2008-2026)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xfalcon.ai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91501FD4DDC148AD1E3FAF4074DBCB" ma:contentTypeVersion="10" ma:contentTypeDescription="Create a new document." ma:contentTypeScope="" ma:versionID="23307c1766f35e1813edc1f238b31f69">
  <xsd:schema xmlns:xsd="http://www.w3.org/2001/XMLSchema" xmlns:xs="http://www.w3.org/2001/XMLSchema" xmlns:p="http://schemas.microsoft.com/office/2006/metadata/properties" xmlns:ns2="1d2cd3fc-951f-4e4c-8f77-1331cffdf41d" xmlns:ns3="34e7643f-2a9f-4a64-a4ba-836cf78c5c76" targetNamespace="http://schemas.microsoft.com/office/2006/metadata/properties" ma:root="true" ma:fieldsID="36ef4bd80d09d7a3142c5bd9cda6c92f" ns2:_="" ns3:_="">
    <xsd:import namespace="1d2cd3fc-951f-4e4c-8f77-1331cffdf41d"/>
    <xsd:import namespace="34e7643f-2a9f-4a64-a4ba-836cf78c5c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2cd3fc-951f-4e4c-8f77-1331cffdf4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908c4cd-8667-446b-b651-bab9ad4462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e7643f-2a9f-4a64-a4ba-836cf78c5c7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157cb98-881d-40df-bd60-f2fdacd5fef4}" ma:internalName="TaxCatchAll" ma:showField="CatchAllData" ma:web="34e7643f-2a9f-4a64-a4ba-836cf78c5c7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4e7643f-2a9f-4a64-a4ba-836cf78c5c76" xsi:nil="true"/>
    <lcf76f155ced4ddcb4097134ff3c332f xmlns="1d2cd3fc-951f-4e4c-8f77-1331cffdf41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BCBFC6E-9F09-47D5-B7C8-F89E0360C11A}"/>
</file>

<file path=customXml/itemProps2.xml><?xml version="1.0" encoding="utf-8"?>
<ds:datastoreItem xmlns:ds="http://schemas.openxmlformats.org/officeDocument/2006/customXml" ds:itemID="{2FE66412-20BD-4F27-95C1-39EB2E7633CA}"/>
</file>

<file path=customXml/itemProps3.xml><?xml version="1.0" encoding="utf-8"?>
<ds:datastoreItem xmlns:ds="http://schemas.openxmlformats.org/officeDocument/2006/customXml" ds:itemID="{C984E916-8C77-4FEF-B2E8-722F6C9D6235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IPL Analytics Deep Dive 2008-2026</dc:title>
  <dc:subject>PptxGenJS Presentation</dc:subject>
  <dc:creator>xFalcon AnalyticsPro</dc:creator>
  <cp:lastModifiedBy>xFalcon AnalyticsPro</cp:lastModifiedBy>
  <cp:revision>1</cp:revision>
  <dcterms:created xsi:type="dcterms:W3CDTF">2026-04-04T20:01:19Z</dcterms:created>
  <dcterms:modified xsi:type="dcterms:W3CDTF">2026-04-04T20:01:19Z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0x0101008B91501FD4DDC148AD1E3FAF4074DBCB</vt:lpwstr>
  </property>
</Properties>
</file>