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D355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D3557"/>
                </a:solidFill>
                <a:latin typeface="Arial"/>
              </a:rPr>
              <a:t>Purchase Volume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Volume ($M)</c:v>
                </c:pt>
              </c:strCache>
            </c:strRef>
          </c:tx>
          <c:spPr>
            <a:solidFill>
              <a:srgbClr val="006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October</c:v>
                  </c:pt>
                  <c:pt idx="1">
                    <c:v>November</c:v>
                  </c:pt>
                  <c:pt idx="2">
                    <c:v>December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1.67</c:v>
                </c:pt>
                <c:pt idx="1">
                  <c:v>1.91</c:v>
                </c:pt>
                <c:pt idx="2">
                  <c:v>2.48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D355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D3557"/>
                </a:solidFill>
                <a:latin typeface="Arial"/>
              </a:rPr>
              <a:t>Portfolio Balance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 ($M)</c:v>
                </c:pt>
              </c:strCache>
            </c:strRef>
          </c:tx>
          <c:spPr>
            <a:solidFill>
              <a:srgbClr val="1A7F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October</c:v>
                  </c:pt>
                  <c:pt idx="1">
                    <c:v>November</c:v>
                  </c:pt>
                  <c:pt idx="2">
                    <c:v>December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40.04</c:v>
                </c:pt>
                <c:pt idx="1">
                  <c:v>41.67</c:v>
                </c:pt>
                <c:pt idx="2">
                  <c:v>40.1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006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A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F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1-29 DPD</c:v>
                  </c:pt>
                  <c:pt idx="1">
                    <c:v>30-59 DPD</c:v>
                  </c:pt>
                  <c:pt idx="2">
                    <c:v>60-89 DPD</c:v>
                  </c:pt>
                  <c:pt idx="3">
                    <c:v>90-119 DPD</c:v>
                  </c:pt>
                  <c:pt idx="4">
                    <c:v>120-179 DPD</c:v>
                  </c:pt>
                  <c:pt idx="5">
                    <c:v>180+ DPD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6629</c:v>
                </c:pt>
                <c:pt idx="1">
                  <c:v>4076</c:v>
                </c:pt>
                <c:pt idx="2">
                  <c:v>3451</c:v>
                </c:pt>
                <c:pt idx="3">
                  <c:v>2301</c:v>
                </c:pt>
                <c:pt idx="4">
                  <c:v>1492</c:v>
                </c:pt>
                <c:pt idx="5">
                  <c:v>975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 ($M)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</c:v>
                  </c:pt>
                  <c:pt idx="1">
                    <c:v>Midwest</c:v>
                  </c:pt>
                  <c:pt idx="2">
                    <c:v>Northeast</c:v>
                  </c:pt>
                  <c:pt idx="3">
                    <c:v>Pacific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15.95</c:v>
                </c:pt>
                <c:pt idx="1">
                  <c:v>7.64</c:v>
                </c:pt>
                <c:pt idx="2">
                  <c:v>6.96</c:v>
                </c:pt>
                <c:pt idx="3">
                  <c:v>5.2</c:v>
                </c:pt>
                <c:pt idx="4">
                  <c:v>4.35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57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pPr algn="ctr" indent="0" marL="0">
              <a:buNone/>
            </a:pPr>
            <a:r>
              <a:rPr lang="en-US" sz="6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Business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 |  October – December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Group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&amp; BNPL Portfolio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2025 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reflect Oct–Dec 2025 vs Q4 2024. Portfolio contraction continues but credit quality is improving.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6304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VOLUME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6459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$6.06M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02996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15.2% YoY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1371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46304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BALANCE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97480" y="16459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$121.8M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97480" y="202996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14.5% YoY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371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6592" y="146304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36592" y="16459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$2.30M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36592" y="202996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14.5% YoY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65976" y="1371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75704" y="146304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INCOME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75704" y="16459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$210K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75704" y="202996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16.0% YoY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265176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GMV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" y="2834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$4.40M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8368" y="321868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4.6% YoY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87752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265176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97480" y="2834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56,491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697480" y="321868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14.9% YoY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6592" y="265176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DELINQUENT ACCTS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6592" y="2834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6,745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736592" y="321868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16.4% YoY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65976" y="256032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75704" y="265176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ACCOUNTS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75704" y="2834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1,312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775704" y="3218688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16.0% YoY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While portfolio balances declined ~15%, delinquencies fell faster (−16.4%) — credit quality is strengthening even as the book shrinks. BNPL shows resilience at only −4.6%.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Performance — Q4 2025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0584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840480"/>
            <a:ext cx="8046720" cy="5943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3886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surge: Purchase volume jumped 30% from Oct to Dec ($1.67M → $2.48M), driven by holiday spending. This seasonal lift partially offset the annual decline.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Health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54864" cy="9144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56,491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across Q4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914400"/>
            <a:ext cx="54864" cy="9144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37.9%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13716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Utilization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5544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vs prior year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14400"/>
            <a:ext cx="54864" cy="9144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$2.30M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3716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total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13716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822960"/>
                <a:gridCol w="1005840"/>
                <a:gridCol w="822960"/>
                <a:gridCol w="100584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$754.8K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$41.67M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$785.1K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$70.0K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$757.5K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48640" y="384048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886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held steady at ~37.9% despite balance declines, indicating customers are maintaining spending on smaller credit lines. Fee income ticked up from $69.5K → $71.4K through Q4, a positive signal.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Risk &amp; Delinquency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914400"/>
            <a:ext cx="3474720" cy="1097280"/>
          </a:xfrm>
          <a:prstGeom prst="rect">
            <a:avLst/>
          </a:prstGeom>
          <a:solidFill>
            <a:srgbClr val="F5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40680" y="960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CHARGE-OFFS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406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2,467 accounts  |  $7.74M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4068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DPD buckets represent all charge-off activity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303520" y="2194560"/>
            <a:ext cx="3474720" cy="1097280"/>
          </a:xfrm>
          <a:prstGeom prst="rect">
            <a:avLst/>
          </a:prstGeom>
          <a:solidFill>
            <a:srgbClr val="F5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2240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PERFORMANCE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4068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F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$1.57M recovered  |  20.3%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40680" y="2834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on $7.74M in charge-offs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03520" y="3474720"/>
            <a:ext cx="3474720" cy="50292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35021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Tier Mix (Dec 2025): Super Prime 21.4% | Prime 28.4% | Near Prime 26.1% | Sub/Deep 24.2%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1879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delinquency (1-29 DPD) accounts for 35% of events but resolves without loss. The 120+ DPD charge-off rate of 13% of delinquent events is within acceptable bounds.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BNPL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1920240" cy="54864"/>
          </a:xfrm>
          <a:prstGeom prst="rect">
            <a:avLst/>
          </a:prstGeom>
          <a:solidFill>
            <a:srgbClr val="006AF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143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$4.40M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60020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4.6% YoY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005840"/>
            <a:ext cx="1920240" cy="54864"/>
          </a:xfrm>
          <a:prstGeom prst="rect">
            <a:avLst/>
          </a:prstGeom>
          <a:solidFill>
            <a:srgbClr val="1A7F64"/>
          </a:solidFill>
          <a:ln/>
        </p:spPr>
      </p:sp>
      <p:sp>
        <p:nvSpPr>
          <p:cNvPr id="10" name="Text 8"/>
          <p:cNvSpPr/>
          <p:nvPr/>
        </p:nvSpPr>
        <p:spPr>
          <a:xfrm>
            <a:off x="2807208" y="1143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38,073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07208" y="160020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07208" y="178308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5.0% YoY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05840"/>
            <a:ext cx="1920240" cy="54864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1143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$115.46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56048" y="160020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56048" y="178308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+1.6% YoY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10058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100584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104888" y="114300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04888" y="160020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Paid-in-Full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04888" y="178308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completion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2514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Fee Revenue: </a:t>
            </a:r>
            <a:pPr indent="0" marL="0">
              <a:buNone/>
            </a:pPr>
            <a:r>
              <a:rPr lang="en-US" sz="1400" b="1" dirty="0">
                <a:solidFill>
                  <a:srgbClr val="0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$109.9K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(2.5% take rate on GMV)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BNPL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outperforming core cards: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declined only 4.6% vs card purchase volume down 15.2%, making BNPL the more resilient product line.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holding steady: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of $115.46 shows consumers are maintaining ticket sizes even as order counts decline.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rate opportunity: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15.1%, most BNPL users carry balances — generating interest income but requiring monitoring for delinquency risk.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Retail Partners — Q4 2025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1645920"/>
                <a:gridCol w="1280160"/>
                <a:gridCol w="1280160"/>
                <a:gridCol w="1280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Harrington &amp; Co.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Apparel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85,647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$135.8K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Brackenridge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Apparel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41,394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$60.9K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Boutique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Apparel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28,898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Calloway &amp; Finch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Apparel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Elara Studio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Apparel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Hearthstone 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Furnishings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Morrow &amp; Reed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Furnishings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Interiors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Furnishings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Ashford &amp; Vale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Celeste Maison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1879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Apparel captures 83% of top-10 sales ($15.54M of $18.83M). Harrington &amp; Co. alone drives 40% — a significant concentration risk worth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Distribution — Dec 2025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5156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06440" y="10698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0" y="10698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39.8%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0" y="10698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$15.95M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155448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15727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19.1%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15727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$7.64M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205740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20756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20756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17.4%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89520" y="20756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$6.96M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256032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06440" y="2578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0" y="25786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13.0%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89520" y="2578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$5.20M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3063240"/>
            <a:ext cx="3108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06440" y="30815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0" y="30815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10.8%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89520" y="30815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$4.35M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9593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 holds nearly 40% of portfolio balance — geographic concentration risk. Consider growth initiatives in underweight regions (Pacific 13%, West 11%) to improve diversification.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123444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457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Contraction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balance down 14.5% YoY reflects deliberate tightening. Interest income declined proportionally, suggesting stable yield on remaining book.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23444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Quality Gains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Delinquencies fell 16.4% — faster than portfolio shrinkage. Charge-off rate and recovery rate (20.3%) indicate improving risk profile.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3931920" cy="123444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23160"/>
            <a:ext cx="3931920" cy="457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BNPL Resilience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4.6% GMV decline vs 15.2% card volume drop. BNPL is proving to be the more durable product, with stable AOV of $115.46.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3931920" cy="123444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423160"/>
            <a:ext cx="3931920" cy="457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 Momentum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purchase volume hit $2.48M (+48% vs Oct). Holiday season demonstrated the portfolio still has strong spending capacity.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 FOCUS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Stabilize originations through expanded merchant partnerships and targeted acquisition campaigns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Optimize credit models to sustain the improving delinquency trajectory into Q1 2026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Scale BNPL as the primary growth engine — target 10% GMV increase by expanding merchant network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pPr algn="ctr"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2700">
            <a:solidFill>
              <a:srgbClr val="457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Finance  |  Q4 2025 QBR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392A553-1B3E-4A12-BB76-E3583C6CBDD4}"/>
</file>

<file path=customXml/itemProps2.xml><?xml version="1.0" encoding="utf-8"?>
<ds:datastoreItem xmlns:ds="http://schemas.openxmlformats.org/officeDocument/2006/customXml" ds:itemID="{66E83FE9-0758-474B-802C-19AD91E0A161}"/>
</file>

<file path=customXml/itemProps3.xml><?xml version="1.0" encoding="utf-8"?>
<ds:datastoreItem xmlns:ds="http://schemas.openxmlformats.org/officeDocument/2006/customXml" ds:itemID="{9246C964-719B-4D03-A738-017789DE0F9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2025 Quarterly Business Review</dc:title>
  <dc:subject>PptxGenJS Presentation</dc:subject>
  <dc:creator>Falcon Finance</dc:creator>
  <cp:lastModifiedBy>Falcon Finance</cp:lastModifiedBy>
  <cp:revision>1</cp:revision>
  <dcterms:created xsi:type="dcterms:W3CDTF">2026-03-28T14:19:02Z</dcterms:created>
  <dcterms:modified xsi:type="dcterms:W3CDTF">2026-03-28T14:19:02Z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