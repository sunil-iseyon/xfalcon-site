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Arial"/>
              </a:rPr>
              <a:t>Monthly Revenue — H2 2025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E02B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02B2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02B2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02B2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A1A1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A1A1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A1A1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Jul</c:v>
                  </c:pt>
                  <c:pt idx="1">
                    <c:v>Aug</c:v>
                  </c:pt>
                  <c:pt idx="2">
                    <c:v>Sep</c:v>
                  </c:pt>
                  <c:pt idx="3">
                    <c:v>Oct</c:v>
                  </c:pt>
                  <c:pt idx="4">
                    <c:v>Nov</c:v>
                  </c:pt>
                  <c:pt idx="5">
                    <c:v>Dec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81605</c:v>
                </c:pt>
                <c:pt idx="1">
                  <c:v>48159</c:v>
                </c:pt>
                <c:pt idx="2">
                  <c:v>104972</c:v>
                </c:pt>
                <c:pt idx="3">
                  <c:v>61471</c:v>
                </c:pt>
                <c:pt idx="4">
                  <c:v>120936</c:v>
                </c:pt>
                <c:pt idx="5">
                  <c:v>51625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Arial"/>
              </a:rPr>
              <a:t>Revenue by Category — Q3 vs Q4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Q3</c:v>
                </c:pt>
              </c:strCache>
            </c:strRef>
          </c:tx>
          <c:spPr>
            <a:solidFill>
              <a:srgbClr val="E02B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Equipment</c:v>
                  </c:pt>
                  <c:pt idx="1">
                    <c:v>Autobody Tools</c:v>
                  </c:pt>
                  <c:pt idx="2">
                    <c:v>Paint &amp; Coatings</c:v>
                  </c:pt>
                  <c:pt idx="3">
                    <c:v>Shop Supplies</c:v>
                  </c:pt>
                  <c:pt idx="4">
                    <c:v>Abrasives</c:v>
                  </c:pt>
                  <c:pt idx="5">
                    <c:v>Safety &amp; PPE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146456</c:v>
                </c:pt>
                <c:pt idx="1">
                  <c:v>57905</c:v>
                </c:pt>
                <c:pt idx="2">
                  <c:v>12618</c:v>
                </c:pt>
                <c:pt idx="3">
                  <c:v>7981</c:v>
                </c:pt>
                <c:pt idx="4">
                  <c:v>5357</c:v>
                </c:pt>
                <c:pt idx="5">
                  <c:v>4418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Q4</c:v>
                </c:pt>
              </c:strCache>
            </c:strRef>
          </c:tx>
          <c:spPr>
            <a:solidFill>
              <a:srgbClr val="1A1A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Equipment</c:v>
                  </c:pt>
                  <c:pt idx="1">
                    <c:v>Autobody Tools</c:v>
                  </c:pt>
                  <c:pt idx="2">
                    <c:v>Paint &amp; Coatings</c:v>
                  </c:pt>
                  <c:pt idx="3">
                    <c:v>Shop Supplies</c:v>
                  </c:pt>
                  <c:pt idx="4">
                    <c:v>Abrasives</c:v>
                  </c:pt>
                  <c:pt idx="5">
                    <c:v>Safety &amp; PPE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144955</c:v>
                </c:pt>
                <c:pt idx="1">
                  <c:v>56090</c:v>
                </c:pt>
                <c:pt idx="2">
                  <c:v>14668</c:v>
                </c:pt>
                <c:pt idx="3">
                  <c:v>9744</c:v>
                </c:pt>
                <c:pt idx="4">
                  <c:v>5439</c:v>
                </c:pt>
                <c:pt idx="5">
                  <c:v>3136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Arial"/>
              </a:rPr>
              <a:t>Lead Status — Q3 2025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7D32"/>
              </a:solidFill>
              <a:effectLst/>
            </c:spPr>
          </c:dPt>
          <c:dPt>
            <c:idx val="1"/>
            <c:bubble3D val="0"/>
            <c:spPr>
              <a:solidFill>
                <a:srgbClr val="E02B20"/>
              </a:solidFill>
              <a:effectLst/>
            </c:spPr>
          </c:dPt>
          <c:dPt>
            <c:idx val="2"/>
            <c:bubble3D val="0"/>
            <c:spPr>
              <a:solidFill>
                <a:srgbClr val="F9A82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Converted</c:v>
                </c:pt>
                <c:pt idx="1">
                  <c:v>Lost</c:v>
                </c:pt>
                <c:pt idx="2">
                  <c:v>Proposal Sent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12</c:v>
                </c:pt>
                <c:pt idx="1">
                  <c:v>5</c:v>
                </c:pt>
                <c:pt idx="2">
                  <c:v>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Arial"/>
              </a:rPr>
              <a:t>Lead Sources — Q3 2025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Leads</c:v>
                </c:pt>
              </c:strCache>
            </c:strRef>
          </c:tx>
          <c:spPr>
            <a:solidFill>
              <a:srgbClr val="E02B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Web Form</c:v>
                  </c:pt>
                  <c:pt idx="1">
                    <c:v>Direct Mail</c:v>
                  </c:pt>
                  <c:pt idx="2">
                    <c:v>Referral</c:v>
                  </c:pt>
                  <c:pt idx="3">
                    <c:v>Cold Outreach</c:v>
                  </c:pt>
                  <c:pt idx="4">
                    <c:v>Trade Show</c:v>
                  </c:pt>
                  <c:pt idx="5">
                    <c:v>Partner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</c:v>
                </c:pt>
                <c:pt idx="1">
                  <c:v>4</c:v>
                </c:pt>
                <c:pt idx="2">
                  <c:v>4</c:v>
                </c:pt>
                <c:pt idx="3">
                  <c:v>2</c:v>
                </c:pt>
                <c:pt idx="4">
                  <c:v>2</c:v>
                </c:pt>
                <c:pt idx="5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Arial"/>
              </a:rPr>
              <a:t>Revenue by Membership Tier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Q3</c:v>
                </c:pt>
              </c:strCache>
            </c:strRef>
          </c:tx>
          <c:spPr>
            <a:solidFill>
              <a:srgbClr val="E02B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Elite</c:v>
                  </c:pt>
                  <c:pt idx="1">
                    <c:v>Preferred</c:v>
                  </c:pt>
                  <c:pt idx="2">
                    <c:v>Standard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97126</c:v>
                </c:pt>
                <c:pt idx="1">
                  <c:v>73394</c:v>
                </c:pt>
                <c:pt idx="2">
                  <c:v>64215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Q4</c:v>
                </c:pt>
              </c:strCache>
            </c:strRef>
          </c:tx>
          <c:spPr>
            <a:solidFill>
              <a:srgbClr val="1A1A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Elite</c:v>
                  </c:pt>
                  <c:pt idx="1">
                    <c:v>Preferred</c:v>
                  </c:pt>
                  <c:pt idx="2">
                    <c:v>Standard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94263</c:v>
                </c:pt>
                <c:pt idx="1">
                  <c:v>100026</c:v>
                </c:pt>
                <c:pt idx="2">
                  <c:v>39743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Arial"/>
              </a:rPr>
              <a:t>Revenue by Region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Q3</c:v>
                </c:pt>
              </c:strCache>
            </c:strRef>
          </c:tx>
          <c:spPr>
            <a:solidFill>
              <a:srgbClr val="E02B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Southeast</c:v>
                  </c:pt>
                  <c:pt idx="1">
                    <c:v>Midwest</c:v>
                  </c:pt>
                  <c:pt idx="2">
                    <c:v>West</c:v>
                  </c:pt>
                  <c:pt idx="3">
                    <c:v>Northeast</c:v>
                  </c:pt>
                  <c:pt idx="4">
                    <c:v>Southwest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63016</c:v>
                </c:pt>
                <c:pt idx="1">
                  <c:v>61992</c:v>
                </c:pt>
                <c:pt idx="2">
                  <c:v>48129</c:v>
                </c:pt>
                <c:pt idx="3">
                  <c:v>25409</c:v>
                </c:pt>
                <c:pt idx="4">
                  <c:v>36189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Q4</c:v>
                </c:pt>
              </c:strCache>
            </c:strRef>
          </c:tx>
          <c:spPr>
            <a:solidFill>
              <a:srgbClr val="1A1A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Southeast</c:v>
                  </c:pt>
                  <c:pt idx="1">
                    <c:v>Midwest</c:v>
                  </c:pt>
                  <c:pt idx="2">
                    <c:v>West</c:v>
                  </c:pt>
                  <c:pt idx="3">
                    <c:v>Northeast</c:v>
                  </c:pt>
                  <c:pt idx="4">
                    <c:v>Southwest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60065</c:v>
                </c:pt>
                <c:pt idx="1">
                  <c:v>42530</c:v>
                </c:pt>
                <c:pt idx="2">
                  <c:v>58289</c:v>
                </c:pt>
                <c:pt idx="3">
                  <c:v>59836</c:v>
                </c:pt>
                <c:pt idx="4">
                  <c:v>13312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Arial"/>
              </a:rPr>
              <a:t>Top 5 Program Enrollments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Q3</c:v>
                </c:pt>
              </c:strCache>
            </c:strRef>
          </c:tx>
          <c:spPr>
            <a:solidFill>
              <a:srgbClr val="E02B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Utilities Optimization</c:v>
                  </c:pt>
                  <c:pt idx="1">
                    <c:v>Financial Services</c:v>
                  </c:pt>
                  <c:pt idx="2">
                    <c:v>Shop Equipment Leasing</c:v>
                  </c:pt>
                  <c:pt idx="3">
                    <c:v>Oil &amp; Lubricants</c:v>
                  </c:pt>
                  <c:pt idx="4">
                    <c:v>Safety &amp; Compliance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6</c:v>
                </c:pt>
                <c:pt idx="2">
                  <c:v>5</c:v>
                </c:pt>
                <c:pt idx="3">
                  <c:v>4</c:v>
                </c:pt>
                <c:pt idx="4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Q4</c:v>
                </c:pt>
              </c:strCache>
            </c:strRef>
          </c:tx>
          <c:spPr>
            <a:solidFill>
              <a:srgbClr val="1A1A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Utilities Optimization</c:v>
                  </c:pt>
                  <c:pt idx="1">
                    <c:v>Financial Services</c:v>
                  </c:pt>
                  <c:pt idx="2">
                    <c:v>Shop Equipment Leasing</c:v>
                  </c:pt>
                  <c:pt idx="3">
                    <c:v>Oil &amp; Lubricants</c:v>
                  </c:pt>
                  <c:pt idx="4">
                    <c:v>Safety &amp; Compliance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</c:v>
                </c:pt>
                <c:pt idx="1">
                  <c:v>0</c:v>
                </c:pt>
                <c:pt idx="2">
                  <c:v>4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Arial"/>
              </a:rPr>
              <a:t>Top 5 Vendors by Revenue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Q3</c:v>
                </c:pt>
              </c:strCache>
            </c:strRef>
          </c:tx>
          <c:spPr>
            <a:solidFill>
              <a:srgbClr val="E02B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TorqMaster Equipment</c:v>
                  </c:pt>
                  <c:pt idx="1">
                    <c:v>Alpha Surface</c:v>
                  </c:pt>
                  <c:pt idx="2">
                    <c:v>PrecisionSpray LLC</c:v>
                  </c:pt>
                  <c:pt idx="3">
                    <c:v>BodRight Tools</c:v>
                  </c:pt>
                  <c:pt idx="4">
                    <c:v>ProCoat Industries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146456</c:v>
                </c:pt>
                <c:pt idx="1">
                  <c:v>31200</c:v>
                </c:pt>
                <c:pt idx="2">
                  <c:v>16383</c:v>
                </c:pt>
                <c:pt idx="3">
                  <c:v>13480</c:v>
                </c:pt>
                <c:pt idx="4">
                  <c:v>9460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Q4</c:v>
                </c:pt>
              </c:strCache>
            </c:strRef>
          </c:tx>
          <c:spPr>
            <a:solidFill>
              <a:srgbClr val="1A1A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TorqMaster Equipment</c:v>
                  </c:pt>
                  <c:pt idx="1">
                    <c:v>Alpha Surface</c:v>
                  </c:pt>
                  <c:pt idx="2">
                    <c:v>PrecisionSpray LLC</c:v>
                  </c:pt>
                  <c:pt idx="3">
                    <c:v>BodRight Tools</c:v>
                  </c:pt>
                  <c:pt idx="4">
                    <c:v>ProCoat Industries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144955</c:v>
                </c:pt>
                <c:pt idx="1">
                  <c:v>35082</c:v>
                </c:pt>
                <c:pt idx="2">
                  <c:v>12515</c:v>
                </c:pt>
                <c:pt idx="3">
                  <c:v>11413</c:v>
                </c:pt>
                <c:pt idx="4">
                  <c:v>11749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QUARTERLY BUSINESS REVIEW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2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&amp; Q4 2025 (Jul — Dec)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Falcon Auto B2B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&amp; Executive Audience | March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572768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572768" cy="45720"/>
          </a:xfrm>
          <a:prstGeom prst="rect">
            <a:avLst/>
          </a:prstGeom>
          <a:solidFill>
            <a:srgbClr val="E02B2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70432"/>
            <a:ext cx="256032" cy="2560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84632" y="1152144"/>
            <a:ext cx="292608" cy="292608"/>
          </a:xfrm>
          <a:prstGeom prst="ellipse">
            <a:avLst/>
          </a:prstGeom>
          <a:solidFill>
            <a:srgbClr val="E02B2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1188720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0352" y="1481328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 Revenue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30352" y="1664208"/>
            <a:ext cx="1426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$469K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30352" y="1938528"/>
            <a:ext cx="1426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Q3: $235K | Q4: $234K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2167128" y="1051560"/>
            <a:ext cx="1572768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167128" y="1051560"/>
            <a:ext cx="1572768" cy="45720"/>
          </a:xfrm>
          <a:prstGeom prst="rect">
            <a:avLst/>
          </a:prstGeom>
          <a:solidFill>
            <a:srgbClr val="E02B2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848" y="1170432"/>
            <a:ext cx="256032" cy="25603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194560" y="1152144"/>
            <a:ext cx="292608" cy="292608"/>
          </a:xfrm>
          <a:prstGeom prst="ellipse">
            <a:avLst/>
          </a:prstGeom>
          <a:solidFill>
            <a:srgbClr val="E02B20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1136" y="1188720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240280" y="1481328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Orders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2240280" y="1664208"/>
            <a:ext cx="1426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601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2240280" y="1938528"/>
            <a:ext cx="1426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Q3: 311 | Q4: 290</a:t>
            </a:r>
            <a:endParaRPr lang="en-US" sz="800" dirty="0"/>
          </a:p>
        </p:txBody>
      </p:sp>
      <p:sp>
        <p:nvSpPr>
          <p:cNvPr id="20" name="Shape 14"/>
          <p:cNvSpPr/>
          <p:nvPr/>
        </p:nvSpPr>
        <p:spPr>
          <a:xfrm>
            <a:off x="3877056" y="1051560"/>
            <a:ext cx="1572768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3877056" y="1051560"/>
            <a:ext cx="1572768" cy="45720"/>
          </a:xfrm>
          <a:prstGeom prst="rect">
            <a:avLst/>
          </a:prstGeom>
          <a:solidFill>
            <a:srgbClr val="E02B20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2776" y="1170432"/>
            <a:ext cx="256032" cy="256032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3904488" y="1152144"/>
            <a:ext cx="292608" cy="292608"/>
          </a:xfrm>
          <a:prstGeom prst="ellipse">
            <a:avLst/>
          </a:prstGeom>
          <a:solidFill>
            <a:srgbClr val="E02B20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1064" y="1188720"/>
            <a:ext cx="219456" cy="21945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950208" y="1481328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Savings</a:t>
            </a:r>
            <a:endParaRPr lang="en-US" sz="900" dirty="0"/>
          </a:p>
        </p:txBody>
      </p:sp>
      <p:sp>
        <p:nvSpPr>
          <p:cNvPr id="26" name="Text 18"/>
          <p:cNvSpPr/>
          <p:nvPr/>
        </p:nvSpPr>
        <p:spPr>
          <a:xfrm>
            <a:off x="3950208" y="1664208"/>
            <a:ext cx="1426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$99K</a:t>
            </a:r>
            <a:endParaRPr lang="en-US" sz="2200" dirty="0"/>
          </a:p>
        </p:txBody>
      </p:sp>
      <p:sp>
        <p:nvSpPr>
          <p:cNvPr id="27" name="Text 19"/>
          <p:cNvSpPr/>
          <p:nvPr/>
        </p:nvSpPr>
        <p:spPr>
          <a:xfrm>
            <a:off x="3950208" y="1938528"/>
            <a:ext cx="1426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17.6% avg vs MSRP</a:t>
            </a:r>
            <a:endParaRPr lang="en-US" sz="800" dirty="0"/>
          </a:p>
        </p:txBody>
      </p:sp>
      <p:sp>
        <p:nvSpPr>
          <p:cNvPr id="28" name="Shape 20"/>
          <p:cNvSpPr/>
          <p:nvPr/>
        </p:nvSpPr>
        <p:spPr>
          <a:xfrm>
            <a:off x="5586984" y="1051560"/>
            <a:ext cx="1572768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5586984" y="1051560"/>
            <a:ext cx="1572768" cy="45720"/>
          </a:xfrm>
          <a:prstGeom prst="rect">
            <a:avLst/>
          </a:prstGeom>
          <a:solidFill>
            <a:srgbClr val="E02B20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32704" y="1170432"/>
            <a:ext cx="256032" cy="256032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5614416" y="1152144"/>
            <a:ext cx="292608" cy="292608"/>
          </a:xfrm>
          <a:prstGeom prst="ellipse">
            <a:avLst/>
          </a:prstGeom>
          <a:solidFill>
            <a:srgbClr val="E02B20"/>
          </a:solidFill>
          <a:ln/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50992" y="1188720"/>
            <a:ext cx="219456" cy="219456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660136" y="1481328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Customers</a:t>
            </a:r>
            <a:endParaRPr lang="en-US" sz="900" dirty="0"/>
          </a:p>
        </p:txBody>
      </p:sp>
      <p:sp>
        <p:nvSpPr>
          <p:cNvPr id="34" name="Text 24"/>
          <p:cNvSpPr/>
          <p:nvPr/>
        </p:nvSpPr>
        <p:spPr>
          <a:xfrm>
            <a:off x="5660136" y="1664208"/>
            <a:ext cx="1426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155</a:t>
            </a:r>
            <a:endParaRPr lang="en-US" sz="2200" dirty="0"/>
          </a:p>
        </p:txBody>
      </p:sp>
      <p:sp>
        <p:nvSpPr>
          <p:cNvPr id="35" name="Text 25"/>
          <p:cNvSpPr/>
          <p:nvPr/>
        </p:nvSpPr>
        <p:spPr>
          <a:xfrm>
            <a:off x="5660136" y="1938528"/>
            <a:ext cx="1426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Q3: 108 | Q4: 115</a:t>
            </a:r>
            <a:endParaRPr lang="en-US" sz="800" dirty="0"/>
          </a:p>
        </p:txBody>
      </p:sp>
      <p:sp>
        <p:nvSpPr>
          <p:cNvPr id="36" name="Shape 26"/>
          <p:cNvSpPr/>
          <p:nvPr/>
        </p:nvSpPr>
        <p:spPr>
          <a:xfrm>
            <a:off x="7296912" y="1051560"/>
            <a:ext cx="1572768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7296912" y="1051560"/>
            <a:ext cx="1572768" cy="45720"/>
          </a:xfrm>
          <a:prstGeom prst="rect">
            <a:avLst/>
          </a:prstGeom>
          <a:solidFill>
            <a:srgbClr val="E02B20"/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42632" y="1170432"/>
            <a:ext cx="256032" cy="256032"/>
          </a:xfrm>
          <a:prstGeom prst="rect">
            <a:avLst/>
          </a:prstGeom>
        </p:spPr>
      </p:pic>
      <p:sp>
        <p:nvSpPr>
          <p:cNvPr id="39" name="Shape 28"/>
          <p:cNvSpPr/>
          <p:nvPr/>
        </p:nvSpPr>
        <p:spPr>
          <a:xfrm>
            <a:off x="7324344" y="1152144"/>
            <a:ext cx="292608" cy="292608"/>
          </a:xfrm>
          <a:prstGeom prst="ellipse">
            <a:avLst/>
          </a:prstGeom>
          <a:solidFill>
            <a:srgbClr val="E02B20"/>
          </a:solidFill>
          <a:ln/>
        </p:spPr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60920" y="1188720"/>
            <a:ext cx="219456" cy="219456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7370064" y="1481328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Analyses</a:t>
            </a:r>
            <a:endParaRPr lang="en-US" sz="900" dirty="0"/>
          </a:p>
        </p:txBody>
      </p:sp>
      <p:sp>
        <p:nvSpPr>
          <p:cNvPr id="42" name="Text 30"/>
          <p:cNvSpPr/>
          <p:nvPr/>
        </p:nvSpPr>
        <p:spPr>
          <a:xfrm>
            <a:off x="7370064" y="1664208"/>
            <a:ext cx="1426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200" dirty="0"/>
          </a:p>
        </p:txBody>
      </p:sp>
      <p:sp>
        <p:nvSpPr>
          <p:cNvPr id="43" name="Text 31"/>
          <p:cNvSpPr/>
          <p:nvPr/>
        </p:nvSpPr>
        <p:spPr>
          <a:xfrm>
            <a:off x="7370064" y="1938528"/>
            <a:ext cx="1426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$1.05M est. savings</a:t>
            </a:r>
            <a:endParaRPr lang="en-US" sz="800" dirty="0"/>
          </a:p>
        </p:txBody>
      </p:sp>
      <p:sp>
        <p:nvSpPr>
          <p:cNvPr id="44" name="Text 32"/>
          <p:cNvSpPr/>
          <p:nvPr/>
        </p:nvSpPr>
        <p:spPr>
          <a:xfrm>
            <a:off x="457200" y="2423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Highlights</a:t>
            </a:r>
            <a:endParaRPr lang="en-US" sz="1400" dirty="0"/>
          </a:p>
        </p:txBody>
      </p:sp>
      <p:sp>
        <p:nvSpPr>
          <p:cNvPr id="45" name="Text 33"/>
          <p:cNvSpPr/>
          <p:nvPr/>
        </p:nvSpPr>
        <p:spPr>
          <a:xfrm>
            <a:off x="457200" y="274320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was evenly split between Q3 ($235K) and Q4 ($234K) — stable demand across H2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base grew 6.5% QoQ (108 → 115), but avg revenue per customer declined 6.4%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Northeast region surged +135% in Q4 revenue; Southwest declined 63%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activity increased 25% QoQ despite 58% drop in new program enrollments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cost analyses completed, identifying $1.05M in estimated savings (17.3% avg rate)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Sales &amp; Revenue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05840"/>
          <a:ext cx="50292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051560"/>
            <a:ext cx="30175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760720" y="1051560"/>
            <a:ext cx="3017520" cy="45720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7" name="Text 4"/>
          <p:cNvSpPr/>
          <p:nvPr/>
        </p:nvSpPr>
        <p:spPr>
          <a:xfrm>
            <a:off x="5852160" y="11247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2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2025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43600" y="139903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$235K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943600" y="176479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949440" y="139903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311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949440" y="176479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772400" y="139903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1,782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772400" y="176479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760720" y="2606040"/>
            <a:ext cx="30175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760720" y="2606040"/>
            <a:ext cx="3017520" cy="45720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16" name="Text 13"/>
          <p:cNvSpPr/>
          <p:nvPr/>
        </p:nvSpPr>
        <p:spPr>
          <a:xfrm>
            <a:off x="5852160" y="26791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2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2025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943600" y="29535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$234K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5943600" y="331927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949440" y="295351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290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6949440" y="331927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7772400" y="295351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1,753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7772400" y="331927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57200" y="379476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57200" y="3794760"/>
            <a:ext cx="54864" cy="1005840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25" name="Text 22"/>
          <p:cNvSpPr/>
          <p:nvPr/>
        </p:nvSpPr>
        <p:spPr>
          <a:xfrm>
            <a:off x="640080" y="38404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2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Finding: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held flat QoQ, but avg unit price declined 5.7% ($142 → $134). Equipment drives 62% of revenue with only 4.8% of units. September ($105K) and November ($121K) were peak months.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Category Performance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05840"/>
          <a:ext cx="50292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005840"/>
          <a:ext cx="3200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548640"/>
                <a:gridCol w="548640"/>
                <a:gridCol w="548640"/>
                <a:gridCol w="640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Q3 Rev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Q4 Rev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QoQ 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Savings 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Equipment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$146K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$145K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-1.0%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~17-18%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Autobody Tools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$58K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$56K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-3.1%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~17-18%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Paint &amp; Coatings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$13K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$15K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16.2%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~17-18%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Shop Supplies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$8K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$10K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22.1%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~17-18%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Abrasives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$5K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$5K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1.5%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~17-18%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Safety &amp; PPE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$4K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$3K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-29.0%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~17-18%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Lead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9202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920240" cy="45720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430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Leads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560320" y="1051560"/>
            <a:ext cx="19202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0" y="1051560"/>
            <a:ext cx="1920240" cy="457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11430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651760" y="13716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51560"/>
            <a:ext cx="19202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051560"/>
            <a:ext cx="1920240" cy="45720"/>
          </a:xfrm>
          <a:prstGeom prst="rect">
            <a:avLst/>
          </a:prstGeom>
          <a:solidFill>
            <a:srgbClr val="4A7C9B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1430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 Rate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0" y="13716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766560" y="1051560"/>
            <a:ext cx="19202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66560" y="1051560"/>
            <a:ext cx="1920240" cy="457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11430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0" y="13716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457200" y="2103120"/>
          <a:ext cx="41148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1" name="Chart 1" descr=""/>
          <p:cNvGraphicFramePr/>
          <p:nvPr/>
        </p:nvGraphicFramePr>
        <p:xfrm>
          <a:off x="4754880" y="2103120"/>
          <a:ext cx="41148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Text 18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Q4 2025 lead pipeline data not yet available in system.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 Analysis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05840"/>
          <a:ext cx="41148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754880" y="1005840"/>
          <a:ext cx="41148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520440"/>
            <a:ext cx="8229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457200" y="3520440"/>
            <a:ext cx="54864" cy="1234440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8" name="Text 4"/>
          <p:cNvSpPr/>
          <p:nvPr/>
        </p:nvSpPr>
        <p:spPr>
          <a:xfrm>
            <a:off x="640080" y="3566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2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Insights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40080" y="384048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 tier overtook Elite in Q4 ($100K vs $94K) with 23% higher spend per customer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tier declined 38% — needs targeted re-engagement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Northeast surged +135% in Q4; Southwest fell 63% — investigate regional shifts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Programs &amp; Engagement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05840"/>
          <a:ext cx="50292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005840"/>
            <a:ext cx="30175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760720" y="1005840"/>
            <a:ext cx="3017520" cy="457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4"/>
          <p:cNvSpPr/>
          <p:nvPr/>
        </p:nvSpPr>
        <p:spPr>
          <a:xfrm>
            <a:off x="5852160" y="109728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Activity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0" y="13716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Q3: 417 events (118 orgs)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Q4: 521 events (137 orgs)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+24.9% QoQ growth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760720" y="2377440"/>
            <a:ext cx="30175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60720" y="2377440"/>
            <a:ext cx="3017520" cy="4572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1" name="Text 8"/>
          <p:cNvSpPr/>
          <p:nvPr/>
        </p:nvSpPr>
        <p:spPr>
          <a:xfrm>
            <a:off x="5852160" y="246888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Items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943600" y="27432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Enrollments dropped 58% QoQ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2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Services: 6 → 0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&amp; Recycling grew: 1 → 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3840480"/>
            <a:ext cx="54864" cy="914400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8862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2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members are more engaged than ever (+25% activity), but new enrollment velocity has stalled. Recommend a Q1 2026 enrollment campaign targeting lapsed and new organizations.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Cost Savings &amp; Vendor Analysis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05840"/>
          <a:ext cx="50292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005840"/>
            <a:ext cx="30175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760720" y="1005840"/>
            <a:ext cx="3017520" cy="45720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7" name="Text 4"/>
          <p:cNvSpPr/>
          <p:nvPr/>
        </p:nvSpPr>
        <p:spPr>
          <a:xfrm>
            <a:off x="5852160" y="10972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Analysis Summary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43600" y="1417320"/>
            <a:ext cx="274320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Submissions: 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total (Q3: 11, Q4: 14)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Completed: 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of 25 (68% rate)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Analyzed: 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$9.6M total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Savings: 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$1.05M (17.3% avg)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Momentum: </a:t>
            </a:r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+27% more submissions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379476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3794760"/>
            <a:ext cx="54864" cy="1005840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8404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2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Insight: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TorqMaster Equipment accounts for 62% of H2 revenue ($291K). 8 of 10 active vendors are Direct Partners. CleanRun Chemicals and ClearView Glass (Indirect) represent only 2% of revenue — evaluate partnership upgrade potential.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Strategic 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" cy="1143000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143000"/>
            <a:ext cx="411480" cy="411480"/>
          </a:xfrm>
          <a:prstGeom prst="ellipse">
            <a:avLst/>
          </a:prstGeom>
          <a:solidFill>
            <a:srgbClr val="E02B2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20700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Re-engage Standard Tier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88720" y="14173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dropped 38% QoQ. Launch targeted outreach with promotions to win back spending.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233172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2331720"/>
            <a:ext cx="54864" cy="11430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Shape 9"/>
          <p:cNvSpPr/>
          <p:nvPr/>
        </p:nvSpPr>
        <p:spPr>
          <a:xfrm>
            <a:off x="640080" y="2468880"/>
            <a:ext cx="411480" cy="4114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253288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88720" y="2423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Capitalize on Northeast Growth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188720" y="27432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surged +135% in Q4. Invest in dedicated rep coverage and marketing.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57200" y="365760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3657600"/>
            <a:ext cx="54864" cy="1143000"/>
          </a:xfrm>
          <a:prstGeom prst="rect">
            <a:avLst/>
          </a:prstGeom>
          <a:solidFill>
            <a:srgbClr val="4A7C9B"/>
          </a:solidFill>
          <a:ln/>
        </p:spPr>
      </p:sp>
      <p:sp>
        <p:nvSpPr>
          <p:cNvPr id="18" name="Shape 14"/>
          <p:cNvSpPr/>
          <p:nvPr/>
        </p:nvSpPr>
        <p:spPr>
          <a:xfrm>
            <a:off x="640080" y="3794760"/>
            <a:ext cx="411480" cy="411480"/>
          </a:xfrm>
          <a:prstGeom prst="ellipse">
            <a:avLst/>
          </a:prstGeom>
          <a:solidFill>
            <a:srgbClr val="4A7C9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3858768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88720" y="3749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Campaign Q1 2026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188720" y="40690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enrollments fell 58%. Run campaigns for Financial Services, Capital Equipment.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754880" y="100584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754880" y="1005840"/>
            <a:ext cx="54864" cy="11430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4" name="Shape 19"/>
          <p:cNvSpPr/>
          <p:nvPr/>
        </p:nvSpPr>
        <p:spPr>
          <a:xfrm>
            <a:off x="4937760" y="1143000"/>
            <a:ext cx="411480" cy="4114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1207008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48640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Diversify Vendor Revenue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5486400" y="14173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TorqMaster is 62% of revenue. Grow Alpha Surface and mid-tier vendors.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754880" y="233172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754880" y="2331720"/>
            <a:ext cx="54864" cy="1143000"/>
          </a:xfrm>
          <a:prstGeom prst="rect">
            <a:avLst/>
          </a:prstGeom>
          <a:solidFill>
            <a:srgbClr val="8E6BBF"/>
          </a:solidFill>
          <a:ln/>
        </p:spPr>
      </p:sp>
      <p:sp>
        <p:nvSpPr>
          <p:cNvPr id="30" name="Shape 24"/>
          <p:cNvSpPr/>
          <p:nvPr/>
        </p:nvSpPr>
        <p:spPr>
          <a:xfrm>
            <a:off x="4937760" y="2468880"/>
            <a:ext cx="411480" cy="411480"/>
          </a:xfrm>
          <a:prstGeom prst="ellipse">
            <a:avLst/>
          </a:prstGeom>
          <a:solidFill>
            <a:srgbClr val="8E6BBF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1768" y="2532888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486400" y="2423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Cost Analysis Program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5486400" y="27432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analyses identified $1.05M in savings. Target 40+ analyses in Q1-Q2 2026.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4754880" y="365760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4754880" y="3657600"/>
            <a:ext cx="54864" cy="1143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6" name="Shape 29"/>
          <p:cNvSpPr/>
          <p:nvPr/>
        </p:nvSpPr>
        <p:spPr>
          <a:xfrm>
            <a:off x="4937760" y="3794760"/>
            <a:ext cx="411480" cy="411480"/>
          </a:xfrm>
          <a:prstGeom prst="ellipse">
            <a:avLst/>
          </a:prstGeom>
          <a:solidFill>
            <a:srgbClr val="1A1A1A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1768" y="3858768"/>
            <a:ext cx="274320" cy="27432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5486400" y="3749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 Southwest Decline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5486400" y="40690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dropped 63% QoQ. Root-cause analysis needed (rep turnover? customer churn?).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spc="5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2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Business Review — Q3 &amp; Q4 2025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Falcon Auto B2B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840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Contact chandan.pandey@iseyon.com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91501FD4DDC148AD1E3FAF4074DBCB" ma:contentTypeVersion="10" ma:contentTypeDescription="Create a new document." ma:contentTypeScope="" ma:versionID="23307c1766f35e1813edc1f238b31f69">
  <xsd:schema xmlns:xsd="http://www.w3.org/2001/XMLSchema" xmlns:xs="http://www.w3.org/2001/XMLSchema" xmlns:p="http://schemas.microsoft.com/office/2006/metadata/properties" xmlns:ns2="1d2cd3fc-951f-4e4c-8f77-1331cffdf41d" xmlns:ns3="34e7643f-2a9f-4a64-a4ba-836cf78c5c76" targetNamespace="http://schemas.microsoft.com/office/2006/metadata/properties" ma:root="true" ma:fieldsID="36ef4bd80d09d7a3142c5bd9cda6c92f" ns2:_="" ns3:_="">
    <xsd:import namespace="1d2cd3fc-951f-4e4c-8f77-1331cffdf41d"/>
    <xsd:import namespace="34e7643f-2a9f-4a64-a4ba-836cf78c5c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2cd3fc-951f-4e4c-8f77-1331cffdf4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908c4cd-8667-446b-b651-bab9ad4462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e7643f-2a9f-4a64-a4ba-836cf78c5c7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157cb98-881d-40df-bd60-f2fdacd5fef4}" ma:internalName="TaxCatchAll" ma:showField="CatchAllData" ma:web="34e7643f-2a9f-4a64-a4ba-836cf78c5c7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4e7643f-2a9f-4a64-a4ba-836cf78c5c76" xsi:nil="true"/>
    <lcf76f155ced4ddcb4097134ff3c332f xmlns="1d2cd3fc-951f-4e4c-8f77-1331cffdf41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D83938F-2A68-4E75-95CB-5315C89978CE}"/>
</file>

<file path=customXml/itemProps2.xml><?xml version="1.0" encoding="utf-8"?>
<ds:datastoreItem xmlns:ds="http://schemas.openxmlformats.org/officeDocument/2006/customXml" ds:itemID="{8DAF9B9F-699A-418B-86BE-36596E8B72D0}"/>
</file>

<file path=customXml/itemProps3.xml><?xml version="1.0" encoding="utf-8"?>
<ds:datastoreItem xmlns:ds="http://schemas.openxmlformats.org/officeDocument/2006/customXml" ds:itemID="{0DE17FDA-237F-4C20-BC04-75B6C830F195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Quarterly Business Review — Q3 &amp; Q4 2025</dc:title>
  <dc:subject>PptxGenJS Presentation</dc:subject>
  <dc:creator>Falcon Auto B2B</dc:creator>
  <cp:lastModifiedBy>Falcon Auto B2B</cp:lastModifiedBy>
  <cp:revision>1</cp:revision>
  <dcterms:created xsi:type="dcterms:W3CDTF">2026-03-18T03:51:13Z</dcterms:created>
  <dcterms:modified xsi:type="dcterms:W3CDTF">2026-03-18T03:51:13Z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0x0101008B91501FD4DDC148AD1E3FAF4074DBCB</vt:lpwstr>
  </property>
</Properties>
</file>