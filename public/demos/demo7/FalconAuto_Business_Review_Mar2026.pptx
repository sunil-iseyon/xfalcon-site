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Annual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336350.37</c:v>
                </c:pt>
                <c:pt idx="1">
                  <c:v>837313.6199999999</c:v>
                </c:pt>
                <c:pt idx="2">
                  <c:v>939224.4400000001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Annual Orders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4A7C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1084</c:v>
                </c:pt>
                <c:pt idx="1">
                  <c:v>2906</c:v>
                </c:pt>
                <c:pt idx="2">
                  <c:v>2936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2024 Conversion Rate by Lead Source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Conv. Rate %</c:v>
                </c:pt>
              </c:strCache>
            </c:strRef>
          </c:tx>
          <c:spPr>
            <a:solidFill>
              <a:srgbClr val="4A7C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Trade Show</c:v>
                  </c:pt>
                  <c:pt idx="1">
                    <c:v>Referral</c:v>
                  </c:pt>
                  <c:pt idx="2">
                    <c:v>Cold Outreach</c:v>
                  </c:pt>
                  <c:pt idx="3">
                    <c:v>Web Form</c:v>
                  </c:pt>
                  <c:pt idx="4">
                    <c:v>Social Media</c:v>
                  </c:pt>
                  <c:pt idx="5">
                    <c:v>Partner</c:v>
                  </c:pt>
                  <c:pt idx="6">
                    <c:v>Direct Mail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</c:v>
                </c:pt>
                <c:pt idx="1">
                  <c:v>43</c:v>
                </c:pt>
                <c:pt idx="2">
                  <c:v>43</c:v>
                </c:pt>
                <c:pt idx="3">
                  <c:v>40</c:v>
                </c:pt>
                <c:pt idx="4">
                  <c:v>40</c:v>
                </c:pt>
                <c:pt idx="5">
                  <c:v>25</c:v>
                </c:pt>
                <c:pt idx="6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Revenue by Category (All Time)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2B20"/>
              </a:solidFill>
              <a:effectLst/>
            </c:spPr>
          </c:dPt>
          <c:dPt>
            <c:idx val="1"/>
            <c:bubble3D val="0"/>
            <c:spPr>
              <a:solidFill>
                <a:srgbClr val="1A1A1A"/>
              </a:solidFill>
              <a:effectLst/>
            </c:spPr>
          </c:dPt>
          <c:dPt>
            <c:idx val="2"/>
            <c:bubble3D val="0"/>
            <c:spPr>
              <a:solidFill>
                <a:srgbClr val="4A7C9B"/>
              </a:solidFill>
              <a:effectLst/>
            </c:spPr>
          </c:dPt>
          <c:dPt>
            <c:idx val="3"/>
            <c:bubble3D val="0"/>
            <c:spPr>
              <a:solidFill>
                <a:srgbClr val="2E7D32"/>
              </a:solidFill>
              <a:effectLst/>
            </c:spPr>
          </c:dPt>
          <c:dPt>
            <c:idx val="4"/>
            <c:bubble3D val="0"/>
            <c:spPr>
              <a:solidFill>
                <a:srgbClr val="F9A825"/>
              </a:solidFill>
              <a:effectLst/>
            </c:spPr>
          </c:dPt>
          <c:dPt>
            <c:idx val="5"/>
            <c:bubble3D val="0"/>
            <c:spPr>
              <a:solidFill>
                <a:srgbClr val="5C9D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Equipment</c:v>
                </c:pt>
                <c:pt idx="1">
                  <c:v>Autobody Tools</c:v>
                </c:pt>
                <c:pt idx="2">
                  <c:v>Paint &amp; Coatings</c:v>
                </c:pt>
                <c:pt idx="3">
                  <c:v>Shop Supplies</c:v>
                </c:pt>
                <c:pt idx="4">
                  <c:v>Abrasives</c:v>
                </c:pt>
                <c:pt idx="5">
                  <c:v>Safety &amp; PPE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1330623.13</c:v>
                </c:pt>
                <c:pt idx="1">
                  <c:v>486514.37</c:v>
                </c:pt>
                <c:pt idx="2">
                  <c:v>126482.8</c:v>
                </c:pt>
                <c:pt idx="3">
                  <c:v>85646.51000000001</c:v>
                </c:pt>
                <c:pt idx="4">
                  <c:v>45680.08</c:v>
                </c:pt>
                <c:pt idx="5">
                  <c:v>37941.54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66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Top 5 Brands by Revenue (All Time)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TorqMaster</c:v>
                  </c:pt>
                  <c:pt idx="1">
                    <c:v>ProShield</c:v>
                  </c:pt>
                  <c:pt idx="2">
                    <c:v>SprayMaster</c:v>
                  </c:pt>
                  <c:pt idx="3">
                    <c:v>BodRight</c:v>
                  </c:pt>
                  <c:pt idx="4">
                    <c:v>UltraCoat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1330623.13</c:v>
                </c:pt>
                <c:pt idx="1">
                  <c:v>293140.37</c:v>
                </c:pt>
                <c:pt idx="2">
                  <c:v>113156.56</c:v>
                </c:pt>
                <c:pt idx="3">
                  <c:v>105413.88</c:v>
                </c:pt>
                <c:pt idx="4">
                  <c:v>101286.36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Units On Hand by Brand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 Hand</c:v>
                </c:pt>
              </c:strCache>
            </c:strRef>
          </c:tx>
          <c:spPr>
            <a:solidFill>
              <a:srgbClr val="4A7C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ApexGrit</c:v>
                  </c:pt>
                  <c:pt idx="1">
                    <c:v>ProShield</c:v>
                  </c:pt>
                  <c:pt idx="2">
                    <c:v>UltraCoat</c:v>
                  </c:pt>
                  <c:pt idx="3">
                    <c:v>SafeGuard Pro</c:v>
                  </c:pt>
                  <c:pt idx="4">
                    <c:v>BodRight</c:v>
                  </c:pt>
                  <c:pt idx="5">
                    <c:v>CleanRun</c:v>
                  </c:pt>
                  <c:pt idx="6">
                    <c:v>SprayMaster</c:v>
                  </c:pt>
                  <c:pt idx="7">
                    <c:v>ClearView</c:v>
                  </c:pt>
                  <c:pt idx="8">
                    <c:v>LubriMax</c:v>
                  </c:pt>
                  <c:pt idx="9">
                    <c:v>TorqMaster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854</c:v>
                </c:pt>
                <c:pt idx="1">
                  <c:v>838</c:v>
                </c:pt>
                <c:pt idx="2">
                  <c:v>751</c:v>
                </c:pt>
                <c:pt idx="3">
                  <c:v>722</c:v>
                </c:pt>
                <c:pt idx="4">
                  <c:v>327</c:v>
                </c:pt>
                <c:pt idx="5">
                  <c:v>268</c:v>
                </c:pt>
                <c:pt idx="6">
                  <c:v>192</c:v>
                </c:pt>
                <c:pt idx="7">
                  <c:v>173</c:v>
                </c:pt>
                <c:pt idx="8">
                  <c:v>101</c:v>
                </c:pt>
                <c:pt idx="9">
                  <c:v>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Stock Health Status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bubble3D val="0"/>
            <c:spPr>
              <a:solidFill>
                <a:srgbClr val="F9A82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Healthy</c:v>
                </c:pt>
                <c:pt idx="1">
                  <c:v>Low Stock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</c:v>
                </c:pt>
                <c:pt idx="1">
                  <c:v>0.01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66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Program Enrollments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Enrollments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447</c:v>
                </c:pt>
                <c:pt idx="1">
                  <c:v>283</c:v>
                </c:pt>
                <c:pt idx="2">
                  <c:v>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Member Activity Growth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Logins</c:v>
                </c:pt>
              </c:strCache>
            </c:strRef>
          </c:tx>
          <c:spPr>
            <a:solidFill>
              <a:srgbClr val="E02B20"/>
            </a:solidFill>
            <a:ln w="25400" cap="flat">
              <a:solidFill>
                <a:srgbClr val="E02B2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02B20"/>
              </a:solidFill>
              <a:ln w="9525" cap="flat">
                <a:solidFill>
                  <a:srgbClr val="E02B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143</c:v>
                </c:pt>
                <c:pt idx="1">
                  <c:v>473</c:v>
                </c:pt>
                <c:pt idx="2">
                  <c:v>654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4A7C9B"/>
            </a:solidFill>
            <a:ln w="25400" cap="flat">
              <a:solidFill>
                <a:srgbClr val="4A7C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7C9B"/>
              </a:solidFill>
              <a:ln w="9525" cap="flat">
                <a:solidFill>
                  <a:srgbClr val="4A7C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110</c:v>
                </c:pt>
                <c:pt idx="1">
                  <c:v>392</c:v>
                </c:pt>
                <c:pt idx="2">
                  <c:v>481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66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2025 Revenue by Region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Southeast</c:v>
                  </c:pt>
                  <c:pt idx="1">
                    <c:v>Midwest</c:v>
                  </c:pt>
                  <c:pt idx="2">
                    <c:v>West</c:v>
                  </c:pt>
                  <c:pt idx="3">
                    <c:v>Northeast</c:v>
                  </c:pt>
                  <c:pt idx="4">
                    <c:v>Southwest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262871.43</c:v>
                </c:pt>
                <c:pt idx="1">
                  <c:v>213352.4</c:v>
                </c:pt>
                <c:pt idx="2">
                  <c:v>189946.93</c:v>
                </c:pt>
                <c:pt idx="3">
                  <c:v>167932.7</c:v>
                </c:pt>
                <c:pt idx="4">
                  <c:v>105120.98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Active Customer Count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4A7C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</c:v>
                </c:pt>
                <c:pt idx="1">
                  <c:v>183</c:v>
                </c:pt>
                <c:pt idx="2">
                  <c:v>167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Savings Identified by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432531.44</c:v>
                </c:pt>
                <c:pt idx="1">
                  <c:v>2246711.29</c:v>
                </c:pt>
                <c:pt idx="2">
                  <c:v>1922252.7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A1A1A"/>
                </a:solidFill>
                <a:latin typeface="Calibri"/>
              </a:rPr>
              <a:t>Submissions by Status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bubble3D val="0"/>
            <c:spPr>
              <a:solidFill>
                <a:srgbClr val="4A7C9B"/>
              </a:solidFill>
              <a:effectLst/>
            </c:spPr>
          </c:dPt>
          <c:dPt>
            <c:idx val="2"/>
            <c:bubble3D val="0"/>
            <c:spPr>
              <a:solidFill>
                <a:srgbClr val="F9A82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333333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In Review</c:v>
                </c:pt>
                <c:pt idx="2">
                  <c:v>Pending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9</c:v>
                </c:pt>
                <c:pt idx="2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666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1A1A1A"/>
                </a:solidFill>
                <a:latin typeface="Calibri"/>
              </a:rPr>
              <a:t>Vendor Savings by Year (from Negotiated Pricing)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80378</c:v>
                </c:pt>
                <c:pt idx="1">
                  <c:v>190528</c:v>
                </c:pt>
                <c:pt idx="2">
                  <c:v>201213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000" b="0" i="0" u="none" strike="noStrike">
                <a:solidFill>
                  <a:srgbClr val="1A1A1A"/>
                </a:solidFill>
                <a:latin typeface="Calibri"/>
              </a:rPr>
              <a:t>Top 5 Vendors by Negotiated Savings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Savings</c:v>
                </c:pt>
              </c:strCache>
            </c:strRef>
          </c:tx>
          <c:spPr>
            <a:solidFill>
              <a:srgbClr val="E02B20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TorqMaster Equipment</c:v>
                  </c:pt>
                  <c:pt idx="1">
                    <c:v>Alpha Surface Solutions</c:v>
                  </c:pt>
                  <c:pt idx="2">
                    <c:v>PrecisionSpray LLC</c:v>
                  </c:pt>
                  <c:pt idx="3">
                    <c:v>BodRight Tools Inc.</c:v>
                  </c:pt>
                  <c:pt idx="4">
                    <c:v>ProCoat Industries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296747</c:v>
                </c:pt>
                <c:pt idx="1">
                  <c:v>66474</c:v>
                </c:pt>
                <c:pt idx="2">
                  <c:v>25874</c:v>
                </c:pt>
                <c:pt idx="3">
                  <c:v>22870</c:v>
                </c:pt>
                <c:pt idx="4">
                  <c:v>22806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E02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FALCON AUTO B2B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Health Review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Meeting Presentation  |  March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2743200" cy="0"/>
          </a:xfrm>
          <a:prstGeom prst="line">
            <a:avLst/>
          </a:prstGeom>
          <a:noFill/>
          <a:ln w="25400">
            <a:solidFill>
              <a:srgbClr val="E02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Chandan Pandey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02B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 across all business areas (2023 – 2025)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54864" cy="123444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71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$2.1M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4300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+12.2% YoY (2025)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23444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234440"/>
            <a:ext cx="54864" cy="123444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173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1371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93192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6,926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393192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2,936 in 2025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123444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234440"/>
            <a:ext cx="54864" cy="123444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20840" y="1371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CUSTOMERS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72084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167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672084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91 in 2023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48640" y="274320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2743200"/>
            <a:ext cx="54864" cy="123444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2608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2880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 FOUND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300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$4.6M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114300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17.3% avg savings rate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337560" y="274320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337560" y="2743200"/>
            <a:ext cx="54864" cy="123444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926080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31920" y="2880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ENROLLMENTS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393192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827</a:t>
            </a:r>
            <a:endParaRPr lang="en-US" sz="2600" dirty="0"/>
          </a:p>
        </p:txBody>
      </p:sp>
      <p:sp>
        <p:nvSpPr>
          <p:cNvPr id="34" name="Text 27"/>
          <p:cNvSpPr/>
          <p:nvPr/>
        </p:nvSpPr>
        <p:spPr>
          <a:xfrm>
            <a:off x="393192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96.9% active in 2025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26480" y="274320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26480" y="2743200"/>
            <a:ext cx="54864" cy="123444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2926080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20840" y="2880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SKUS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672084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600" dirty="0"/>
          </a:p>
        </p:txBody>
      </p:sp>
      <p:sp>
        <p:nvSpPr>
          <p:cNvPr id="40" name="Text 32"/>
          <p:cNvSpPr/>
          <p:nvPr/>
        </p:nvSpPr>
        <p:spPr>
          <a:xfrm>
            <a:off x="672084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healthy, 0 low stock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Sales &amp; Revenue Performance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82296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3566160"/>
            <a:ext cx="54864" cy="128016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0332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85800" y="39776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from $336K (2023) to $939K (2025) — a 179% increase over 3 years.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moderated from +148.9% to +12.2%, indicating market maturation. Orders grew 2.7x but AOV declined slightly.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stands at 9.8% in 2025 (289 of 2936 orders). TorqMaster remains the dominant revenue brand at ~64% share.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Lead Pipeline &amp; Conversion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2560320" cy="10058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22960"/>
            <a:ext cx="54864" cy="100584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(2023)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43.2% conversion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822960"/>
            <a:ext cx="2560320" cy="10058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822960"/>
            <a:ext cx="54864" cy="100584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868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(2024)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39.3% conversion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822960"/>
            <a:ext cx="2560320" cy="100584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822960"/>
            <a:ext cx="54864" cy="100584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868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-3.9pp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shift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011680"/>
          <a:ext cx="8229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4023360"/>
            <a:ext cx="54864" cy="86868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14800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058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8580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was 43.2% in 2023 and 39.3% in 2024 with 84 total leads. Trade shows (46%) and referrals (43%) are the highest-converting channels. Web forms generate the most volume but at a lower 40% rate — an optimization opportunity.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Product &amp; Pricing Intelligence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731520"/>
          <a:ext cx="4297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3840480"/>
            <a:ext cx="54864" cy="100584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85800" y="4206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dominates at 63% of total revenue ($1.3M), driven by TorqMaster high-ticket items. Catalog spans 30 SKUs across 6 categories and 10 brands. Top-rated products average 4.5+ stars with strong review counts — customer satisfaction is high across the portfolio.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Inventory Health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SKUS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60604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ON HAND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4,260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284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90372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STOCK ITEMS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4088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1828800"/>
          <a:ext cx="47548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5303520" y="1828800"/>
          <a:ext cx="3474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19"/>
          <p:cNvSpPr/>
          <p:nvPr/>
        </p:nvSpPr>
        <p:spPr>
          <a:xfrm>
            <a:off x="457200" y="4251960"/>
            <a:ext cx="54864" cy="64008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" y="4297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30 SKUs are at healthy stock levels. Total 4,260 units on hand with 284 reserved. Point-in-time snapshot data — no historical low-stock incidents currently detected. Inventory is well-positioned to support growing order volumes.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Program &amp; Member Engagement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77724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3716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Utilities Optimization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&amp;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 Equipment Leasing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&amp; Lubricants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logins grew 357% from 2023 to 2025. 96.9% of 2025 enrollees remain active. Utilities Optimization and Safety &amp; Compliance lead new enrollments.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Customer Analysis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43891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029200" y="777240"/>
          <a:ext cx="3840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520440"/>
            <a:ext cx="8229600" cy="12801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3520440"/>
            <a:ext cx="54864" cy="128016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61188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85800" y="38862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 grew from 91 (2023) to 167 (2025) — a 84% increase.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leads with $263K revenue from 46 customers. West region showed strongest growth at 222% increase.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tier customers dominate revenue generation. Dealerships and collision shops are the core business types driving order volumes.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Cost Analysis &amp; Savings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SUBMISSIONS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60604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ANALYZED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$35.5M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IDENTIFIED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$4.6M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90372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SAVINGS RATE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4088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17.3%</a:t>
            </a:r>
            <a:endParaRPr lang="en-US" sz="26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182880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4754880" y="182880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19"/>
          <p:cNvSpPr/>
          <p:nvPr/>
        </p:nvSpPr>
        <p:spPr>
          <a:xfrm>
            <a:off x="457200" y="4114800"/>
            <a:ext cx="54864" cy="77724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24" name="Text 20"/>
          <p:cNvSpPr/>
          <p:nvPr/>
        </p:nvSpPr>
        <p:spPr>
          <a:xfrm>
            <a:off x="68580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cost analyses submitted across all years. $4.6M in savings identified at a consistent ~17.3% rate. 10 submissions still pending and 9 in review — representing $9.9M in untapped spend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 Price Change &amp; Vendor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DISCOUNT FROM MSRP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18.3%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0604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VENDOR SAVINGS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$472K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VENDORS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204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903720" y="777240"/>
            <a:ext cx="1920240" cy="822960"/>
          </a:xfrm>
          <a:prstGeom prst="rect">
            <a:avLst/>
          </a:prstGeom>
          <a:solidFill>
            <a:srgbClr val="F4F6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777240"/>
            <a:ext cx="45720" cy="822960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822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 TREND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4088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18.8% → 17.5%</a:t>
            </a:r>
            <a:endParaRPr lang="en-US" sz="2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182880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4572000" y="1828800"/>
          <a:ext cx="4297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3" name="Shape 19"/>
          <p:cNvSpPr/>
          <p:nvPr/>
        </p:nvSpPr>
        <p:spPr>
          <a:xfrm>
            <a:off x="457200" y="4114800"/>
            <a:ext cx="54864" cy="822960"/>
          </a:xfrm>
          <a:prstGeom prst="rect">
            <a:avLst/>
          </a:prstGeom>
          <a:solidFill>
            <a:srgbClr val="E02B2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60520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0584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85800" y="4389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MSRP discount is 18.3%, declining from 18.8% (2023) to 17.5% (2025) — indicating discount erosion that needs monitoring.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TorqMaster Equipment drives 63% of total vendor savings ($297K). Safety &amp; PPE products show highest price volatility (up to 13.86%), requiring closer contract management. 8 of 10 vendors are direct partners with active contracts.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priorities for the next quarter and beyond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E02B2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Revenue Beyond Equipment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25880" y="1508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is 63% of revenue, creating concentration risk. Invest in growing Autobody Tools and Paint &amp; Coatings through targeted promotions and bundled deals to balance the portfolio.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892040" y="11430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1280160"/>
            <a:ext cx="457200" cy="457200"/>
          </a:xfrm>
          <a:prstGeom prst="ellipse">
            <a:avLst/>
          </a:prstGeom>
          <a:solidFill>
            <a:srgbClr val="4A7C9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Web Form Conversion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623560" y="1508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forms generate the highest lead volume but trail other channels in conversion rate. Implement lead scoring, faster follow-up SLAs, and A/B test landing pages to close the gap.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94360" y="24231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517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Cost Analysis Pipeline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32588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submissions are pending/in-review with $9.9M in spend. At the current 17.3% savings rate, completing these could unlock ~$1.7M in new savings.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892040" y="24231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9200" y="2560320"/>
            <a:ext cx="457200" cy="4572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65176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Order Cancellation Rate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62356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9.8%, cancellations represent $74K in lost revenue for 2025 alone. Investigate root causes — pricing, stock availability, or fulfillment delays — and implement retention workflows.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94360" y="37033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8E6BB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3192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 High-Growth Regions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32588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revenue grew 222% (2023–2025) while customer count tripled. Allocate additional sales resources to West and Southwest to capitalize on this momentum.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892040" y="37033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029200" y="384048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93192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2356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Vendor Price Volatility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62356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PPE products show up to 13.9% contract price volatility. Lock in longer-term pricing agreements for high-volatility items and renegotiate indirect vendor contracts (CleanRun, ClearView) where discount rates trail direct partners.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02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2286000" cy="0"/>
          </a:xfrm>
          <a:prstGeom prst="line">
            <a:avLst/>
          </a:prstGeom>
          <a:noFill/>
          <a:ln w="25400">
            <a:solidFill>
              <a:srgbClr val="E02B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Auto B2B  |  Business Health Review  |  March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02B2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91501FD4DDC148AD1E3FAF4074DBCB" ma:contentTypeVersion="10" ma:contentTypeDescription="Create a new document." ma:contentTypeScope="" ma:versionID="23307c1766f35e1813edc1f238b31f69">
  <xsd:schema xmlns:xsd="http://www.w3.org/2001/XMLSchema" xmlns:xs="http://www.w3.org/2001/XMLSchema" xmlns:p="http://schemas.microsoft.com/office/2006/metadata/properties" xmlns:ns2="1d2cd3fc-951f-4e4c-8f77-1331cffdf41d" xmlns:ns3="34e7643f-2a9f-4a64-a4ba-836cf78c5c76" targetNamespace="http://schemas.microsoft.com/office/2006/metadata/properties" ma:root="true" ma:fieldsID="36ef4bd80d09d7a3142c5bd9cda6c92f" ns2:_="" ns3:_="">
    <xsd:import namespace="1d2cd3fc-951f-4e4c-8f77-1331cffdf41d"/>
    <xsd:import namespace="34e7643f-2a9f-4a64-a4ba-836cf78c5c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cd3fc-951f-4e4c-8f77-1331cffdf41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908c4cd-8667-446b-b651-bab9ad4462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e7643f-2a9f-4a64-a4ba-836cf78c5c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157cb98-881d-40df-bd60-f2fdacd5fef4}" ma:internalName="TaxCatchAll" ma:showField="CatchAllData" ma:web="34e7643f-2a9f-4a64-a4ba-836cf78c5c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e7643f-2a9f-4a64-a4ba-836cf78c5c76" xsi:nil="true"/>
    <lcf76f155ced4ddcb4097134ff3c332f xmlns="1d2cd3fc-951f-4e4c-8f77-1331cffdf41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F5177E9-02AD-4020-B299-7195207BB5D0}"/>
</file>

<file path=customXml/itemProps2.xml><?xml version="1.0" encoding="utf-8"?>
<ds:datastoreItem xmlns:ds="http://schemas.openxmlformats.org/officeDocument/2006/customXml" ds:itemID="{5771DAEC-A0F4-4755-991F-563F3703325C}"/>
</file>

<file path=customXml/itemProps3.xml><?xml version="1.0" encoding="utf-8"?>
<ds:datastoreItem xmlns:ds="http://schemas.openxmlformats.org/officeDocument/2006/customXml" ds:itemID="{F1AECDBC-DB1D-4F90-8988-6D955F6693C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Falcon Auto B2B - Business Health Review</dc:title>
  <dc:subject>PptxGenJS Presentation</dc:subject>
  <dc:creator>Falcon Auto B2B</dc:creator>
  <cp:lastModifiedBy>Falcon Auto B2B</cp:lastModifiedBy>
  <cp:revision>1</cp:revision>
  <dcterms:created xsi:type="dcterms:W3CDTF">2026-03-18T03:20:00Z</dcterms:created>
  <dcterms:modified xsi:type="dcterms:W3CDTF">2026-03-18T03:20:00Z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0x0101008B91501FD4DDC148AD1E3FAF4074DBCB</vt:lpwstr>
  </property>
</Properties>
</file>